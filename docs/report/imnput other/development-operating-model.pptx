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WORKING PRINCIPLE · DEVELOPMENT MODEL + OPERATING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as Code — One Source of Truth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running data product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5875">
            <a:solidFill>
              <a:srgbClr val="5B4FA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75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MODEL · GITHUB SYSTEM OF RECORD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664" y="2057400"/>
            <a:ext cx="1360768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2532888"/>
            <a:ext cx="1315430" cy="457200"/>
          </a:xfrm>
          <a:prstGeom prst="roundRect">
            <a:avLst>
              <a:gd name="adj" fmla="val 20000"/>
            </a:avLst>
          </a:prstGeom>
          <a:solidFill>
            <a:srgbClr val="F7F9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" y="2532888"/>
            <a:ext cx="1242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06386" y="2697480"/>
            <a:ext cx="210312" cy="128016"/>
          </a:xfrm>
          <a:prstGeom prst="rightArrow">
            <a:avLst/>
          </a:prstGeom>
          <a:solidFill>
            <a:srgbClr val="5B4FA6"/>
          </a:solidFill>
          <a:ln/>
        </p:spPr>
      </p:sp>
      <p:sp>
        <p:nvSpPr>
          <p:cNvPr id="11" name="Shape 8"/>
          <p:cNvSpPr/>
          <p:nvPr/>
        </p:nvSpPr>
        <p:spPr>
          <a:xfrm>
            <a:off x="2330414" y="2532888"/>
            <a:ext cx="1315430" cy="457200"/>
          </a:xfrm>
          <a:prstGeom prst="roundRect">
            <a:avLst>
              <a:gd name="adj" fmla="val 20000"/>
            </a:avLst>
          </a:prstGeom>
          <a:solidFill>
            <a:srgbClr val="F7F9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66990" y="2532888"/>
            <a:ext cx="1242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9559" y="2697480"/>
            <a:ext cx="210312" cy="128016"/>
          </a:xfrm>
          <a:prstGeom prst="rightArrow">
            <a:avLst/>
          </a:prstGeom>
          <a:solidFill>
            <a:srgbClr val="5B4FA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3587" y="2532888"/>
            <a:ext cx="1315430" cy="457200"/>
          </a:xfrm>
          <a:prstGeom prst="roundRect">
            <a:avLst>
              <a:gd name="adj" fmla="val 20000"/>
            </a:avLst>
          </a:prstGeom>
          <a:solidFill>
            <a:srgbClr val="F7F9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20163" y="2532888"/>
            <a:ext cx="1242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212733" y="2697480"/>
            <a:ext cx="210312" cy="128016"/>
          </a:xfrm>
          <a:prstGeom prst="rightArrow">
            <a:avLst/>
          </a:prstGeom>
          <a:solidFill>
            <a:srgbClr val="5B4FA6"/>
          </a:solidFill>
          <a:ln/>
        </p:spPr>
      </p:sp>
      <p:sp>
        <p:nvSpPr>
          <p:cNvPr id="17" name="Shape 14"/>
          <p:cNvSpPr/>
          <p:nvPr/>
        </p:nvSpPr>
        <p:spPr>
          <a:xfrm>
            <a:off x="5436761" y="2532888"/>
            <a:ext cx="1315430" cy="457200"/>
          </a:xfrm>
          <a:prstGeom prst="roundRect">
            <a:avLst>
              <a:gd name="adj" fmla="val 20000"/>
            </a:avLst>
          </a:prstGeom>
          <a:solidFill>
            <a:srgbClr val="F7F9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73337" y="2532888"/>
            <a:ext cx="1242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App-code PR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765907" y="2697480"/>
            <a:ext cx="210312" cy="128016"/>
          </a:xfrm>
          <a:prstGeom prst="rightArrow">
            <a:avLst/>
          </a:prstGeom>
          <a:solidFill>
            <a:srgbClr val="5B4FA6"/>
          </a:solidFill>
          <a:ln/>
        </p:spPr>
      </p:sp>
      <p:sp>
        <p:nvSpPr>
          <p:cNvPr id="20" name="Shape 17"/>
          <p:cNvSpPr/>
          <p:nvPr/>
        </p:nvSpPr>
        <p:spPr>
          <a:xfrm>
            <a:off x="6989935" y="2532888"/>
            <a:ext cx="1315430" cy="457200"/>
          </a:xfrm>
          <a:prstGeom prst="roundRect">
            <a:avLst>
              <a:gd name="adj" fmla="val 20000"/>
            </a:avLst>
          </a:prstGeom>
          <a:solidFill>
            <a:srgbClr val="F7F9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26511" y="2532888"/>
            <a:ext cx="1242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preview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319081" y="2697480"/>
            <a:ext cx="210312" cy="128016"/>
          </a:xfrm>
          <a:prstGeom prst="rightArrow">
            <a:avLst/>
          </a:prstGeom>
          <a:solidFill>
            <a:srgbClr val="5B4FA6"/>
          </a:solidFill>
          <a:ln/>
        </p:spPr>
      </p:sp>
      <p:sp>
        <p:nvSpPr>
          <p:cNvPr id="23" name="Shape 20"/>
          <p:cNvSpPr/>
          <p:nvPr/>
        </p:nvSpPr>
        <p:spPr>
          <a:xfrm>
            <a:off x="8543109" y="2532888"/>
            <a:ext cx="1315430" cy="457200"/>
          </a:xfrm>
          <a:prstGeom prst="roundRect">
            <a:avLst>
              <a:gd name="adj" fmla="val 20000"/>
            </a:avLst>
          </a:prstGeom>
          <a:solidFill>
            <a:srgbClr val="F7F9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79685" y="2532888"/>
            <a:ext cx="1242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872254" y="2697480"/>
            <a:ext cx="210312" cy="128016"/>
          </a:xfrm>
          <a:prstGeom prst="rightArrow">
            <a:avLst/>
          </a:prstGeom>
          <a:solidFill>
            <a:srgbClr val="5B4FA6"/>
          </a:solidFill>
          <a:ln/>
        </p:spPr>
      </p:sp>
      <p:sp>
        <p:nvSpPr>
          <p:cNvPr id="26" name="Shape 23"/>
          <p:cNvSpPr/>
          <p:nvPr/>
        </p:nvSpPr>
        <p:spPr>
          <a:xfrm>
            <a:off x="10096282" y="2532888"/>
            <a:ext cx="1315430" cy="457200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 w="19050">
            <a:solidFill>
              <a:srgbClr val="0B1F3A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D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0132858" y="2532888"/>
            <a:ext cx="1242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77240" y="32461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live telemetry stay outside Git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8640" y="3675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· FROM MAIN TO A RUNNING SYSTEM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3504" y="404164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1" name="Text 28"/>
          <p:cNvSpPr/>
          <p:nvPr/>
        </p:nvSpPr>
        <p:spPr>
          <a:xfrm>
            <a:off x="841248" y="3986784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PR  →  Actions / GHCR  →  Q  via Portainer API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03504" y="4352544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3" name="Text 30"/>
          <p:cNvSpPr/>
          <p:nvPr/>
        </p:nvSpPr>
        <p:spPr>
          <a:xfrm>
            <a:off x="841248" y="42976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 →  Actions  →  GHCR : latest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03504" y="4663440"/>
            <a:ext cx="128016" cy="128016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35" name="Text 32"/>
          <p:cNvSpPr/>
          <p:nvPr/>
        </p:nvSpPr>
        <p:spPr>
          <a:xfrm>
            <a:off x="841248" y="4608576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 ←  main config via Portainer  ·  GHCR : latest via Docker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777240" y="51572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DATA PRODUCT</a:t>
            </a:r>
            <a:endParaRPr lang="en-US" sz="110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06738"/>
            <a:ext cx="420624" cy="471389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1371600" y="5486400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7F9FB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408176" y="5486400"/>
            <a:ext cx="2441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 ·  Bronze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3931920" y="5678424"/>
            <a:ext cx="365760" cy="128016"/>
          </a:xfrm>
          <a:prstGeom prst="rightArrow">
            <a:avLst/>
          </a:prstGeom>
          <a:solidFill>
            <a:srgbClr val="1B8A5A"/>
          </a:solidFill>
          <a:ln/>
        </p:spPr>
      </p:sp>
      <p:sp>
        <p:nvSpPr>
          <p:cNvPr id="42" name="Shape 38"/>
          <p:cNvSpPr/>
          <p:nvPr/>
        </p:nvSpPr>
        <p:spPr>
          <a:xfrm>
            <a:off x="4343400" y="5486400"/>
            <a:ext cx="1371600" cy="512064"/>
          </a:xfrm>
          <a:prstGeom prst="roundRect">
            <a:avLst>
              <a:gd name="adj" fmla="val 1785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379976" y="5486400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5760720" y="5678424"/>
            <a:ext cx="365760" cy="128016"/>
          </a:xfrm>
          <a:prstGeom prst="rightArrow">
            <a:avLst/>
          </a:prstGeom>
          <a:solidFill>
            <a:srgbClr val="1B8A5A"/>
          </a:solidFill>
          <a:ln/>
        </p:spPr>
      </p:sp>
      <p:sp>
        <p:nvSpPr>
          <p:cNvPr id="45" name="Shape 41"/>
          <p:cNvSpPr/>
          <p:nvPr/>
        </p:nvSpPr>
        <p:spPr>
          <a:xfrm>
            <a:off x="6172200" y="5486400"/>
            <a:ext cx="2697480" cy="512064"/>
          </a:xfrm>
          <a:prstGeom prst="roundRect">
            <a:avLst>
              <a:gd name="adj" fmla="val 17857"/>
            </a:avLst>
          </a:prstGeom>
          <a:solidFill>
            <a:srgbClr val="F7F9FB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208776" y="5486400"/>
            <a:ext cx="2624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 ·  Silver</a:t>
            </a:r>
            <a:endParaRPr lang="en-US" sz="1100" dirty="0"/>
          </a:p>
        </p:txBody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5525443"/>
            <a:ext cx="420624" cy="433977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9601200" y="5230368"/>
            <a:ext cx="0" cy="786384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5303520"/>
            <a:ext cx="366323" cy="219456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10515600" y="52852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→ Q infra</a:t>
            </a:r>
            <a:endParaRPr lang="en-US" sz="850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5687568"/>
            <a:ext cx="594993" cy="20116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10515600" y="56692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→ edge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pPr algn="ctr"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pPr algn="ctr"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pPr algn="ctr"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pPr algn="ctr"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pPr algn="ctr"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PROJECT MANAGEMENT · ENGINEERING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idea to reviewed change</a:t>
            </a:r>
            <a:endParaRPr lang="en-US" sz="2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6483" y="457200"/>
            <a:ext cx="1680949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34440"/>
            <a:ext cx="466344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34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Project  ·  Kanban + Roadmap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672084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020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PROJECT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74920" y="2020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pPr algn="r" indent="0" marL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Roadmap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2423160"/>
            <a:ext cx="1428750" cy="2971800"/>
          </a:xfrm>
          <a:prstGeom prst="roundRect">
            <a:avLst>
              <a:gd name="adj" fmla="val 3200"/>
            </a:avLst>
          </a:prstGeom>
          <a:solidFill>
            <a:srgbClr val="EEF1F5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" y="2514600"/>
            <a:ext cx="1209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</a:t>
            </a:r>
            <a:pPr indent="0" marL="0">
              <a:buNone/>
            </a:pPr>
            <a:r>
              <a:rPr lang="en-US" sz="1000" b="1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86968" y="2843784"/>
            <a:ext cx="120929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1E7ED"/>
            </a:solidFill>
            <a:prstDash val="solid"/>
          </a:ln>
          <a:effectLst>
            <a:outerShdw sx="100000" sy="100000" kx="0" ky="0" algn="bl" rotWithShape="0" blurRad="38100" dist="12700" dir="5400000">
              <a:srgbClr val="1A2B3D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14984" y="3026664"/>
            <a:ext cx="109728" cy="109728"/>
          </a:xfrm>
          <a:prstGeom prst="ellipse">
            <a:avLst/>
          </a:prstGeom>
          <a:solidFill>
            <a:srgbClr val="9FB2C6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2843784"/>
            <a:ext cx="953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history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886968" y="3410712"/>
            <a:ext cx="120929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1E7ED"/>
            </a:solidFill>
            <a:prstDash val="solid"/>
          </a:ln>
          <a:effectLst>
            <a:outerShdw sx="100000" sy="100000" kx="0" ky="0" algn="bl" rotWithShape="0" blurRad="38100" dist="12700" dir="5400000">
              <a:srgbClr val="1A2B3D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14984" y="3593592"/>
            <a:ext cx="109728" cy="109728"/>
          </a:xfrm>
          <a:prstGeom prst="ellipse">
            <a:avLst/>
          </a:prstGeom>
          <a:solidFill>
            <a:srgbClr val="9FB2C6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3410712"/>
            <a:ext cx="953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alerts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2388870" y="2423160"/>
            <a:ext cx="1428750" cy="2971800"/>
          </a:xfrm>
          <a:prstGeom prst="roundRect">
            <a:avLst>
              <a:gd name="adj" fmla="val 3200"/>
            </a:avLst>
          </a:prstGeom>
          <a:solidFill>
            <a:srgbClr val="EAF4FB"/>
          </a:solidFill>
          <a:ln/>
        </p:spPr>
      </p:sp>
      <p:sp>
        <p:nvSpPr>
          <p:cNvPr id="19" name="Text 16"/>
          <p:cNvSpPr/>
          <p:nvPr/>
        </p:nvSpPr>
        <p:spPr>
          <a:xfrm>
            <a:off x="2498598" y="2514600"/>
            <a:ext cx="1209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pPr indent="0" marL="0">
              <a:buNone/>
            </a:pPr>
            <a:r>
              <a:rPr lang="en-US" sz="1000" b="1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498598" y="2843784"/>
            <a:ext cx="120929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1E7ED"/>
            </a:solidFill>
            <a:prstDash val="solid"/>
          </a:ln>
          <a:effectLst>
            <a:outerShdw sx="100000" sy="100000" kx="0" ky="0" algn="bl" rotWithShape="0" blurRad="38100" dist="12700" dir="5400000">
              <a:srgbClr val="1A2B3D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626614" y="3026664"/>
            <a:ext cx="109728" cy="109728"/>
          </a:xfrm>
          <a:prstGeom prst="ellipse">
            <a:avLst/>
          </a:prstGeom>
          <a:solidFill>
            <a:srgbClr val="9FB2C6"/>
          </a:solidFill>
          <a:ln/>
        </p:spPr>
      </p:sp>
      <p:sp>
        <p:nvSpPr>
          <p:cNvPr id="22" name="Text 19"/>
          <p:cNvSpPr/>
          <p:nvPr/>
        </p:nvSpPr>
        <p:spPr>
          <a:xfrm>
            <a:off x="2754630" y="2843784"/>
            <a:ext cx="953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Q Mongo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2498598" y="3410712"/>
            <a:ext cx="120929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1E7ED"/>
            </a:solidFill>
            <a:prstDash val="solid"/>
          </a:ln>
          <a:effectLst>
            <a:outerShdw sx="100000" sy="100000" kx="0" ky="0" algn="bl" rotWithShape="0" blurRad="38100" dist="12700" dir="5400000">
              <a:srgbClr val="1A2B3D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626614" y="3593592"/>
            <a:ext cx="109728" cy="109728"/>
          </a:xfrm>
          <a:prstGeom prst="ellipse">
            <a:avLst/>
          </a:prstGeom>
          <a:solidFill>
            <a:srgbClr val="9FB2C6"/>
          </a:solidFill>
          <a:ln/>
        </p:spPr>
      </p:sp>
      <p:sp>
        <p:nvSpPr>
          <p:cNvPr id="25" name="Text 22"/>
          <p:cNvSpPr/>
          <p:nvPr/>
        </p:nvSpPr>
        <p:spPr>
          <a:xfrm>
            <a:off x="2754630" y="3410712"/>
            <a:ext cx="953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digest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4000500" y="2423160"/>
            <a:ext cx="1428750" cy="29718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</p:sp>
      <p:sp>
        <p:nvSpPr>
          <p:cNvPr id="27" name="Text 24"/>
          <p:cNvSpPr/>
          <p:nvPr/>
        </p:nvSpPr>
        <p:spPr>
          <a:xfrm>
            <a:off x="4110228" y="2514600"/>
            <a:ext cx="1209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pPr indent="0" marL="0">
              <a:buNone/>
            </a:pPr>
            <a:r>
              <a:rPr lang="en-US" sz="1000" b="1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110228" y="2843784"/>
            <a:ext cx="120929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1E7ED"/>
            </a:solidFill>
            <a:prstDash val="solid"/>
          </a:ln>
          <a:effectLst>
            <a:outerShdw sx="100000" sy="100000" kx="0" ky="0" algn="bl" rotWithShape="0" blurRad="38100" dist="12700" dir="5400000">
              <a:srgbClr val="1A2B3D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238244" y="3026664"/>
            <a:ext cx="109728" cy="109728"/>
          </a:xfrm>
          <a:prstGeom prst="ellipse">
            <a:avLst/>
          </a:prstGeom>
          <a:solidFill>
            <a:srgbClr val="9FB2C6"/>
          </a:solidFill>
          <a:ln/>
        </p:spPr>
      </p:sp>
      <p:sp>
        <p:nvSpPr>
          <p:cNvPr id="30" name="Text 27"/>
          <p:cNvSpPr/>
          <p:nvPr/>
        </p:nvSpPr>
        <p:spPr>
          <a:xfrm>
            <a:off x="4366260" y="2843784"/>
            <a:ext cx="953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→ IaC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5612130" y="2423160"/>
            <a:ext cx="1428750" cy="2971800"/>
          </a:xfrm>
          <a:prstGeom prst="roundRect">
            <a:avLst>
              <a:gd name="adj" fmla="val 3200"/>
            </a:avLst>
          </a:prstGeom>
          <a:solidFill>
            <a:srgbClr val="E9F6EF"/>
          </a:solidFill>
          <a:ln/>
        </p:spPr>
      </p:sp>
      <p:sp>
        <p:nvSpPr>
          <p:cNvPr id="32" name="Text 29"/>
          <p:cNvSpPr/>
          <p:nvPr/>
        </p:nvSpPr>
        <p:spPr>
          <a:xfrm>
            <a:off x="5721858" y="2514600"/>
            <a:ext cx="1209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pPr indent="0" marL="0">
              <a:buNone/>
            </a:pPr>
            <a:r>
              <a:rPr lang="en-US" sz="1000" b="1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721858" y="2843784"/>
            <a:ext cx="120929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9050">
            <a:solidFill>
              <a:srgbClr val="2E8FB0"/>
            </a:solidFill>
            <a:prstDash val="solid"/>
          </a:ln>
          <a:effectLst>
            <a:outerShdw sx="100000" sy="100000" kx="0" ky="0" algn="bl" rotWithShape="0" blurRad="38100" dist="12700" dir="5400000">
              <a:srgbClr val="1A2B3D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849874" y="3026664"/>
            <a:ext cx="109728" cy="109728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35" name="Text 32"/>
          <p:cNvSpPr/>
          <p:nvPr/>
        </p:nvSpPr>
        <p:spPr>
          <a:xfrm>
            <a:off x="5977890" y="2843784"/>
            <a:ext cx="953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 fallback source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5721858" y="3410712"/>
            <a:ext cx="120929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1E7ED"/>
            </a:solidFill>
            <a:prstDash val="solid"/>
          </a:ln>
          <a:effectLst>
            <a:outerShdw sx="100000" sy="100000" kx="0" ky="0" algn="bl" rotWithShape="0" blurRad="38100" dist="12700" dir="5400000">
              <a:srgbClr val="1A2B3D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849874" y="3593592"/>
            <a:ext cx="109728" cy="109728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38" name="Text 35"/>
          <p:cNvSpPr/>
          <p:nvPr/>
        </p:nvSpPr>
        <p:spPr>
          <a:xfrm>
            <a:off x="5977890" y="3410712"/>
            <a:ext cx="953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5721858" y="3977640"/>
            <a:ext cx="120929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1E7ED"/>
            </a:solidFill>
            <a:prstDash val="solid"/>
          </a:ln>
          <a:effectLst>
            <a:outerShdw sx="100000" sy="100000" kx="0" ky="0" algn="bl" rotWithShape="0" blurRad="38100" dist="12700" dir="5400000">
              <a:srgbClr val="1A2B3D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849874" y="4160520"/>
            <a:ext cx="109728" cy="109728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41" name="Text 38"/>
          <p:cNvSpPr/>
          <p:nvPr/>
        </p:nvSpPr>
        <p:spPr>
          <a:xfrm>
            <a:off x="5977890" y="3977640"/>
            <a:ext cx="953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environment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7543800" y="187452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12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777240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772400" y="2267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Board-to-change traceability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7772400" y="2761488"/>
            <a:ext cx="1051560" cy="402336"/>
          </a:xfrm>
          <a:prstGeom prst="roundRect">
            <a:avLst>
              <a:gd name="adj" fmla="val 22727"/>
            </a:avLst>
          </a:prstGeom>
          <a:solidFill>
            <a:srgbClr val="F7F9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08976" y="2761488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#15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8842248" y="2898648"/>
            <a:ext cx="274320" cy="128016"/>
          </a:xfrm>
          <a:prstGeom prst="rightArrow">
            <a:avLst/>
          </a:prstGeom>
          <a:solidFill>
            <a:srgbClr val="5B4FA6"/>
          </a:solidFill>
          <a:ln/>
        </p:spPr>
      </p:sp>
      <p:sp>
        <p:nvSpPr>
          <p:cNvPr id="48" name="Shape 45"/>
          <p:cNvSpPr/>
          <p:nvPr/>
        </p:nvSpPr>
        <p:spPr>
          <a:xfrm>
            <a:off x="9144000" y="2761488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7F9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180576" y="2761488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#20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10168128" y="2898648"/>
            <a:ext cx="274320" cy="128016"/>
          </a:xfrm>
          <a:prstGeom prst="rightArrow">
            <a:avLst/>
          </a:prstGeom>
          <a:solidFill>
            <a:srgbClr val="5B4FA6"/>
          </a:solidFill>
          <a:ln/>
        </p:spPr>
      </p:sp>
      <p:sp>
        <p:nvSpPr>
          <p:cNvPr id="51" name="Shape 48"/>
          <p:cNvSpPr/>
          <p:nvPr/>
        </p:nvSpPr>
        <p:spPr>
          <a:xfrm>
            <a:off x="10469880" y="2761488"/>
            <a:ext cx="960120" cy="402336"/>
          </a:xfrm>
          <a:prstGeom prst="roundRect">
            <a:avLst>
              <a:gd name="adj" fmla="val 22727"/>
            </a:avLst>
          </a:prstGeom>
          <a:solidFill>
            <a:srgbClr val="E9F6EF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506456" y="2761488"/>
            <a:ext cx="886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7772400" y="3236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Todo → In Progress → Done · linked, merged to main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7543800" y="384048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25400" dir="5400000">
              <a:srgbClr val="1A2B3D">
                <a:alpha val="12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7772400" y="3995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7772400" y="4233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Second-person review is team policy (ADR 012)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7772400" y="4727448"/>
            <a:ext cx="914400" cy="402336"/>
          </a:xfrm>
          <a:prstGeom prst="roundRect">
            <a:avLst>
              <a:gd name="adj" fmla="val 22727"/>
            </a:avLst>
          </a:prstGeom>
          <a:solidFill>
            <a:srgbClr val="1C3D5A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808976" y="472744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#9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8705088" y="4864608"/>
            <a:ext cx="201168" cy="128016"/>
          </a:xfrm>
          <a:prstGeom prst="rightArrow">
            <a:avLst/>
          </a:prstGeom>
          <a:solidFill>
            <a:srgbClr val="4CC9F0"/>
          </a:solidFill>
          <a:ln/>
        </p:spPr>
      </p:sp>
      <p:sp>
        <p:nvSpPr>
          <p:cNvPr id="60" name="Shape 57"/>
          <p:cNvSpPr/>
          <p:nvPr/>
        </p:nvSpPr>
        <p:spPr>
          <a:xfrm>
            <a:off x="8924544" y="472744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3A2E1A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961120" y="472744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85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10040112" y="4864608"/>
            <a:ext cx="201168" cy="128016"/>
          </a:xfrm>
          <a:prstGeom prst="rightArrow">
            <a:avLst/>
          </a:prstGeom>
          <a:solidFill>
            <a:srgbClr val="4CC9F0"/>
          </a:solidFill>
          <a:ln/>
        </p:spPr>
      </p:sp>
      <p:sp>
        <p:nvSpPr>
          <p:cNvPr id="63" name="Shape 60"/>
          <p:cNvSpPr/>
          <p:nvPr/>
        </p:nvSpPr>
        <p:spPr>
          <a:xfrm>
            <a:off x="10259568" y="4727448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16332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0296144" y="47274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11146536" y="4864608"/>
            <a:ext cx="164592" cy="128016"/>
          </a:xfrm>
          <a:prstGeom prst="rightArrow">
            <a:avLst/>
          </a:prstGeom>
          <a:solidFill>
            <a:srgbClr val="4CC9F0"/>
          </a:solidFill>
          <a:ln/>
        </p:spPr>
      </p:sp>
      <p:sp>
        <p:nvSpPr>
          <p:cNvPr id="66" name="Shape 63"/>
          <p:cNvSpPr/>
          <p:nvPr/>
        </p:nvSpPr>
        <p:spPr>
          <a:xfrm>
            <a:off x="11329416" y="4727448"/>
            <a:ext cx="100584" cy="402336"/>
          </a:xfrm>
          <a:prstGeom prst="roundRect">
            <a:avLst>
              <a:gd name="adj" fmla="val 90909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1365992" y="4727448"/>
            <a:ext cx="27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7772400" y="5202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requested → corrected → approved → merged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548640" y="598932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work  →  linked change  →  reviewed merge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FLOW · CI · CD · GIT-DRIVEN 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Application-code PRs become running Q previews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pPr indent="0" marL="0">
              <a:buNone/>
            </a:pPr>
            <a:r>
              <a:rPr lang="en-US" sz="1050" spc="100" kern="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 &amp; publish container images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2452878" cy="457200"/>
          </a:xfrm>
          <a:prstGeom prst="roundRect">
            <a:avLst>
              <a:gd name="adj" fmla="val 20000"/>
            </a:avLst>
          </a:prstGeom>
          <a:solidFill>
            <a:srgbClr val="1C3D5A"/>
          </a:solidFill>
          <a:ln w="12700">
            <a:solidFill>
              <a:srgbClr val="2E5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828800"/>
            <a:ext cx="2379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8406" y="1993392"/>
            <a:ext cx="237744" cy="128016"/>
          </a:xfrm>
          <a:prstGeom prst="rightArrow">
            <a:avLst/>
          </a:prstGeom>
          <a:solidFill>
            <a:srgbClr val="4CC9F0"/>
          </a:solidFill>
          <a:ln/>
        </p:spPr>
      </p:sp>
      <p:sp>
        <p:nvSpPr>
          <p:cNvPr id="9" name="Shape 7"/>
          <p:cNvSpPr/>
          <p:nvPr/>
        </p:nvSpPr>
        <p:spPr>
          <a:xfrm>
            <a:off x="3504438" y="1828800"/>
            <a:ext cx="2452878" cy="457200"/>
          </a:xfrm>
          <a:prstGeom prst="roundRect">
            <a:avLst>
              <a:gd name="adj" fmla="val 20000"/>
            </a:avLst>
          </a:prstGeom>
          <a:solidFill>
            <a:srgbClr val="1C3D5A"/>
          </a:solidFill>
          <a:ln w="12700">
            <a:solidFill>
              <a:srgbClr val="2E5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014" y="1828800"/>
            <a:ext cx="2379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· app paths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75604" y="1993392"/>
            <a:ext cx="237744" cy="128016"/>
          </a:xfrm>
          <a:prstGeom prst="rightArrow">
            <a:avLst/>
          </a:prstGeom>
          <a:solidFill>
            <a:srgbClr val="4CC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1636" y="1828800"/>
            <a:ext cx="2452878" cy="457200"/>
          </a:xfrm>
          <a:prstGeom prst="roundRect">
            <a:avLst>
              <a:gd name="adj" fmla="val 20000"/>
            </a:avLst>
          </a:prstGeom>
          <a:solidFill>
            <a:srgbClr val="1C3D5A"/>
          </a:solidFill>
          <a:ln w="12700">
            <a:solidFill>
              <a:srgbClr val="2E5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8212" y="1828800"/>
            <a:ext cx="2379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build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702802" y="1993392"/>
            <a:ext cx="237744" cy="128016"/>
          </a:xfrm>
          <a:prstGeom prst="rightArrow">
            <a:avLst/>
          </a:prstGeom>
          <a:solidFill>
            <a:srgbClr val="4CC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958834" y="1828800"/>
            <a:ext cx="2452878" cy="457200"/>
          </a:xfrm>
          <a:prstGeom prst="roundRect">
            <a:avLst>
              <a:gd name="adj" fmla="val 20000"/>
            </a:avLst>
          </a:prstGeom>
          <a:solidFill>
            <a:srgbClr val="1C3D5A"/>
          </a:solidFill>
          <a:ln w="12700">
            <a:solidFill>
              <a:srgbClr val="2E5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5410" y="1828800"/>
            <a:ext cx="2379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: pr-N + sha-*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3" y="1481328"/>
            <a:ext cx="1040587" cy="237744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273" y="1481328"/>
            <a:ext cx="1109167" cy="23774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" y="28803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BF1DE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1520" y="2971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pPr indent="0" marL="0">
              <a:buNone/>
            </a:pPr>
            <a:r>
              <a:rPr lang="en-US" sz="1050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API-triggered Q deployment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22960" y="3319272"/>
            <a:ext cx="16230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59536" y="3319272"/>
            <a:ext cx="15499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pr-N image tag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464308" y="3465576"/>
            <a:ext cx="237744" cy="128016"/>
          </a:xfrm>
          <a:prstGeom prst="rightArrow">
            <a:avLst/>
          </a:prstGeom>
          <a:solidFill>
            <a:srgbClr val="C98A2B"/>
          </a:solidFill>
          <a:ln/>
        </p:spPr>
      </p:sp>
      <p:sp>
        <p:nvSpPr>
          <p:cNvPr id="24" name="Shape 20"/>
          <p:cNvSpPr/>
          <p:nvPr/>
        </p:nvSpPr>
        <p:spPr>
          <a:xfrm>
            <a:off x="2720340" y="3319272"/>
            <a:ext cx="16230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56916" y="3319272"/>
            <a:ext cx="15499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Portainer API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361688" y="3465576"/>
            <a:ext cx="237744" cy="128016"/>
          </a:xfrm>
          <a:prstGeom prst="rightArrow">
            <a:avLst/>
          </a:prstGeom>
          <a:solidFill>
            <a:srgbClr val="C98A2B"/>
          </a:solidFill>
          <a:ln/>
        </p:spPr>
      </p:sp>
      <p:sp>
        <p:nvSpPr>
          <p:cNvPr id="27" name="Shape 23"/>
          <p:cNvSpPr/>
          <p:nvPr/>
        </p:nvSpPr>
        <p:spPr>
          <a:xfrm>
            <a:off x="4617720" y="3319272"/>
            <a:ext cx="16230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54296" y="3319272"/>
            <a:ext cx="15499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Compose stacks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259068" y="3465576"/>
            <a:ext cx="237744" cy="128016"/>
          </a:xfrm>
          <a:prstGeom prst="rightArrow">
            <a:avLst/>
          </a:prstGeom>
          <a:solidFill>
            <a:srgbClr val="C98A2B"/>
          </a:solidFill>
          <a:ln/>
        </p:spPr>
      </p:sp>
      <p:sp>
        <p:nvSpPr>
          <p:cNvPr id="30" name="Shape 26"/>
          <p:cNvSpPr/>
          <p:nvPr/>
        </p:nvSpPr>
        <p:spPr>
          <a:xfrm>
            <a:off x="6515100" y="3319272"/>
            <a:ext cx="1623060" cy="420624"/>
          </a:xfrm>
          <a:prstGeom prst="roundRect">
            <a:avLst>
              <a:gd name="adj" fmla="val 21739"/>
            </a:avLst>
          </a:prstGeom>
          <a:solidFill>
            <a:srgbClr val="E9F6EF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51676" y="3319272"/>
            <a:ext cx="15499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i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q_map1</a:t>
            </a:r>
            <a:endParaRPr lang="en-US" sz="9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92608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366760" y="31912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Q MongoDB is shared with production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548640" y="3913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5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running Q system + approve   →   squash-merge   →   main build : latest + sha-*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48640" y="4553712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AF1F8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31520" y="46451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GIT-DRIVEN OPS</a:t>
            </a:r>
            <a:pPr indent="0" marL="0">
              <a:buNone/>
            </a:pPr>
            <a:r>
              <a:rPr lang="en-US" sz="1050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Portainer polls main configuration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822960" y="4992624"/>
            <a:ext cx="16230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59536" y="4992624"/>
            <a:ext cx="15499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: latest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2464308" y="5138928"/>
            <a:ext cx="237744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40" name="Shape 35"/>
          <p:cNvSpPr/>
          <p:nvPr/>
        </p:nvSpPr>
        <p:spPr>
          <a:xfrm>
            <a:off x="2720340" y="4992624"/>
            <a:ext cx="16230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756916" y="4992624"/>
            <a:ext cx="15499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Portainer Git polling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4361688" y="5138928"/>
            <a:ext cx="237744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43" name="Shape 38"/>
          <p:cNvSpPr/>
          <p:nvPr/>
        </p:nvSpPr>
        <p:spPr>
          <a:xfrm>
            <a:off x="4617720" y="4992624"/>
            <a:ext cx="16230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654296" y="4992624"/>
            <a:ext cx="15499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stacks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6259068" y="5138928"/>
            <a:ext cx="237744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46" name="Shape 41"/>
          <p:cNvSpPr/>
          <p:nvPr/>
        </p:nvSpPr>
        <p:spPr>
          <a:xfrm>
            <a:off x="6515100" y="4992624"/>
            <a:ext cx="1623060" cy="420624"/>
          </a:xfrm>
          <a:prstGeom prst="roundRect">
            <a:avLst>
              <a:gd name="adj" fmla="val 21739"/>
            </a:avLst>
          </a:prstGeom>
          <a:solidFill>
            <a:srgbClr val="E9F6EF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551676" y="4992624"/>
            <a:ext cx="15499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i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map1</a:t>
            </a:r>
            <a:endParaRPr lang="en-US" sz="950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4608576"/>
            <a:ext cx="382079" cy="256032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8366760" y="4864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Rebuild after merge; no sequenced production deploy job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548640" y="56052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Workflow filters: selected application / Dockerfile / build-workflow paths — Compose, Portainer, docs &amp; Terraform-only changes get no pre-merge Q preview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8275320" y="5605272"/>
            <a:ext cx="3364992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52" name="Text 46"/>
          <p:cNvSpPr/>
          <p:nvPr/>
        </p:nvSpPr>
        <p:spPr>
          <a:xfrm>
            <a:off x="8275320" y="5605272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VMs pull images;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build application code.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OWNERSHIP · SECOPS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Code-defined boundaries reduce operational risk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E883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3566160" cy="2286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83949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2642616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EEAF6"/>
          </a:solidFill>
          <a:ln w="12700">
            <a:solidFill>
              <a:srgbClr val="5B4F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6426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118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AWS API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3392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VM · static IP · firewall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" y="3813048"/>
            <a:ext cx="3017520" cy="0"/>
          </a:xfrm>
          <a:prstGeom prst="line">
            <a:avLst/>
          </a:prstGeom>
          <a:noFill/>
          <a:ln w="9525">
            <a:solidFill>
              <a:srgbClr val="E1E7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owns Q only. Production VM predates this IaC boundary.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33088" y="2743200"/>
            <a:ext cx="219456" cy="182880"/>
          </a:xfrm>
          <a:prstGeom prst="rightArrow">
            <a:avLst/>
          </a:prstGeom>
          <a:solidFill>
            <a:srgbClr val="2E8FB0"/>
          </a:solidFill>
          <a:ln/>
        </p:spPr>
      </p:sp>
      <p:sp>
        <p:nvSpPr>
          <p:cNvPr id="16" name="Shape 13"/>
          <p:cNvSpPr/>
          <p:nvPr/>
        </p:nvSpPr>
        <p:spPr>
          <a:xfrm>
            <a:off x="4370832" y="141732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70832" y="141732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/>
        </p:spPr>
      </p:sp>
      <p:sp>
        <p:nvSpPr>
          <p:cNvPr id="18" name="Shape 15"/>
          <p:cNvSpPr/>
          <p:nvPr/>
        </p:nvSpPr>
        <p:spPr>
          <a:xfrm>
            <a:off x="4370832" y="1645920"/>
            <a:ext cx="3566160" cy="2286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6"/>
          <p:cNvSpPr/>
          <p:nvPr/>
        </p:nvSpPr>
        <p:spPr>
          <a:xfrm>
            <a:off x="4553712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075688"/>
            <a:ext cx="457200" cy="457200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2118091"/>
            <a:ext cx="1737360" cy="37239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45152" y="3118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Portainer + Compose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645152" y="3392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GHCR images · configure · restart · observe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645152" y="3813048"/>
            <a:ext cx="3017520" cy="0"/>
          </a:xfrm>
          <a:prstGeom prst="line">
            <a:avLst/>
          </a:prstGeom>
          <a:noFill/>
          <a:ln w="9525">
            <a:solidFill>
              <a:srgbClr val="E1E7E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645152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VM only pulls images; builds live in CI, never on a host.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955280" y="2743200"/>
            <a:ext cx="219456" cy="182880"/>
          </a:xfrm>
          <a:prstGeom prst="rightArrow">
            <a:avLst/>
          </a:prstGeom>
          <a:solidFill>
            <a:srgbClr val="2E8FB0"/>
          </a:solidFill>
          <a:ln/>
        </p:spPr>
      </p:sp>
      <p:sp>
        <p:nvSpPr>
          <p:cNvPr id="27" name="Shape 22"/>
          <p:cNvSpPr/>
          <p:nvPr/>
        </p:nvSpPr>
        <p:spPr>
          <a:xfrm>
            <a:off x="8193024" y="141732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193024" y="141732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F38020"/>
          </a:solidFill>
          <a:ln/>
        </p:spPr>
      </p:sp>
      <p:sp>
        <p:nvSpPr>
          <p:cNvPr id="29" name="Shape 24"/>
          <p:cNvSpPr/>
          <p:nvPr/>
        </p:nvSpPr>
        <p:spPr>
          <a:xfrm>
            <a:off x="8193024" y="1645920"/>
            <a:ext cx="3566160" cy="228600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30" name="Text 25"/>
          <p:cNvSpPr/>
          <p:nvPr/>
        </p:nvSpPr>
        <p:spPr>
          <a:xfrm>
            <a:off x="8375904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4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2130552"/>
            <a:ext cx="1135896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467344" y="3118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8467344" y="3392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Outbound-only ingress · API / dashboard rules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8467344" y="3813048"/>
            <a:ext cx="3017520" cy="0"/>
          </a:xfrm>
          <a:prstGeom prst="line">
            <a:avLst/>
          </a:prstGeom>
          <a:noFill/>
          <a:ln w="9525">
            <a:solidFill>
              <a:srgbClr val="E1E7ED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467344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inbound HTTP/HTTPS + VM-side TLS. Routing is remote API state.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548640" y="43616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—AWS API→  Q Lightsail   ·   manual trust bootstrap → Portainer / Compose   ·   containers  —outbound tunnel→  Cloudflare edge → users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548640" y="4754880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38" name="Text 32"/>
          <p:cNvSpPr/>
          <p:nvPr/>
        </p:nvSpPr>
        <p:spPr>
          <a:xfrm>
            <a:off x="777240" y="4901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822960" y="5312664"/>
            <a:ext cx="128016" cy="128016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40" name="Text 34"/>
          <p:cNvSpPr/>
          <p:nvPr/>
        </p:nvSpPr>
        <p:spPr>
          <a:xfrm>
            <a:off x="1051560" y="52578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Git or Lightsail user data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822960" y="5586984"/>
            <a:ext cx="128016" cy="128016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42" name="Text 36"/>
          <p:cNvSpPr/>
          <p:nvPr/>
        </p:nvSpPr>
        <p:spPr>
          <a:xfrm>
            <a:off x="1051560" y="55321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inbound web ports (SSH remains)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822960" y="5861304"/>
            <a:ext cx="128016" cy="128016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44" name="Text 38"/>
          <p:cNvSpPr/>
          <p:nvPr/>
        </p:nvSpPr>
        <p:spPr>
          <a:xfrm>
            <a:off x="1051560" y="58064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image-build permissions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8183880" y="475488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FBF1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8385048" y="49011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KNOWN GAPS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8385048" y="5230368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VM + Cloudflare routing outside IaC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permits all source IPs (0.0.0.0/0)</a:t>
            </a:r>
            <a:endParaRPr lang="en-US" sz="1050" dirty="0"/>
          </a:p>
        </p:txBody>
      </p:sp>
      <p:sp>
        <p:nvSpPr>
          <p:cNvPr id="48" name="Text 42"/>
          <p:cNvSpPr/>
          <p:nvPr/>
        </p:nvSpPr>
        <p:spPr>
          <a:xfrm>
            <a:off x="548640" y="623620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= authenticated inspection capability, not a deployment engine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DAY-TWO OPERATIONS · HONEST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proof today, hardening path tomorrow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440680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1792224"/>
            <a:ext cx="2331720" cy="0"/>
          </a:xfrm>
          <a:prstGeom prst="line">
            <a:avLst/>
          </a:prstGeom>
          <a:noFill/>
          <a:ln w="12700">
            <a:solidFill>
              <a:srgbClr val="2E5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087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TODAY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350008"/>
            <a:ext cx="237744" cy="237744"/>
          </a:xfrm>
          <a:prstGeom prst="ellipse">
            <a:avLst/>
          </a:prstGeom>
          <a:solidFill>
            <a:srgbClr val="E9F6EF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50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7008" y="23317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heartbeat + API health checks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953512"/>
            <a:ext cx="237744" cy="237744"/>
          </a:xfrm>
          <a:prstGeom prst="ellipse">
            <a:avLst/>
          </a:prstGeom>
          <a:solidFill>
            <a:srgbClr val="E9F6EF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5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29352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policies + local container logs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557016"/>
            <a:ext cx="237744" cy="237744"/>
          </a:xfrm>
          <a:prstGeom prst="ellipse">
            <a:avLst/>
          </a:prstGeom>
          <a:solidFill>
            <a:srgbClr val="E9F6EF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57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35387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Bronze / Silver lifecycles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160520"/>
            <a:ext cx="237744" cy="237744"/>
          </a:xfrm>
          <a:prstGeom prst="ellipse">
            <a:avLst/>
          </a:prstGeom>
          <a:solidFill>
            <a:srgbClr val="E9F6EF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160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414223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production / Q compute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82512" y="150876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CF6EA"/>
          </a:solidFill>
          <a:ln w="15875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1508760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F2A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6382512" y="1783080"/>
            <a:ext cx="5440680" cy="29260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1508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HARDENING STEPS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56832" y="2340864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8A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23408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5975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lint, image-scan &amp; SBOM gates in CI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56832" y="2944368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8A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29443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59752" y="29352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tested image digest after merge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56832" y="3547872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8A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354787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59752" y="35387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metrics, alerts &amp; log aggregation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56832" y="4151376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8A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415137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59752" y="4142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Q MongoDB; Cloudflare + prod under IaC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656832" y="45079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5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return to the visible GitHub Project ↩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EF1F5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07492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judgment: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is sufficient at this scale — Kubernetes would add an operations platform before the project needs one.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8064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8064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as Code — One Source of Truth.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SEGMENT BELONGS IN THE DEFENSE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curriculum, proven by project evidence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36776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8A5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3677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48840" y="146304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MongoDB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74920" y="1609344"/>
            <a:ext cx="0" cy="457200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463040"/>
            <a:ext cx="5010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Bronze + Supabase Postgres Silver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828" y="1636776"/>
            <a:ext cx="359008" cy="402336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282" y="1636776"/>
            <a:ext cx="389956" cy="402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2322576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2496312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E8833A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249631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148840" y="2322576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AWS Cloud Practitioner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74920" y="2468880"/>
            <a:ext cx="0" cy="457200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57800" y="2322576"/>
            <a:ext cx="5010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 services + AWS Lightsail compute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2546836"/>
            <a:ext cx="502920" cy="30128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" y="318211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355848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2E6DA4"/>
          </a:solidFill>
          <a:ln/>
        </p:spPr>
      </p:sp>
      <p:sp>
        <p:nvSpPr>
          <p:cNvPr id="21" name="Text 16"/>
          <p:cNvSpPr/>
          <p:nvPr/>
        </p:nvSpPr>
        <p:spPr>
          <a:xfrm>
            <a:off x="731520" y="33558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2148840" y="3182112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isolation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074920" y="3328416"/>
            <a:ext cx="0" cy="457200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257800" y="3182112"/>
            <a:ext cx="5010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FastAPI health endpoints · env separation · API security</a:t>
            </a:r>
            <a:endParaRPr lang="en-US" sz="11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872" y="3503117"/>
            <a:ext cx="502920" cy="10779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48640" y="4041648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31520" y="4215384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42153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2148840" y="404164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074920" y="4187952"/>
            <a:ext cx="0" cy="457200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257800" y="4041648"/>
            <a:ext cx="5010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GHCR · PR previews · release flow</a:t>
            </a:r>
            <a:endParaRPr lang="en-US" sz="11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2" y="4359101"/>
            <a:ext cx="502920" cy="11490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48640" y="4901184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D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31520" y="507492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5B4FA6"/>
          </a:solidFill>
          <a:ln/>
        </p:spPr>
      </p:sp>
      <p:sp>
        <p:nvSpPr>
          <p:cNvPr id="35" name="Text 28"/>
          <p:cNvSpPr/>
          <p:nvPr/>
        </p:nvSpPr>
        <p:spPr>
          <a:xfrm>
            <a:off x="731520" y="507492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9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2148840" y="4901184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Terraform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5074920" y="5047488"/>
            <a:ext cx="0" cy="457200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257800" y="4901184"/>
            <a:ext cx="5010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· restart/logging policy · Terraform-managed Q infra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10222992" y="5093208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EEEAF6"/>
          </a:solidFill>
          <a:ln w="12700">
            <a:solidFill>
              <a:srgbClr val="5B4FA6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10222992" y="50932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548640" y="58064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BF1DE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777240" y="58064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Shown honestly: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Prometheus · Grafana are course topics but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here — stated plainly, not hidden behind a technology logo wall.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DataScientest Data Engineer Bootcamp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+ Operating Model — Final Defense segment</dc:title>
  <dc:subject>PptxGenJS Presentation</dc:subject>
  <dc:creator>Matthias Köhler</dc:creator>
  <cp:lastModifiedBy>Matthias Köhler</cp:lastModifiedBy>
  <cp:revision>1</cp:revision>
  <dcterms:created xsi:type="dcterms:W3CDTF">2026-07-21T12:02:30Z</dcterms:created>
  <dcterms:modified xsi:type="dcterms:W3CDTF">2026-07-21T12:02:30Z</dcterms:modified>
</cp:coreProperties>
</file>