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37"/>
  </p:normalViewPr>
  <p:slideViewPr>
    <p:cSldViewPr snapToGrid="0" snapToObjects="1">
      <p:cViewPr varScale="1">
        <p:scale>
          <a:sx n="140" d="100"/>
          <a:sy n="140" d="100"/>
        </p:scale>
        <p:origin x="232" y="1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9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6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3" Type="http://schemas.openxmlformats.org/officeDocument/2006/relationships/image" Target="../media/image2.png"/><Relationship Id="rId7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287A88C6-4710-4D92-AEAC-BA7A97A3B84A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OUR WORKING PRINCIPLE · DEVELOPMENT MODEL + OPERATING MODEL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80A07BA-14B1-43E2-AC20-75986BD49BCB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Everything as Code — One Source of Truth</a:t>
            </a:r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852D60D-1A25-419E-9F2B-374E4A63F488}"/>
              </a:ext>
            </a:extLst>
          </p:cNvPr>
          <p:cNvSpPr>
            <a:spLocks noGrp="1"/>
          </p:cNvSpPr>
          <p:nvPr/>
        </p:nvSpPr>
        <p:spPr>
          <a:xfrm>
            <a:off x="548640" y="1170432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500" i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From idea to running data product</a:t>
            </a:r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CF2443B-F5F9-49F4-A361-173DA0864012}"/>
              </a:ext>
            </a:extLst>
          </p:cNvPr>
          <p:cNvSpPr>
            <a:spLocks noGrp="1"/>
          </p:cNvSpPr>
          <p:nvPr/>
        </p:nvSpPr>
        <p:spPr>
          <a:xfrm>
            <a:off x="548640" y="1965960"/>
            <a:ext cx="11091672" cy="1298448"/>
          </a:xfrm>
          <a:prstGeom prst="roundRect">
            <a:avLst>
              <a:gd name="adj" fmla="val 7042"/>
            </a:avLst>
          </a:prstGeom>
          <a:solidFill>
            <a:srgbClr val="FFFFFF"/>
          </a:solidFill>
          <a:ln w="15875">
            <a:solidFill>
              <a:srgbClr val="5B4FA6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FA5B6ACE-B31C-4B07-8C5F-9003B5B8F31B}"/>
              </a:ext>
            </a:extLst>
          </p:cNvPr>
          <p:cNvSpPr>
            <a:spLocks noGrp="1"/>
          </p:cNvSpPr>
          <p:nvPr/>
        </p:nvSpPr>
        <p:spPr>
          <a:xfrm>
            <a:off x="731520" y="207568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00" b="1">
                <a:solidFill>
                  <a:srgbClr val="5B4FA6"/>
                </a:solidFill>
                <a:latin typeface="Calibri"/>
                <a:ea typeface="Calibri"/>
                <a:cs typeface="Calibri"/>
              </a:rPr>
              <a:t>DEVELOPMENT MODEL · GITHUB SYSTEM OF RECORD</a:t>
            </a:r>
          </a:p>
        </p:txBody>
      </p:sp>
      <p:pic>
        <p:nvPicPr>
          <p:cNvPr id="64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96664" y="2057400"/>
            <a:ext cx="1360768" cy="310896"/>
          </a:xfrm>
          <a:prstGeom prst="rect">
            <a:avLst/>
          </a:prstGeom>
        </p:spPr>
      </p:pic>
      <p:sp>
        <p:nvSpPr>
          <p:cNvPr id="8" name="Shape 5">
            <a:extLst>
              <a:ext uri="{FF2B5EF4-FFF2-40B4-BE49-F238E27FC236}">
                <a16:creationId xmlns:a16="http://schemas.microsoft.com/office/drawing/2014/main" id="{28A50738-3137-4096-8840-8430C6354AAD}"/>
              </a:ext>
            </a:extLst>
          </p:cNvPr>
          <p:cNvSpPr>
            <a:spLocks noGrp="1"/>
          </p:cNvSpPr>
          <p:nvPr/>
        </p:nvSpPr>
        <p:spPr>
          <a:xfrm>
            <a:off x="777240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930C015E-FB21-45D6-93CE-450381D67136}"/>
              </a:ext>
            </a:extLst>
          </p:cNvPr>
          <p:cNvSpPr>
            <a:spLocks noGrp="1"/>
          </p:cNvSpPr>
          <p:nvPr/>
        </p:nvSpPr>
        <p:spPr>
          <a:xfrm>
            <a:off x="813816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Project</a:t>
            </a: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A34E4F64-5502-43AE-97C8-961F716B291B}"/>
              </a:ext>
            </a:extLst>
          </p:cNvPr>
          <p:cNvSpPr>
            <a:spLocks noGrp="1"/>
          </p:cNvSpPr>
          <p:nvPr/>
        </p:nvSpPr>
        <p:spPr>
          <a:xfrm>
            <a:off x="2106386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11" name="Shape 8">
            <a:extLst>
              <a:ext uri="{FF2B5EF4-FFF2-40B4-BE49-F238E27FC236}">
                <a16:creationId xmlns:a16="http://schemas.microsoft.com/office/drawing/2014/main" id="{1AD48ADD-DC3D-4320-B279-068F4DDD11D0}"/>
              </a:ext>
            </a:extLst>
          </p:cNvPr>
          <p:cNvSpPr>
            <a:spLocks noGrp="1"/>
          </p:cNvSpPr>
          <p:nvPr/>
        </p:nvSpPr>
        <p:spPr>
          <a:xfrm>
            <a:off x="2330414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93E1B37F-A5D0-49A1-BB7F-CA1CF7806BAB}"/>
              </a:ext>
            </a:extLst>
          </p:cNvPr>
          <p:cNvSpPr>
            <a:spLocks noGrp="1"/>
          </p:cNvSpPr>
          <p:nvPr/>
        </p:nvSpPr>
        <p:spPr>
          <a:xfrm>
            <a:off x="2366990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Issue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8C2CC64F-EFAF-4227-AAE6-FB104BB7F8D1}"/>
              </a:ext>
            </a:extLst>
          </p:cNvPr>
          <p:cNvSpPr>
            <a:spLocks noGrp="1"/>
          </p:cNvSpPr>
          <p:nvPr/>
        </p:nvSpPr>
        <p:spPr>
          <a:xfrm>
            <a:off x="3659559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14" name="Shape 11">
            <a:extLst>
              <a:ext uri="{FF2B5EF4-FFF2-40B4-BE49-F238E27FC236}">
                <a16:creationId xmlns:a16="http://schemas.microsoft.com/office/drawing/2014/main" id="{E0C19ADD-ACAE-4900-B263-5DEF65B45E5A}"/>
              </a:ext>
            </a:extLst>
          </p:cNvPr>
          <p:cNvSpPr>
            <a:spLocks noGrp="1"/>
          </p:cNvSpPr>
          <p:nvPr/>
        </p:nvSpPr>
        <p:spPr>
          <a:xfrm>
            <a:off x="3883587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5" name="Text 12">
            <a:extLst>
              <a:ext uri="{FF2B5EF4-FFF2-40B4-BE49-F238E27FC236}">
                <a16:creationId xmlns:a16="http://schemas.microsoft.com/office/drawing/2014/main" id="{AD0250B7-3E8A-44E8-855D-B9C0D0427CB8}"/>
              </a:ext>
            </a:extLst>
          </p:cNvPr>
          <p:cNvSpPr>
            <a:spLocks noGrp="1"/>
          </p:cNvSpPr>
          <p:nvPr/>
        </p:nvSpPr>
        <p:spPr>
          <a:xfrm>
            <a:off x="3920163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Branch</a:t>
            </a:r>
          </a:p>
        </p:txBody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8C520A5-EDA8-4E53-9D34-48446042605A}"/>
              </a:ext>
            </a:extLst>
          </p:cNvPr>
          <p:cNvSpPr>
            <a:spLocks noGrp="1"/>
          </p:cNvSpPr>
          <p:nvPr/>
        </p:nvSpPr>
        <p:spPr>
          <a:xfrm>
            <a:off x="5212733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9373958-55C3-4385-818B-02066D979562}"/>
              </a:ext>
            </a:extLst>
          </p:cNvPr>
          <p:cNvSpPr>
            <a:spLocks noGrp="1"/>
          </p:cNvSpPr>
          <p:nvPr/>
        </p:nvSpPr>
        <p:spPr>
          <a:xfrm>
            <a:off x="5436761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18" name="Text 15">
            <a:extLst>
              <a:ext uri="{FF2B5EF4-FFF2-40B4-BE49-F238E27FC236}">
                <a16:creationId xmlns:a16="http://schemas.microsoft.com/office/drawing/2014/main" id="{30687E05-7F0B-4D3A-8512-E136BD239CAD}"/>
              </a:ext>
            </a:extLst>
          </p:cNvPr>
          <p:cNvSpPr>
            <a:spLocks noGrp="1"/>
          </p:cNvSpPr>
          <p:nvPr/>
        </p:nvSpPr>
        <p:spPr>
          <a:xfrm>
            <a:off x="5473337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App-code PR</a:t>
            </a:r>
          </a:p>
        </p:txBody>
      </p:sp>
      <p:sp>
        <p:nvSpPr>
          <p:cNvPr id="19" name="Shape 16">
            <a:extLst>
              <a:ext uri="{FF2B5EF4-FFF2-40B4-BE49-F238E27FC236}">
                <a16:creationId xmlns:a16="http://schemas.microsoft.com/office/drawing/2014/main" id="{84DFC460-1C4E-4E8E-A53B-D059BEA27D16}"/>
              </a:ext>
            </a:extLst>
          </p:cNvPr>
          <p:cNvSpPr>
            <a:spLocks noGrp="1"/>
          </p:cNvSpPr>
          <p:nvPr/>
        </p:nvSpPr>
        <p:spPr>
          <a:xfrm>
            <a:off x="6765907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B7B1E317-4846-4DB0-B9A8-F0D3106C9311}"/>
              </a:ext>
            </a:extLst>
          </p:cNvPr>
          <p:cNvSpPr>
            <a:spLocks noGrp="1"/>
          </p:cNvSpPr>
          <p:nvPr/>
        </p:nvSpPr>
        <p:spPr>
          <a:xfrm>
            <a:off x="6989935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1" name="Text 18">
            <a:extLst>
              <a:ext uri="{FF2B5EF4-FFF2-40B4-BE49-F238E27FC236}">
                <a16:creationId xmlns:a16="http://schemas.microsoft.com/office/drawing/2014/main" id="{91BC86DA-FE41-4327-A645-E5506176C328}"/>
              </a:ext>
            </a:extLst>
          </p:cNvPr>
          <p:cNvSpPr>
            <a:spLocks noGrp="1"/>
          </p:cNvSpPr>
          <p:nvPr/>
        </p:nvSpPr>
        <p:spPr>
          <a:xfrm>
            <a:off x="7026511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Q preview</a:t>
            </a:r>
          </a:p>
        </p:txBody>
      </p:sp>
      <p:sp>
        <p:nvSpPr>
          <p:cNvPr id="22" name="Shape 19">
            <a:extLst>
              <a:ext uri="{FF2B5EF4-FFF2-40B4-BE49-F238E27FC236}">
                <a16:creationId xmlns:a16="http://schemas.microsoft.com/office/drawing/2014/main" id="{1C26775A-8B5B-494B-8F36-3F14ED0CF1D7}"/>
              </a:ext>
            </a:extLst>
          </p:cNvPr>
          <p:cNvSpPr>
            <a:spLocks noGrp="1"/>
          </p:cNvSpPr>
          <p:nvPr/>
        </p:nvSpPr>
        <p:spPr>
          <a:xfrm>
            <a:off x="8319081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7B62EEDC-F59D-4691-81DF-62438F3E1156}"/>
              </a:ext>
            </a:extLst>
          </p:cNvPr>
          <p:cNvSpPr>
            <a:spLocks noGrp="1"/>
          </p:cNvSpPr>
          <p:nvPr/>
        </p:nvSpPr>
        <p:spPr>
          <a:xfrm>
            <a:off x="8543109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24" name="Text 21">
            <a:extLst>
              <a:ext uri="{FF2B5EF4-FFF2-40B4-BE49-F238E27FC236}">
                <a16:creationId xmlns:a16="http://schemas.microsoft.com/office/drawing/2014/main" id="{A2F02DAF-7CD1-4F60-A3EB-210C2CA3586D}"/>
              </a:ext>
            </a:extLst>
          </p:cNvPr>
          <p:cNvSpPr>
            <a:spLocks noGrp="1"/>
          </p:cNvSpPr>
          <p:nvPr/>
        </p:nvSpPr>
        <p:spPr>
          <a:xfrm>
            <a:off x="8579685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25" name="Shape 22">
            <a:extLst>
              <a:ext uri="{FF2B5EF4-FFF2-40B4-BE49-F238E27FC236}">
                <a16:creationId xmlns:a16="http://schemas.microsoft.com/office/drawing/2014/main" id="{87D9262E-521D-471C-BD9E-D2C9DA9FF0F5}"/>
              </a:ext>
            </a:extLst>
          </p:cNvPr>
          <p:cNvSpPr>
            <a:spLocks noGrp="1"/>
          </p:cNvSpPr>
          <p:nvPr/>
        </p:nvSpPr>
        <p:spPr>
          <a:xfrm>
            <a:off x="9872254" y="2697480"/>
            <a:ext cx="210312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B13BB5C7-20C0-4746-9EDE-141C871DAEB2}"/>
              </a:ext>
            </a:extLst>
          </p:cNvPr>
          <p:cNvSpPr>
            <a:spLocks noGrp="1"/>
          </p:cNvSpPr>
          <p:nvPr/>
        </p:nvSpPr>
        <p:spPr>
          <a:xfrm>
            <a:off x="10096282" y="2532888"/>
            <a:ext cx="1315430" cy="457200"/>
          </a:xfrm>
          <a:prstGeom prst="roundRect">
            <a:avLst>
              <a:gd name="adj" fmla="val 20000"/>
            </a:avLst>
          </a:prstGeom>
          <a:solidFill>
            <a:srgbClr val="0B1F3A"/>
          </a:solidFill>
          <a:ln w="19050">
            <a:solidFill>
              <a:srgbClr val="0B1F3A"/>
            </a:solidFill>
            <a:prstDash val="solid"/>
          </a:ln>
          <a:effectLst>
            <a:outerShdw blurRad="76200" dist="25400" dir="5400000" algn="bl" rotWithShape="0">
              <a:srgbClr val="1A2B3D">
                <a:alpha val="16000"/>
              </a:srgbClr>
            </a:outerShdw>
          </a:effectLst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CECCCED1-407C-431C-BC4C-F44B3162C446}"/>
              </a:ext>
            </a:extLst>
          </p:cNvPr>
          <p:cNvSpPr>
            <a:spLocks noGrp="1"/>
          </p:cNvSpPr>
          <p:nvPr/>
        </p:nvSpPr>
        <p:spPr>
          <a:xfrm>
            <a:off x="10132858" y="2532888"/>
            <a:ext cx="1242278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main</a:t>
            </a:r>
          </a:p>
        </p:txBody>
      </p:sp>
      <p:sp>
        <p:nvSpPr>
          <p:cNvPr id="28" name="Text 25">
            <a:extLst>
              <a:ext uri="{FF2B5EF4-FFF2-40B4-BE49-F238E27FC236}">
                <a16:creationId xmlns:a16="http://schemas.microsoft.com/office/drawing/2014/main" id="{8EF587B2-B6B4-4870-8EBC-DDF03C229234}"/>
              </a:ext>
            </a:extLst>
          </p:cNvPr>
          <p:cNvSpPr>
            <a:spLocks noGrp="1"/>
          </p:cNvSpPr>
          <p:nvPr/>
        </p:nvSpPr>
        <p:spPr>
          <a:xfrm>
            <a:off x="777240" y="324612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Secrets &amp; live telemetry stay outside Git</a:t>
            </a:r>
          </a:p>
        </p:txBody>
      </p:sp>
      <p:sp>
        <p:nvSpPr>
          <p:cNvPr id="29" name="Text 26">
            <a:extLst>
              <a:ext uri="{FF2B5EF4-FFF2-40B4-BE49-F238E27FC236}">
                <a16:creationId xmlns:a16="http://schemas.microsoft.com/office/drawing/2014/main" id="{6ABADD3A-F021-42D4-B956-1775A2B7851C}"/>
              </a:ext>
            </a:extLst>
          </p:cNvPr>
          <p:cNvSpPr>
            <a:spLocks noGrp="1"/>
          </p:cNvSpPr>
          <p:nvPr/>
        </p:nvSpPr>
        <p:spPr>
          <a:xfrm>
            <a:off x="548640" y="3675888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00" b="1">
                <a:solidFill>
                  <a:srgbClr val="2E6DA4"/>
                </a:solidFill>
                <a:latin typeface="Calibri"/>
                <a:ea typeface="Calibri"/>
                <a:cs typeface="Calibri"/>
              </a:rPr>
              <a:t>OPERATING MODEL · FROM MAIN TO A RUNNING SYSTEM</a:t>
            </a:r>
          </a:p>
        </p:txBody>
      </p:sp>
      <p:sp>
        <p:nvSpPr>
          <p:cNvPr id="30" name="Shape 27">
            <a:extLst>
              <a:ext uri="{FF2B5EF4-FFF2-40B4-BE49-F238E27FC236}">
                <a16:creationId xmlns:a16="http://schemas.microsoft.com/office/drawing/2014/main" id="{D44C355F-A86A-4993-AF17-296876DC7B70}"/>
              </a:ext>
            </a:extLst>
          </p:cNvPr>
          <p:cNvSpPr>
            <a:spLocks noGrp="1"/>
          </p:cNvSpPr>
          <p:nvPr/>
        </p:nvSpPr>
        <p:spPr>
          <a:xfrm>
            <a:off x="603504" y="4041648"/>
            <a:ext cx="128016" cy="128016"/>
          </a:xfrm>
          <a:prstGeom prst="ellipse">
            <a:avLst/>
          </a:prstGeom>
          <a:solidFill>
            <a:srgbClr val="F2A93B"/>
          </a:solidFill>
        </p:spPr>
      </p:sp>
      <p:sp>
        <p:nvSpPr>
          <p:cNvPr id="31" name="Text 28">
            <a:extLst>
              <a:ext uri="{FF2B5EF4-FFF2-40B4-BE49-F238E27FC236}">
                <a16:creationId xmlns:a16="http://schemas.microsoft.com/office/drawing/2014/main" id="{5C187660-B7FA-49E1-A9D1-1DCC4FC95FBC}"/>
              </a:ext>
            </a:extLst>
          </p:cNvPr>
          <p:cNvSpPr>
            <a:spLocks noGrp="1"/>
          </p:cNvSpPr>
          <p:nvPr/>
        </p:nvSpPr>
        <p:spPr>
          <a:xfrm>
            <a:off x="841248" y="3986784"/>
            <a:ext cx="1072591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selected PR  →  Actions / GHCR  →  Q  via Portainer API</a:t>
            </a:r>
          </a:p>
        </p:txBody>
      </p:sp>
      <p:sp>
        <p:nvSpPr>
          <p:cNvPr id="32" name="Shape 29">
            <a:extLst>
              <a:ext uri="{FF2B5EF4-FFF2-40B4-BE49-F238E27FC236}">
                <a16:creationId xmlns:a16="http://schemas.microsoft.com/office/drawing/2014/main" id="{8CE00565-3455-4234-9628-FF774EF0E4C0}"/>
              </a:ext>
            </a:extLst>
          </p:cNvPr>
          <p:cNvSpPr>
            <a:spLocks noGrp="1"/>
          </p:cNvSpPr>
          <p:nvPr/>
        </p:nvSpPr>
        <p:spPr>
          <a:xfrm>
            <a:off x="603504" y="4352544"/>
            <a:ext cx="128016" cy="128016"/>
          </a:xfrm>
          <a:prstGeom prst="ellipse">
            <a:avLst/>
          </a:prstGeom>
          <a:solidFill>
            <a:srgbClr val="0B1F3A"/>
          </a:solidFill>
        </p:spPr>
      </p:sp>
      <p:sp>
        <p:nvSpPr>
          <p:cNvPr id="33" name="Text 30">
            <a:extLst>
              <a:ext uri="{FF2B5EF4-FFF2-40B4-BE49-F238E27FC236}">
                <a16:creationId xmlns:a16="http://schemas.microsoft.com/office/drawing/2014/main" id="{40F781D0-127D-4DB8-8438-548154B0E95D}"/>
              </a:ext>
            </a:extLst>
          </p:cNvPr>
          <p:cNvSpPr>
            <a:spLocks noGrp="1"/>
          </p:cNvSpPr>
          <p:nvPr/>
        </p:nvSpPr>
        <p:spPr>
          <a:xfrm>
            <a:off x="841248" y="4297680"/>
            <a:ext cx="1072591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main  →  Actions  →  GHCR : latest</a:t>
            </a:r>
          </a:p>
        </p:txBody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B666A7A2-06B3-4FD4-B317-97AFA30C826E}"/>
              </a:ext>
            </a:extLst>
          </p:cNvPr>
          <p:cNvSpPr>
            <a:spLocks noGrp="1"/>
          </p:cNvSpPr>
          <p:nvPr/>
        </p:nvSpPr>
        <p:spPr>
          <a:xfrm>
            <a:off x="603504" y="4663440"/>
            <a:ext cx="128016" cy="128016"/>
          </a:xfrm>
          <a:prstGeom prst="ellipse">
            <a:avLst/>
          </a:prstGeom>
          <a:solidFill>
            <a:srgbClr val="2E6DA4"/>
          </a:solidFill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D4800736-8614-4B2C-9EB3-FFB791B2BA99}"/>
              </a:ext>
            </a:extLst>
          </p:cNvPr>
          <p:cNvSpPr>
            <a:spLocks noGrp="1"/>
          </p:cNvSpPr>
          <p:nvPr/>
        </p:nvSpPr>
        <p:spPr>
          <a:xfrm>
            <a:off x="841248" y="4608576"/>
            <a:ext cx="1072591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production  ←  main config via Portainer  ·  GHCR : latest via Docker</a:t>
            </a: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69CFD1DF-9E08-46D8-9D57-12BBA0A73A7C}"/>
              </a:ext>
            </a:extLst>
          </p:cNvPr>
          <p:cNvSpPr>
            <a:spLocks noGrp="1"/>
          </p:cNvSpPr>
          <p:nvPr/>
        </p:nvSpPr>
        <p:spPr>
          <a:xfrm>
            <a:off x="548640" y="5029200"/>
            <a:ext cx="11091672" cy="1188720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37" name="Text 34">
            <a:extLst>
              <a:ext uri="{FF2B5EF4-FFF2-40B4-BE49-F238E27FC236}">
                <a16:creationId xmlns:a16="http://schemas.microsoft.com/office/drawing/2014/main" id="{5304E879-56B3-4C64-8523-67D1C38E68DA}"/>
              </a:ext>
            </a:extLst>
          </p:cNvPr>
          <p:cNvSpPr>
            <a:spLocks noGrp="1"/>
          </p:cNvSpPr>
          <p:nvPr/>
        </p:nvSpPr>
        <p:spPr>
          <a:xfrm>
            <a:off x="777240" y="5157216"/>
            <a:ext cx="54864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l">
              <a:buNone/>
            </a:pPr>
            <a:r>
              <a:rPr sz="11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RUNNING DATA PRODUCT</a:t>
            </a:r>
          </a:p>
        </p:txBody>
      </p:sp>
      <p:pic>
        <p:nvPicPr>
          <p:cNvPr id="95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2960" y="5506738"/>
            <a:ext cx="420624" cy="471389"/>
          </a:xfrm>
          <a:prstGeom prst="rect">
            <a:avLst/>
          </a:prstGeom>
        </p:spPr>
      </p:pic>
      <p:sp>
        <p:nvSpPr>
          <p:cNvPr id="39" name="Shape 35">
            <a:extLst>
              <a:ext uri="{FF2B5EF4-FFF2-40B4-BE49-F238E27FC236}">
                <a16:creationId xmlns:a16="http://schemas.microsoft.com/office/drawing/2014/main" id="{19E74D22-2774-43C1-9C03-891603DB660A}"/>
              </a:ext>
            </a:extLst>
          </p:cNvPr>
          <p:cNvSpPr>
            <a:spLocks noGrp="1"/>
          </p:cNvSpPr>
          <p:nvPr/>
        </p:nvSpPr>
        <p:spPr>
          <a:xfrm>
            <a:off x="1371600" y="5486400"/>
            <a:ext cx="2514600" cy="512064"/>
          </a:xfrm>
          <a:prstGeom prst="roundRect">
            <a:avLst>
              <a:gd name="adj" fmla="val 17857"/>
            </a:avLst>
          </a:prstGeom>
          <a:solidFill>
            <a:srgbClr val="F7F9FB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0" name="Text 36">
            <a:extLst>
              <a:ext uri="{FF2B5EF4-FFF2-40B4-BE49-F238E27FC236}">
                <a16:creationId xmlns:a16="http://schemas.microsoft.com/office/drawing/2014/main" id="{C2EC4A67-2A58-45BE-8AE0-1DD98C49B7CF}"/>
              </a:ext>
            </a:extLst>
          </p:cNvPr>
          <p:cNvSpPr>
            <a:spLocks noGrp="1"/>
          </p:cNvSpPr>
          <p:nvPr/>
        </p:nvSpPr>
        <p:spPr>
          <a:xfrm>
            <a:off x="1408176" y="5486400"/>
            <a:ext cx="2441448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1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MongoDB Atlas  ·  Bronze</a:t>
            </a:r>
          </a:p>
        </p:txBody>
      </p:sp>
      <p:sp>
        <p:nvSpPr>
          <p:cNvPr id="41" name="Shape 37">
            <a:extLst>
              <a:ext uri="{FF2B5EF4-FFF2-40B4-BE49-F238E27FC236}">
                <a16:creationId xmlns:a16="http://schemas.microsoft.com/office/drawing/2014/main" id="{A8D84463-4F25-4BCC-A6FD-A1039E9F8B39}"/>
              </a:ext>
            </a:extLst>
          </p:cNvPr>
          <p:cNvSpPr>
            <a:spLocks noGrp="1"/>
          </p:cNvSpPr>
          <p:nvPr/>
        </p:nvSpPr>
        <p:spPr>
          <a:xfrm>
            <a:off x="3931920" y="5678424"/>
            <a:ext cx="365760" cy="128016"/>
          </a:xfrm>
          <a:prstGeom prst="rightArrow">
            <a:avLst/>
          </a:prstGeom>
          <a:solidFill>
            <a:srgbClr val="1B8A5A"/>
          </a:solidFill>
        </p:spPr>
      </p:sp>
      <p:sp>
        <p:nvSpPr>
          <p:cNvPr id="42" name="Shape 38">
            <a:extLst>
              <a:ext uri="{FF2B5EF4-FFF2-40B4-BE49-F238E27FC236}">
                <a16:creationId xmlns:a16="http://schemas.microsoft.com/office/drawing/2014/main" id="{269CCF4B-2C07-47F6-B401-DD9664D5F7FF}"/>
              </a:ext>
            </a:extLst>
          </p:cNvPr>
          <p:cNvSpPr>
            <a:spLocks noGrp="1"/>
          </p:cNvSpPr>
          <p:nvPr/>
        </p:nvSpPr>
        <p:spPr>
          <a:xfrm>
            <a:off x="4343400" y="5486400"/>
            <a:ext cx="1371600" cy="512064"/>
          </a:xfrm>
          <a:prstGeom prst="roundRect">
            <a:avLst>
              <a:gd name="adj" fmla="val 17857"/>
            </a:avLst>
          </a:prstGeom>
          <a:solidFill>
            <a:srgbClr val="0B1F3A"/>
          </a:solidFill>
          <a:ln w="12700">
            <a:solidFill>
              <a:srgbClr val="0B1F3A"/>
            </a:solidFill>
            <a:prstDash val="solid"/>
          </a:ln>
        </p:spPr>
      </p:sp>
      <p:sp>
        <p:nvSpPr>
          <p:cNvPr id="43" name="Text 39">
            <a:extLst>
              <a:ext uri="{FF2B5EF4-FFF2-40B4-BE49-F238E27FC236}">
                <a16:creationId xmlns:a16="http://schemas.microsoft.com/office/drawing/2014/main" id="{046391D0-BE94-48B2-B5E2-7EDF616A65F0}"/>
              </a:ext>
            </a:extLst>
          </p:cNvPr>
          <p:cNvSpPr>
            <a:spLocks noGrp="1"/>
          </p:cNvSpPr>
          <p:nvPr/>
        </p:nvSpPr>
        <p:spPr>
          <a:xfrm>
            <a:off x="4379976" y="5486400"/>
            <a:ext cx="1298448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10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ETL</a:t>
            </a:r>
          </a:p>
        </p:txBody>
      </p:sp>
      <p:sp>
        <p:nvSpPr>
          <p:cNvPr id="44" name="Shape 40">
            <a:extLst>
              <a:ext uri="{FF2B5EF4-FFF2-40B4-BE49-F238E27FC236}">
                <a16:creationId xmlns:a16="http://schemas.microsoft.com/office/drawing/2014/main" id="{01D44651-A8D7-4412-83DA-5B33A1F98396}"/>
              </a:ext>
            </a:extLst>
          </p:cNvPr>
          <p:cNvSpPr>
            <a:spLocks noGrp="1"/>
          </p:cNvSpPr>
          <p:nvPr/>
        </p:nvSpPr>
        <p:spPr>
          <a:xfrm>
            <a:off x="5760720" y="5678424"/>
            <a:ext cx="365760" cy="128016"/>
          </a:xfrm>
          <a:prstGeom prst="rightArrow">
            <a:avLst/>
          </a:prstGeom>
          <a:solidFill>
            <a:srgbClr val="1B8A5A"/>
          </a:solidFill>
        </p:spPr>
      </p:sp>
      <p:sp>
        <p:nvSpPr>
          <p:cNvPr id="45" name="Shape 41">
            <a:extLst>
              <a:ext uri="{FF2B5EF4-FFF2-40B4-BE49-F238E27FC236}">
                <a16:creationId xmlns:a16="http://schemas.microsoft.com/office/drawing/2014/main" id="{7EA5E7CA-601F-4677-BEC6-7357AAE47803}"/>
              </a:ext>
            </a:extLst>
          </p:cNvPr>
          <p:cNvSpPr>
            <a:spLocks noGrp="1"/>
          </p:cNvSpPr>
          <p:nvPr/>
        </p:nvSpPr>
        <p:spPr>
          <a:xfrm>
            <a:off x="6172200" y="5486400"/>
            <a:ext cx="2697480" cy="512064"/>
          </a:xfrm>
          <a:prstGeom prst="roundRect">
            <a:avLst>
              <a:gd name="adj" fmla="val 17857"/>
            </a:avLst>
          </a:prstGeom>
          <a:solidFill>
            <a:srgbClr val="F7F9FB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6" name="Text 42">
            <a:extLst>
              <a:ext uri="{FF2B5EF4-FFF2-40B4-BE49-F238E27FC236}">
                <a16:creationId xmlns:a16="http://schemas.microsoft.com/office/drawing/2014/main" id="{34708040-6365-4389-88D0-F67BFED1F415}"/>
              </a:ext>
            </a:extLst>
          </p:cNvPr>
          <p:cNvSpPr>
            <a:spLocks noGrp="1"/>
          </p:cNvSpPr>
          <p:nvPr/>
        </p:nvSpPr>
        <p:spPr>
          <a:xfrm>
            <a:off x="6208776" y="5486400"/>
            <a:ext cx="2624328" cy="51206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1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Supabase Postgres  ·  Silver</a:t>
            </a:r>
          </a:p>
        </p:txBody>
      </p:sp>
      <p:pic>
        <p:nvPicPr>
          <p:cNvPr id="104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15400" y="5525443"/>
            <a:ext cx="420624" cy="433977"/>
          </a:xfrm>
          <a:prstGeom prst="rect">
            <a:avLst/>
          </a:prstGeom>
        </p:spPr>
      </p:pic>
      <p:sp>
        <p:nvSpPr>
          <p:cNvPr id="48" name="Shape 43">
            <a:extLst>
              <a:ext uri="{FF2B5EF4-FFF2-40B4-BE49-F238E27FC236}">
                <a16:creationId xmlns:a16="http://schemas.microsoft.com/office/drawing/2014/main" id="{CD807D8A-EEEC-40F3-9E01-BF502AD0D285}"/>
              </a:ext>
            </a:extLst>
          </p:cNvPr>
          <p:cNvSpPr>
            <a:spLocks noGrp="1"/>
          </p:cNvSpPr>
          <p:nvPr/>
        </p:nvSpPr>
        <p:spPr>
          <a:xfrm>
            <a:off x="9601200" y="5230368"/>
            <a:ext cx="0" cy="786384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pic>
        <p:nvPicPr>
          <p:cNvPr id="106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802368" y="5303520"/>
            <a:ext cx="366323" cy="219456"/>
          </a:xfrm>
          <a:prstGeom prst="rect">
            <a:avLst/>
          </a:prstGeom>
        </p:spPr>
      </p:pic>
      <p:sp>
        <p:nvSpPr>
          <p:cNvPr id="50" name="Text 44">
            <a:extLst>
              <a:ext uri="{FF2B5EF4-FFF2-40B4-BE49-F238E27FC236}">
                <a16:creationId xmlns:a16="http://schemas.microsoft.com/office/drawing/2014/main" id="{5D113A1F-E9BC-4D50-B333-325208E6210F}"/>
              </a:ext>
            </a:extLst>
          </p:cNvPr>
          <p:cNvSpPr>
            <a:spLocks noGrp="1"/>
          </p:cNvSpPr>
          <p:nvPr/>
        </p:nvSpPr>
        <p:spPr>
          <a:xfrm>
            <a:off x="10515600" y="5285232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Terraform → Q infra</a:t>
            </a:r>
          </a:p>
        </p:txBody>
      </p:sp>
      <p:pic>
        <p:nvPicPr>
          <p:cNvPr id="108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02368" y="5687568"/>
            <a:ext cx="594993" cy="201168"/>
          </a:xfrm>
          <a:prstGeom prst="rect">
            <a:avLst/>
          </a:prstGeom>
        </p:spPr>
      </p:pic>
      <p:sp>
        <p:nvSpPr>
          <p:cNvPr id="52" name="Text 45">
            <a:extLst>
              <a:ext uri="{FF2B5EF4-FFF2-40B4-BE49-F238E27FC236}">
                <a16:creationId xmlns:a16="http://schemas.microsoft.com/office/drawing/2014/main" id="{0C21C334-E45D-4B21-83ED-4C03DCF32881}"/>
              </a:ext>
            </a:extLst>
          </p:cNvPr>
          <p:cNvSpPr>
            <a:spLocks noGrp="1"/>
          </p:cNvSpPr>
          <p:nvPr/>
        </p:nvSpPr>
        <p:spPr>
          <a:xfrm>
            <a:off x="10515600" y="5669280"/>
            <a:ext cx="11430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8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Tunnel → edge</a:t>
            </a:r>
          </a:p>
        </p:txBody>
      </p:sp>
      <p:sp>
        <p:nvSpPr>
          <p:cNvPr id="53" name="Text 46">
            <a:extLst>
              <a:ext uri="{FF2B5EF4-FFF2-40B4-BE49-F238E27FC236}">
                <a16:creationId xmlns:a16="http://schemas.microsoft.com/office/drawing/2014/main" id="{B564E803-BE8B-460F-8017-7A33F2C3E35B}"/>
              </a:ext>
            </a:extLst>
          </p:cNvPr>
          <p:cNvSpPr>
            <a:spLocks noGrp="1"/>
          </p:cNvSpPr>
          <p:nvPr/>
        </p:nvSpPr>
        <p:spPr>
          <a:xfrm>
            <a:off x="548640" y="6355080"/>
            <a:ext cx="11091672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Plan</a:t>
            </a:r>
            <a:r>
              <a:rPr sz="12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review</a:t>
            </a:r>
            <a:r>
              <a:rPr sz="12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provision</a:t>
            </a:r>
            <a:r>
              <a:rPr sz="12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package</a:t>
            </a:r>
            <a:r>
              <a:rPr sz="12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deploy</a:t>
            </a:r>
            <a:r>
              <a:rPr sz="12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  ·  </a:t>
            </a: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operate</a:t>
            </a:r>
          </a:p>
        </p:txBody>
      </p:sp>
    </p:spTree>
    <p:extLst>
      <p:ext uri="{BB962C8B-B14F-4D97-AF65-F5344CB8AC3E}">
        <p14:creationId xmlns:p14="http://schemas.microsoft.com/office/powerpoint/2010/main" val="9400048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0725E5C-5A02-4125-AD83-6A948F86290A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LIGHTWEIGHT PROJECT MANAGEMENT · ENGINEERING CONTROL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F6A9F21-2264-424F-9299-82D9C616BB9E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From idea to reviewed change</a:t>
            </a:r>
          </a:p>
        </p:txBody>
      </p:sp>
      <p:pic>
        <p:nvPicPr>
          <p:cNvPr id="73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76483" y="457200"/>
            <a:ext cx="1680949" cy="384048"/>
          </a:xfrm>
          <a:prstGeom prst="rect">
            <a:avLst/>
          </a:prstGeom>
        </p:spPr>
      </p:pic>
      <p:sp>
        <p:nvSpPr>
          <p:cNvPr id="5" name="Shape 2">
            <a:extLst>
              <a:ext uri="{FF2B5EF4-FFF2-40B4-BE49-F238E27FC236}">
                <a16:creationId xmlns:a16="http://schemas.microsoft.com/office/drawing/2014/main" id="{16BF81E2-ED9D-4956-AA24-84F3EC1844B8}"/>
              </a:ext>
            </a:extLst>
          </p:cNvPr>
          <p:cNvSpPr>
            <a:spLocks noGrp="1"/>
          </p:cNvSpPr>
          <p:nvPr/>
        </p:nvSpPr>
        <p:spPr>
          <a:xfrm>
            <a:off x="548640" y="1234440"/>
            <a:ext cx="4663440" cy="365760"/>
          </a:xfrm>
          <a:prstGeom prst="roundRect">
            <a:avLst>
              <a:gd name="adj" fmla="val 50000"/>
            </a:avLst>
          </a:prstGeom>
          <a:solidFill>
            <a:srgbClr val="0B1F3A"/>
          </a:solidFill>
        </p:spPr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6DE92AB2-2116-4BB2-AA06-344DF26BBCA5}"/>
              </a:ext>
            </a:extLst>
          </p:cNvPr>
          <p:cNvSpPr>
            <a:spLocks noGrp="1"/>
          </p:cNvSpPr>
          <p:nvPr/>
        </p:nvSpPr>
        <p:spPr>
          <a:xfrm>
            <a:off x="548640" y="1234440"/>
            <a:ext cx="4663440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Public GitHub Project  ·  Kanban + Roadmap</a:t>
            </a: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073E213B-681E-4B4E-963B-517EE187857D}"/>
              </a:ext>
            </a:extLst>
          </p:cNvPr>
          <p:cNvSpPr>
            <a:spLocks noGrp="1"/>
          </p:cNvSpPr>
          <p:nvPr/>
        </p:nvSpPr>
        <p:spPr>
          <a:xfrm>
            <a:off x="548640" y="1874520"/>
            <a:ext cx="6720840" cy="370332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48EF7B15-4757-46E0-A4A1-42B7B72E8303}"/>
              </a:ext>
            </a:extLst>
          </p:cNvPr>
          <p:cNvSpPr>
            <a:spLocks noGrp="1"/>
          </p:cNvSpPr>
          <p:nvPr/>
        </p:nvSpPr>
        <p:spPr>
          <a:xfrm>
            <a:off x="777240" y="2020824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AIRLINE PROJECT</a:t>
            </a:r>
          </a:p>
        </p:txBody>
      </p:sp>
      <p:sp>
        <p:nvSpPr>
          <p:cNvPr id="9" name="Text 6">
            <a:extLst>
              <a:ext uri="{FF2B5EF4-FFF2-40B4-BE49-F238E27FC236}">
                <a16:creationId xmlns:a16="http://schemas.microsoft.com/office/drawing/2014/main" id="{715518F7-7ACD-43F7-8FF8-227E71C486E2}"/>
              </a:ext>
            </a:extLst>
          </p:cNvPr>
          <p:cNvSpPr>
            <a:spLocks noGrp="1"/>
          </p:cNvSpPr>
          <p:nvPr/>
        </p:nvSpPr>
        <p:spPr>
          <a:xfrm>
            <a:off x="5074920" y="2020824"/>
            <a:ext cx="201168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Kanban</a:t>
            </a:r>
            <a:r>
              <a:rPr sz="1050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Roadmap</a:t>
            </a:r>
          </a:p>
        </p:txBody>
      </p:sp>
      <p:sp>
        <p:nvSpPr>
          <p:cNvPr id="10" name="Shape 7">
            <a:extLst>
              <a:ext uri="{FF2B5EF4-FFF2-40B4-BE49-F238E27FC236}">
                <a16:creationId xmlns:a16="http://schemas.microsoft.com/office/drawing/2014/main" id="{E264D6BD-F4EC-4D9C-97A5-8BD28B542053}"/>
              </a:ext>
            </a:extLst>
          </p:cNvPr>
          <p:cNvSpPr>
            <a:spLocks noGrp="1"/>
          </p:cNvSpPr>
          <p:nvPr/>
        </p:nvSpPr>
        <p:spPr>
          <a:xfrm>
            <a:off x="777240" y="2423160"/>
            <a:ext cx="1428750" cy="2971800"/>
          </a:xfrm>
          <a:prstGeom prst="roundRect">
            <a:avLst>
              <a:gd name="adj" fmla="val 3200"/>
            </a:avLst>
          </a:prstGeom>
          <a:solidFill>
            <a:srgbClr val="EEF1F5"/>
          </a:solidFill>
        </p:spPr>
      </p:sp>
      <p:sp>
        <p:nvSpPr>
          <p:cNvPr id="11" name="Text 8">
            <a:extLst>
              <a:ext uri="{FF2B5EF4-FFF2-40B4-BE49-F238E27FC236}">
                <a16:creationId xmlns:a16="http://schemas.microsoft.com/office/drawing/2014/main" id="{F762EC08-3116-483A-A623-481A38D526B7}"/>
              </a:ext>
            </a:extLst>
          </p:cNvPr>
          <p:cNvSpPr>
            <a:spLocks noGrp="1"/>
          </p:cNvSpPr>
          <p:nvPr/>
        </p:nvSpPr>
        <p:spPr>
          <a:xfrm>
            <a:off x="886968" y="2514600"/>
            <a:ext cx="120929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Ideas</a:t>
            </a:r>
            <a:r>
              <a:rPr sz="1000" b="1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2</a:t>
            </a:r>
          </a:p>
        </p:txBody>
      </p:sp>
      <p:sp>
        <p:nvSpPr>
          <p:cNvPr id="12" name="Shape 9">
            <a:extLst>
              <a:ext uri="{FF2B5EF4-FFF2-40B4-BE49-F238E27FC236}">
                <a16:creationId xmlns:a16="http://schemas.microsoft.com/office/drawing/2014/main" id="{67323FC1-4882-4D29-93A1-E8DABDF05C49}"/>
              </a:ext>
            </a:extLst>
          </p:cNvPr>
          <p:cNvSpPr>
            <a:spLocks noGrp="1"/>
          </p:cNvSpPr>
          <p:nvPr/>
        </p:nvSpPr>
        <p:spPr>
          <a:xfrm>
            <a:off x="886968" y="2843784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E5C44E74-693C-4CD3-948A-2C0061FF2A36}"/>
              </a:ext>
            </a:extLst>
          </p:cNvPr>
          <p:cNvSpPr>
            <a:spLocks noGrp="1"/>
          </p:cNvSpPr>
          <p:nvPr/>
        </p:nvSpPr>
        <p:spPr>
          <a:xfrm>
            <a:off x="1014984" y="3026664"/>
            <a:ext cx="109728" cy="109728"/>
          </a:xfrm>
          <a:prstGeom prst="ellipse">
            <a:avLst/>
          </a:prstGeom>
          <a:solidFill>
            <a:srgbClr val="9FB2C6"/>
          </a:solidFill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023049E6-0088-4A9B-8F81-2AE3036C88C8}"/>
              </a:ext>
            </a:extLst>
          </p:cNvPr>
          <p:cNvSpPr>
            <a:spLocks noGrp="1"/>
          </p:cNvSpPr>
          <p:nvPr/>
        </p:nvSpPr>
        <p:spPr>
          <a:xfrm>
            <a:off x="1143000" y="2843784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Redshift history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BA86699C-8957-4A4A-BBA2-4E79B3DE63AD}"/>
              </a:ext>
            </a:extLst>
          </p:cNvPr>
          <p:cNvSpPr>
            <a:spLocks noGrp="1"/>
          </p:cNvSpPr>
          <p:nvPr/>
        </p:nvSpPr>
        <p:spPr>
          <a:xfrm>
            <a:off x="886968" y="3410712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CCC4A98E-3C35-4FBE-87AA-11226DFFC95D}"/>
              </a:ext>
            </a:extLst>
          </p:cNvPr>
          <p:cNvSpPr>
            <a:spLocks noGrp="1"/>
          </p:cNvSpPr>
          <p:nvPr/>
        </p:nvSpPr>
        <p:spPr>
          <a:xfrm>
            <a:off x="1014984" y="3593592"/>
            <a:ext cx="109728" cy="109728"/>
          </a:xfrm>
          <a:prstGeom prst="ellipse">
            <a:avLst/>
          </a:prstGeom>
          <a:solidFill>
            <a:srgbClr val="9FB2C6"/>
          </a:solidFill>
        </p:spPr>
      </p:sp>
      <p:sp>
        <p:nvSpPr>
          <p:cNvPr id="17" name="Text 14">
            <a:extLst>
              <a:ext uri="{FF2B5EF4-FFF2-40B4-BE49-F238E27FC236}">
                <a16:creationId xmlns:a16="http://schemas.microsoft.com/office/drawing/2014/main" id="{5346D5FA-E38E-4562-BDAC-A7B8593C17BA}"/>
              </a:ext>
            </a:extLst>
          </p:cNvPr>
          <p:cNvSpPr>
            <a:spLocks noGrp="1"/>
          </p:cNvSpPr>
          <p:nvPr/>
        </p:nvSpPr>
        <p:spPr>
          <a:xfrm>
            <a:off x="1143000" y="3410712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Metrics + alerts</a:t>
            </a:r>
          </a:p>
        </p:txBody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C251920A-3112-40DD-9C32-6FB45B088966}"/>
              </a:ext>
            </a:extLst>
          </p:cNvPr>
          <p:cNvSpPr>
            <a:spLocks noGrp="1"/>
          </p:cNvSpPr>
          <p:nvPr/>
        </p:nvSpPr>
        <p:spPr>
          <a:xfrm>
            <a:off x="2388870" y="2423160"/>
            <a:ext cx="1428750" cy="2971800"/>
          </a:xfrm>
          <a:prstGeom prst="roundRect">
            <a:avLst>
              <a:gd name="adj" fmla="val 3200"/>
            </a:avLst>
          </a:prstGeom>
          <a:solidFill>
            <a:srgbClr val="EAF4FB"/>
          </a:solidFill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F079016C-FD1E-461C-AE53-77FBDB124F04}"/>
              </a:ext>
            </a:extLst>
          </p:cNvPr>
          <p:cNvSpPr>
            <a:spLocks noGrp="1"/>
          </p:cNvSpPr>
          <p:nvPr/>
        </p:nvSpPr>
        <p:spPr>
          <a:xfrm>
            <a:off x="2498598" y="2514600"/>
            <a:ext cx="120929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Todo</a:t>
            </a:r>
            <a:r>
              <a:rPr sz="1000" b="1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2</a:t>
            </a:r>
          </a:p>
        </p:txBody>
      </p:sp>
      <p:sp>
        <p:nvSpPr>
          <p:cNvPr id="20" name="Shape 17">
            <a:extLst>
              <a:ext uri="{FF2B5EF4-FFF2-40B4-BE49-F238E27FC236}">
                <a16:creationId xmlns:a16="http://schemas.microsoft.com/office/drawing/2014/main" id="{8EB9D8AD-DF86-4A6E-911F-B77C555D1278}"/>
              </a:ext>
            </a:extLst>
          </p:cNvPr>
          <p:cNvSpPr>
            <a:spLocks noGrp="1"/>
          </p:cNvSpPr>
          <p:nvPr/>
        </p:nvSpPr>
        <p:spPr>
          <a:xfrm>
            <a:off x="2498598" y="2843784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21" name="Shape 18">
            <a:extLst>
              <a:ext uri="{FF2B5EF4-FFF2-40B4-BE49-F238E27FC236}">
                <a16:creationId xmlns:a16="http://schemas.microsoft.com/office/drawing/2014/main" id="{63CC4F58-3649-4B05-9803-33ABB01AA6D2}"/>
              </a:ext>
            </a:extLst>
          </p:cNvPr>
          <p:cNvSpPr>
            <a:spLocks noGrp="1"/>
          </p:cNvSpPr>
          <p:nvPr/>
        </p:nvSpPr>
        <p:spPr>
          <a:xfrm>
            <a:off x="2626614" y="3026664"/>
            <a:ext cx="109728" cy="109728"/>
          </a:xfrm>
          <a:prstGeom prst="ellipse">
            <a:avLst/>
          </a:prstGeom>
          <a:solidFill>
            <a:srgbClr val="9FB2C6"/>
          </a:solidFill>
        </p:spPr>
      </p:sp>
      <p:sp>
        <p:nvSpPr>
          <p:cNvPr id="22" name="Text 19">
            <a:extLst>
              <a:ext uri="{FF2B5EF4-FFF2-40B4-BE49-F238E27FC236}">
                <a16:creationId xmlns:a16="http://schemas.microsoft.com/office/drawing/2014/main" id="{6ED38757-5ED7-4B4F-BA24-5B15FBD100CD}"/>
              </a:ext>
            </a:extLst>
          </p:cNvPr>
          <p:cNvSpPr>
            <a:spLocks noGrp="1"/>
          </p:cNvSpPr>
          <p:nvPr/>
        </p:nvSpPr>
        <p:spPr>
          <a:xfrm>
            <a:off x="2754630" y="2843784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Isolate Q Mongo</a:t>
            </a:r>
          </a:p>
        </p:txBody>
      </p:sp>
      <p:sp>
        <p:nvSpPr>
          <p:cNvPr id="23" name="Shape 20">
            <a:extLst>
              <a:ext uri="{FF2B5EF4-FFF2-40B4-BE49-F238E27FC236}">
                <a16:creationId xmlns:a16="http://schemas.microsoft.com/office/drawing/2014/main" id="{3DE53005-03A5-425E-8708-7CDCCA7390A5}"/>
              </a:ext>
            </a:extLst>
          </p:cNvPr>
          <p:cNvSpPr>
            <a:spLocks noGrp="1"/>
          </p:cNvSpPr>
          <p:nvPr/>
        </p:nvSpPr>
        <p:spPr>
          <a:xfrm>
            <a:off x="2498598" y="3410712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24" name="Shape 21">
            <a:extLst>
              <a:ext uri="{FF2B5EF4-FFF2-40B4-BE49-F238E27FC236}">
                <a16:creationId xmlns:a16="http://schemas.microsoft.com/office/drawing/2014/main" id="{9A083DF4-B849-4A81-9140-F8F0E0CE8691}"/>
              </a:ext>
            </a:extLst>
          </p:cNvPr>
          <p:cNvSpPr>
            <a:spLocks noGrp="1"/>
          </p:cNvSpPr>
          <p:nvPr/>
        </p:nvSpPr>
        <p:spPr>
          <a:xfrm>
            <a:off x="2626614" y="3593592"/>
            <a:ext cx="109728" cy="109728"/>
          </a:xfrm>
          <a:prstGeom prst="ellipse">
            <a:avLst/>
          </a:prstGeom>
          <a:solidFill>
            <a:srgbClr val="9FB2C6"/>
          </a:solidFill>
        </p:spPr>
      </p:sp>
      <p:sp>
        <p:nvSpPr>
          <p:cNvPr id="25" name="Text 22">
            <a:extLst>
              <a:ext uri="{FF2B5EF4-FFF2-40B4-BE49-F238E27FC236}">
                <a16:creationId xmlns:a16="http://schemas.microsoft.com/office/drawing/2014/main" id="{A8034E49-C142-4A93-8DC0-EC53E1257F94}"/>
              </a:ext>
            </a:extLst>
          </p:cNvPr>
          <p:cNvSpPr>
            <a:spLocks noGrp="1"/>
          </p:cNvSpPr>
          <p:nvPr/>
        </p:nvSpPr>
        <p:spPr>
          <a:xfrm>
            <a:off x="2754630" y="3410712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Promote digest</a:t>
            </a:r>
          </a:p>
        </p:txBody>
      </p:sp>
      <p:sp>
        <p:nvSpPr>
          <p:cNvPr id="26" name="Shape 23">
            <a:extLst>
              <a:ext uri="{FF2B5EF4-FFF2-40B4-BE49-F238E27FC236}">
                <a16:creationId xmlns:a16="http://schemas.microsoft.com/office/drawing/2014/main" id="{513AFF79-7BEE-4D78-B6D7-84B709F8B978}"/>
              </a:ext>
            </a:extLst>
          </p:cNvPr>
          <p:cNvSpPr>
            <a:spLocks noGrp="1"/>
          </p:cNvSpPr>
          <p:nvPr/>
        </p:nvSpPr>
        <p:spPr>
          <a:xfrm>
            <a:off x="4000500" y="2423160"/>
            <a:ext cx="1428750" cy="2971800"/>
          </a:xfrm>
          <a:prstGeom prst="roundRect">
            <a:avLst>
              <a:gd name="adj" fmla="val 3200"/>
            </a:avLst>
          </a:prstGeom>
          <a:solidFill>
            <a:srgbClr val="FDF3E3"/>
          </a:solidFill>
        </p:spPr>
      </p:sp>
      <p:sp>
        <p:nvSpPr>
          <p:cNvPr id="27" name="Text 24">
            <a:extLst>
              <a:ext uri="{FF2B5EF4-FFF2-40B4-BE49-F238E27FC236}">
                <a16:creationId xmlns:a16="http://schemas.microsoft.com/office/drawing/2014/main" id="{BBB8A08B-3C91-4A2F-A8D4-66D3E5B6F7F5}"/>
              </a:ext>
            </a:extLst>
          </p:cNvPr>
          <p:cNvSpPr>
            <a:spLocks noGrp="1"/>
          </p:cNvSpPr>
          <p:nvPr/>
        </p:nvSpPr>
        <p:spPr>
          <a:xfrm>
            <a:off x="4110228" y="2514600"/>
            <a:ext cx="120929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In Progress</a:t>
            </a:r>
            <a:r>
              <a:rPr sz="1000" b="1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1</a:t>
            </a:r>
          </a:p>
        </p:txBody>
      </p:sp>
      <p:sp>
        <p:nvSpPr>
          <p:cNvPr id="28" name="Shape 25">
            <a:extLst>
              <a:ext uri="{FF2B5EF4-FFF2-40B4-BE49-F238E27FC236}">
                <a16:creationId xmlns:a16="http://schemas.microsoft.com/office/drawing/2014/main" id="{D4778CC9-10FE-4C98-B0F0-1949C285D742}"/>
              </a:ext>
            </a:extLst>
          </p:cNvPr>
          <p:cNvSpPr>
            <a:spLocks noGrp="1"/>
          </p:cNvSpPr>
          <p:nvPr/>
        </p:nvSpPr>
        <p:spPr>
          <a:xfrm>
            <a:off x="4110228" y="2843784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29" name="Shape 26">
            <a:extLst>
              <a:ext uri="{FF2B5EF4-FFF2-40B4-BE49-F238E27FC236}">
                <a16:creationId xmlns:a16="http://schemas.microsoft.com/office/drawing/2014/main" id="{9750E146-4ADA-452F-B2B5-FFC648249A5D}"/>
              </a:ext>
            </a:extLst>
          </p:cNvPr>
          <p:cNvSpPr>
            <a:spLocks noGrp="1"/>
          </p:cNvSpPr>
          <p:nvPr/>
        </p:nvSpPr>
        <p:spPr>
          <a:xfrm>
            <a:off x="4238244" y="3026664"/>
            <a:ext cx="109728" cy="109728"/>
          </a:xfrm>
          <a:prstGeom prst="ellipse">
            <a:avLst/>
          </a:prstGeom>
          <a:solidFill>
            <a:srgbClr val="9FB2C6"/>
          </a:solidFill>
        </p:spPr>
      </p:sp>
      <p:sp>
        <p:nvSpPr>
          <p:cNvPr id="30" name="Text 27">
            <a:extLst>
              <a:ext uri="{FF2B5EF4-FFF2-40B4-BE49-F238E27FC236}">
                <a16:creationId xmlns:a16="http://schemas.microsoft.com/office/drawing/2014/main" id="{6120D768-16A4-4DB5-9D2A-1606BA804AAF}"/>
              </a:ext>
            </a:extLst>
          </p:cNvPr>
          <p:cNvSpPr>
            <a:spLocks noGrp="1"/>
          </p:cNvSpPr>
          <p:nvPr/>
        </p:nvSpPr>
        <p:spPr>
          <a:xfrm>
            <a:off x="4366260" y="2843784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Cloudflare → IaC</a:t>
            </a:r>
          </a:p>
        </p:txBody>
      </p:sp>
      <p:sp>
        <p:nvSpPr>
          <p:cNvPr id="31" name="Shape 28">
            <a:extLst>
              <a:ext uri="{FF2B5EF4-FFF2-40B4-BE49-F238E27FC236}">
                <a16:creationId xmlns:a16="http://schemas.microsoft.com/office/drawing/2014/main" id="{86B5CADF-7D8C-4EFD-B78B-D4FD1D3FF030}"/>
              </a:ext>
            </a:extLst>
          </p:cNvPr>
          <p:cNvSpPr>
            <a:spLocks noGrp="1"/>
          </p:cNvSpPr>
          <p:nvPr/>
        </p:nvSpPr>
        <p:spPr>
          <a:xfrm>
            <a:off x="5612130" y="2423160"/>
            <a:ext cx="1428750" cy="2971800"/>
          </a:xfrm>
          <a:prstGeom prst="roundRect">
            <a:avLst>
              <a:gd name="adj" fmla="val 3200"/>
            </a:avLst>
          </a:prstGeom>
          <a:solidFill>
            <a:srgbClr val="E9F6EF"/>
          </a:solidFill>
        </p:spPr>
      </p:sp>
      <p:sp>
        <p:nvSpPr>
          <p:cNvPr id="32" name="Text 29">
            <a:extLst>
              <a:ext uri="{FF2B5EF4-FFF2-40B4-BE49-F238E27FC236}">
                <a16:creationId xmlns:a16="http://schemas.microsoft.com/office/drawing/2014/main" id="{EE486D8B-8C37-4D7A-A8D1-41BB2408FA46}"/>
              </a:ext>
            </a:extLst>
          </p:cNvPr>
          <p:cNvSpPr>
            <a:spLocks noGrp="1"/>
          </p:cNvSpPr>
          <p:nvPr/>
        </p:nvSpPr>
        <p:spPr>
          <a:xfrm>
            <a:off x="5721858" y="2514600"/>
            <a:ext cx="120929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Done</a:t>
            </a:r>
            <a:r>
              <a:rPr sz="1000" b="1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3</a:t>
            </a:r>
          </a:p>
        </p:txBody>
      </p:sp>
      <p:sp>
        <p:nvSpPr>
          <p:cNvPr id="33" name="Shape 30">
            <a:extLst>
              <a:ext uri="{FF2B5EF4-FFF2-40B4-BE49-F238E27FC236}">
                <a16:creationId xmlns:a16="http://schemas.microsoft.com/office/drawing/2014/main" id="{FBB81F9C-E454-41BA-92AE-4CD525E60E3E}"/>
              </a:ext>
            </a:extLst>
          </p:cNvPr>
          <p:cNvSpPr>
            <a:spLocks noGrp="1"/>
          </p:cNvSpPr>
          <p:nvPr/>
        </p:nvSpPr>
        <p:spPr>
          <a:xfrm>
            <a:off x="5721858" y="2843784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19050">
            <a:solidFill>
              <a:srgbClr val="2E8FB0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34" name="Shape 31">
            <a:extLst>
              <a:ext uri="{FF2B5EF4-FFF2-40B4-BE49-F238E27FC236}">
                <a16:creationId xmlns:a16="http://schemas.microsoft.com/office/drawing/2014/main" id="{069922CB-0FDB-4ADC-A807-AB0FEE2CECF1}"/>
              </a:ext>
            </a:extLst>
          </p:cNvPr>
          <p:cNvSpPr>
            <a:spLocks noGrp="1"/>
          </p:cNvSpPr>
          <p:nvPr/>
        </p:nvSpPr>
        <p:spPr>
          <a:xfrm>
            <a:off x="5849874" y="3026664"/>
            <a:ext cx="109728" cy="109728"/>
          </a:xfrm>
          <a:prstGeom prst="ellipse">
            <a:avLst/>
          </a:prstGeom>
          <a:solidFill>
            <a:srgbClr val="1B8A5A"/>
          </a:solidFill>
        </p:spPr>
      </p:sp>
      <p:sp>
        <p:nvSpPr>
          <p:cNvPr id="35" name="Text 32">
            <a:extLst>
              <a:ext uri="{FF2B5EF4-FFF2-40B4-BE49-F238E27FC236}">
                <a16:creationId xmlns:a16="http://schemas.microsoft.com/office/drawing/2014/main" id="{D6E203DA-6148-402F-9B06-BECA1D48A1DE}"/>
              </a:ext>
            </a:extLst>
          </p:cNvPr>
          <p:cNvSpPr>
            <a:spLocks noGrp="1"/>
          </p:cNvSpPr>
          <p:nvPr/>
        </p:nvSpPr>
        <p:spPr>
          <a:xfrm>
            <a:off x="5977890" y="2843784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#15 fallback source</a:t>
            </a:r>
          </a:p>
        </p:txBody>
      </p:sp>
      <p:sp>
        <p:nvSpPr>
          <p:cNvPr id="36" name="Shape 33">
            <a:extLst>
              <a:ext uri="{FF2B5EF4-FFF2-40B4-BE49-F238E27FC236}">
                <a16:creationId xmlns:a16="http://schemas.microsoft.com/office/drawing/2014/main" id="{D07226DD-C469-44C6-A8D1-561E04779862}"/>
              </a:ext>
            </a:extLst>
          </p:cNvPr>
          <p:cNvSpPr>
            <a:spLocks noGrp="1"/>
          </p:cNvSpPr>
          <p:nvPr/>
        </p:nvSpPr>
        <p:spPr>
          <a:xfrm>
            <a:off x="5721858" y="3410712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37" name="Shape 34">
            <a:extLst>
              <a:ext uri="{FF2B5EF4-FFF2-40B4-BE49-F238E27FC236}">
                <a16:creationId xmlns:a16="http://schemas.microsoft.com/office/drawing/2014/main" id="{5369000A-1E9E-485C-871A-3A026E81E389}"/>
              </a:ext>
            </a:extLst>
          </p:cNvPr>
          <p:cNvSpPr>
            <a:spLocks noGrp="1"/>
          </p:cNvSpPr>
          <p:nvPr/>
        </p:nvSpPr>
        <p:spPr>
          <a:xfrm>
            <a:off x="5849874" y="3593592"/>
            <a:ext cx="109728" cy="109728"/>
          </a:xfrm>
          <a:prstGeom prst="ellipse">
            <a:avLst/>
          </a:prstGeom>
          <a:solidFill>
            <a:srgbClr val="1B8A5A"/>
          </a:solidFill>
        </p:spPr>
      </p:sp>
      <p:sp>
        <p:nvSpPr>
          <p:cNvPr id="38" name="Text 35">
            <a:extLst>
              <a:ext uri="{FF2B5EF4-FFF2-40B4-BE49-F238E27FC236}">
                <a16:creationId xmlns:a16="http://schemas.microsoft.com/office/drawing/2014/main" id="{B115DE15-B63F-44C9-9C29-0C84B86FB0BC}"/>
              </a:ext>
            </a:extLst>
          </p:cNvPr>
          <p:cNvSpPr>
            <a:spLocks noGrp="1"/>
          </p:cNvSpPr>
          <p:nvPr/>
        </p:nvSpPr>
        <p:spPr>
          <a:xfrm>
            <a:off x="5977890" y="3410712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Cloudflare Tunnel</a:t>
            </a:r>
          </a:p>
        </p:txBody>
      </p:sp>
      <p:sp>
        <p:nvSpPr>
          <p:cNvPr id="39" name="Shape 36">
            <a:extLst>
              <a:ext uri="{FF2B5EF4-FFF2-40B4-BE49-F238E27FC236}">
                <a16:creationId xmlns:a16="http://schemas.microsoft.com/office/drawing/2014/main" id="{8B7B1256-0DC5-4B8F-8A00-BD2756B0A1E7}"/>
              </a:ext>
            </a:extLst>
          </p:cNvPr>
          <p:cNvSpPr>
            <a:spLocks noGrp="1"/>
          </p:cNvSpPr>
          <p:nvPr/>
        </p:nvSpPr>
        <p:spPr>
          <a:xfrm>
            <a:off x="5721858" y="3977640"/>
            <a:ext cx="1209294" cy="475488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9525">
            <a:solidFill>
              <a:srgbClr val="E1E7ED"/>
            </a:solidFill>
            <a:prstDash val="solid"/>
          </a:ln>
          <a:effectLst>
            <a:outerShdw blurRad="38100" dist="127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40" name="Shape 37">
            <a:extLst>
              <a:ext uri="{FF2B5EF4-FFF2-40B4-BE49-F238E27FC236}">
                <a16:creationId xmlns:a16="http://schemas.microsoft.com/office/drawing/2014/main" id="{B7C6578D-A25B-49D5-8AF7-81245B3B0CB1}"/>
              </a:ext>
            </a:extLst>
          </p:cNvPr>
          <p:cNvSpPr>
            <a:spLocks noGrp="1"/>
          </p:cNvSpPr>
          <p:nvPr/>
        </p:nvSpPr>
        <p:spPr>
          <a:xfrm>
            <a:off x="5849874" y="4160520"/>
            <a:ext cx="109728" cy="109728"/>
          </a:xfrm>
          <a:prstGeom prst="ellipse">
            <a:avLst/>
          </a:prstGeom>
          <a:solidFill>
            <a:srgbClr val="1B8A5A"/>
          </a:solidFill>
        </p:spPr>
      </p:sp>
      <p:sp>
        <p:nvSpPr>
          <p:cNvPr id="41" name="Text 38">
            <a:extLst>
              <a:ext uri="{FF2B5EF4-FFF2-40B4-BE49-F238E27FC236}">
                <a16:creationId xmlns:a16="http://schemas.microsoft.com/office/drawing/2014/main" id="{0E918588-095B-4A91-8B9E-A49F702EE693}"/>
              </a:ext>
            </a:extLst>
          </p:cNvPr>
          <p:cNvSpPr>
            <a:spLocks noGrp="1"/>
          </p:cNvSpPr>
          <p:nvPr/>
        </p:nvSpPr>
        <p:spPr>
          <a:xfrm>
            <a:off x="5977890" y="3977640"/>
            <a:ext cx="953262" cy="4754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000"/>
              </a:lnSpc>
              <a:buNone/>
            </a:pPr>
            <a:r>
              <a:rPr sz="88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Q environment</a:t>
            </a:r>
          </a:p>
        </p:txBody>
      </p:sp>
      <p:sp>
        <p:nvSpPr>
          <p:cNvPr id="42" name="Shape 39">
            <a:extLst>
              <a:ext uri="{FF2B5EF4-FFF2-40B4-BE49-F238E27FC236}">
                <a16:creationId xmlns:a16="http://schemas.microsoft.com/office/drawing/2014/main" id="{64B4116D-B422-4334-9F3B-47225BFCBC0F}"/>
              </a:ext>
            </a:extLst>
          </p:cNvPr>
          <p:cNvSpPr>
            <a:spLocks noGrp="1"/>
          </p:cNvSpPr>
          <p:nvPr/>
        </p:nvSpPr>
        <p:spPr>
          <a:xfrm>
            <a:off x="7543800" y="187452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43" name="Text 40">
            <a:extLst>
              <a:ext uri="{FF2B5EF4-FFF2-40B4-BE49-F238E27FC236}">
                <a16:creationId xmlns:a16="http://schemas.microsoft.com/office/drawing/2014/main" id="{93037D4B-C986-4A8A-94DA-3C9CCD55751F}"/>
              </a:ext>
            </a:extLst>
          </p:cNvPr>
          <p:cNvSpPr>
            <a:spLocks noGrp="1"/>
          </p:cNvSpPr>
          <p:nvPr/>
        </p:nvSpPr>
        <p:spPr>
          <a:xfrm>
            <a:off x="7772400" y="202996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5B4FA6"/>
                </a:solidFill>
                <a:latin typeface="Calibri"/>
                <a:ea typeface="Calibri"/>
                <a:cs typeface="Calibri"/>
              </a:rPr>
              <a:t>TRACE</a:t>
            </a:r>
          </a:p>
        </p:txBody>
      </p:sp>
      <p:sp>
        <p:nvSpPr>
          <p:cNvPr id="44" name="Text 41">
            <a:extLst>
              <a:ext uri="{FF2B5EF4-FFF2-40B4-BE49-F238E27FC236}">
                <a16:creationId xmlns:a16="http://schemas.microsoft.com/office/drawing/2014/main" id="{383010CA-F268-4E54-9B37-4201D5DA289B}"/>
              </a:ext>
            </a:extLst>
          </p:cNvPr>
          <p:cNvSpPr>
            <a:spLocks noGrp="1"/>
          </p:cNvSpPr>
          <p:nvPr/>
        </p:nvSpPr>
        <p:spPr>
          <a:xfrm>
            <a:off x="7772400" y="2267712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Board-to-change traceability</a:t>
            </a:r>
          </a:p>
        </p:txBody>
      </p:sp>
      <p:sp>
        <p:nvSpPr>
          <p:cNvPr id="45" name="Shape 42">
            <a:extLst>
              <a:ext uri="{FF2B5EF4-FFF2-40B4-BE49-F238E27FC236}">
                <a16:creationId xmlns:a16="http://schemas.microsoft.com/office/drawing/2014/main" id="{08CE422C-61F8-44D4-BA81-E9F72F298984}"/>
              </a:ext>
            </a:extLst>
          </p:cNvPr>
          <p:cNvSpPr>
            <a:spLocks noGrp="1"/>
          </p:cNvSpPr>
          <p:nvPr/>
        </p:nvSpPr>
        <p:spPr>
          <a:xfrm>
            <a:off x="7772400" y="2761488"/>
            <a:ext cx="1051560" cy="402336"/>
          </a:xfrm>
          <a:prstGeom prst="roundRect">
            <a:avLst>
              <a:gd name="adj" fmla="val 22727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46" name="Text 43">
            <a:extLst>
              <a:ext uri="{FF2B5EF4-FFF2-40B4-BE49-F238E27FC236}">
                <a16:creationId xmlns:a16="http://schemas.microsoft.com/office/drawing/2014/main" id="{939A2612-BAF4-4514-AEBD-55ED96DAEA24}"/>
              </a:ext>
            </a:extLst>
          </p:cNvPr>
          <p:cNvSpPr>
            <a:spLocks noGrp="1"/>
          </p:cNvSpPr>
          <p:nvPr/>
        </p:nvSpPr>
        <p:spPr>
          <a:xfrm>
            <a:off x="7808976" y="2761488"/>
            <a:ext cx="97840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Issue #15</a:t>
            </a:r>
          </a:p>
        </p:txBody>
      </p:sp>
      <p:sp>
        <p:nvSpPr>
          <p:cNvPr id="47" name="Shape 44">
            <a:extLst>
              <a:ext uri="{FF2B5EF4-FFF2-40B4-BE49-F238E27FC236}">
                <a16:creationId xmlns:a16="http://schemas.microsoft.com/office/drawing/2014/main" id="{47219A36-8932-40C0-AB2B-545B52780D99}"/>
              </a:ext>
            </a:extLst>
          </p:cNvPr>
          <p:cNvSpPr>
            <a:spLocks noGrp="1"/>
          </p:cNvSpPr>
          <p:nvPr/>
        </p:nvSpPr>
        <p:spPr>
          <a:xfrm>
            <a:off x="8842248" y="2898648"/>
            <a:ext cx="274320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48" name="Shape 45">
            <a:extLst>
              <a:ext uri="{FF2B5EF4-FFF2-40B4-BE49-F238E27FC236}">
                <a16:creationId xmlns:a16="http://schemas.microsoft.com/office/drawing/2014/main" id="{E094BD21-809C-471B-B6F8-EF5989622D53}"/>
              </a:ext>
            </a:extLst>
          </p:cNvPr>
          <p:cNvSpPr>
            <a:spLocks noGrp="1"/>
          </p:cNvSpPr>
          <p:nvPr/>
        </p:nvSpPr>
        <p:spPr>
          <a:xfrm>
            <a:off x="9144000" y="2761488"/>
            <a:ext cx="1005840" cy="402336"/>
          </a:xfrm>
          <a:prstGeom prst="roundRect">
            <a:avLst>
              <a:gd name="adj" fmla="val 22727"/>
            </a:avLst>
          </a:prstGeom>
          <a:solidFill>
            <a:srgbClr val="F7F9FB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49" name="Text 46">
            <a:extLst>
              <a:ext uri="{FF2B5EF4-FFF2-40B4-BE49-F238E27FC236}">
                <a16:creationId xmlns:a16="http://schemas.microsoft.com/office/drawing/2014/main" id="{2A1C8606-2A54-4BDC-ABD7-6FFE7611641C}"/>
              </a:ext>
            </a:extLst>
          </p:cNvPr>
          <p:cNvSpPr>
            <a:spLocks noGrp="1"/>
          </p:cNvSpPr>
          <p:nvPr/>
        </p:nvSpPr>
        <p:spPr>
          <a:xfrm>
            <a:off x="9180576" y="2761488"/>
            <a:ext cx="93268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 #20</a:t>
            </a:r>
          </a:p>
        </p:txBody>
      </p:sp>
      <p:sp>
        <p:nvSpPr>
          <p:cNvPr id="50" name="Shape 47">
            <a:extLst>
              <a:ext uri="{FF2B5EF4-FFF2-40B4-BE49-F238E27FC236}">
                <a16:creationId xmlns:a16="http://schemas.microsoft.com/office/drawing/2014/main" id="{03BE7D6E-CBFD-4760-85A2-276114F26014}"/>
              </a:ext>
            </a:extLst>
          </p:cNvPr>
          <p:cNvSpPr>
            <a:spLocks noGrp="1"/>
          </p:cNvSpPr>
          <p:nvPr/>
        </p:nvSpPr>
        <p:spPr>
          <a:xfrm>
            <a:off x="10168128" y="2898648"/>
            <a:ext cx="274320" cy="128016"/>
          </a:xfrm>
          <a:prstGeom prst="rightArrow">
            <a:avLst/>
          </a:prstGeom>
          <a:solidFill>
            <a:srgbClr val="5B4FA6"/>
          </a:solidFill>
        </p:spPr>
      </p:sp>
      <p:sp>
        <p:nvSpPr>
          <p:cNvPr id="51" name="Shape 48">
            <a:extLst>
              <a:ext uri="{FF2B5EF4-FFF2-40B4-BE49-F238E27FC236}">
                <a16:creationId xmlns:a16="http://schemas.microsoft.com/office/drawing/2014/main" id="{D4AB450A-D589-4318-85D6-ED53F3AF38AA}"/>
              </a:ext>
            </a:extLst>
          </p:cNvPr>
          <p:cNvSpPr>
            <a:spLocks noGrp="1"/>
          </p:cNvSpPr>
          <p:nvPr/>
        </p:nvSpPr>
        <p:spPr>
          <a:xfrm>
            <a:off x="10469880" y="2761488"/>
            <a:ext cx="960120" cy="402336"/>
          </a:xfrm>
          <a:prstGeom prst="roundRect">
            <a:avLst>
              <a:gd name="adj" fmla="val 22727"/>
            </a:avLst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52" name="Text 49">
            <a:extLst>
              <a:ext uri="{FF2B5EF4-FFF2-40B4-BE49-F238E27FC236}">
                <a16:creationId xmlns:a16="http://schemas.microsoft.com/office/drawing/2014/main" id="{9AC14999-F6CE-414D-A025-7ED5C833151B}"/>
              </a:ext>
            </a:extLst>
          </p:cNvPr>
          <p:cNvSpPr>
            <a:spLocks noGrp="1"/>
          </p:cNvSpPr>
          <p:nvPr/>
        </p:nvSpPr>
        <p:spPr>
          <a:xfrm>
            <a:off x="10506456" y="2761488"/>
            <a:ext cx="88696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Done</a:t>
            </a:r>
          </a:p>
        </p:txBody>
      </p:sp>
      <p:sp>
        <p:nvSpPr>
          <p:cNvPr id="53" name="Text 50">
            <a:extLst>
              <a:ext uri="{FF2B5EF4-FFF2-40B4-BE49-F238E27FC236}">
                <a16:creationId xmlns:a16="http://schemas.microsoft.com/office/drawing/2014/main" id="{1DD243C9-D7C9-4303-9CA6-D48977C6CBBF}"/>
              </a:ext>
            </a:extLst>
          </p:cNvPr>
          <p:cNvSpPr>
            <a:spLocks noGrp="1"/>
          </p:cNvSpPr>
          <p:nvPr/>
        </p:nvSpPr>
        <p:spPr>
          <a:xfrm>
            <a:off x="7772400" y="3236976"/>
            <a:ext cx="3657600" cy="31089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9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assignment · Todo → In Progress → Done · linked, merged to main</a:t>
            </a:r>
          </a:p>
        </p:txBody>
      </p:sp>
      <p:sp>
        <p:nvSpPr>
          <p:cNvPr id="54" name="Shape 51">
            <a:extLst>
              <a:ext uri="{FF2B5EF4-FFF2-40B4-BE49-F238E27FC236}">
                <a16:creationId xmlns:a16="http://schemas.microsoft.com/office/drawing/2014/main" id="{8EBF2F71-E83E-4193-B65F-1ABDB54DF945}"/>
              </a:ext>
            </a:extLst>
          </p:cNvPr>
          <p:cNvSpPr>
            <a:spLocks noGrp="1"/>
          </p:cNvSpPr>
          <p:nvPr/>
        </p:nvSpPr>
        <p:spPr>
          <a:xfrm>
            <a:off x="7543800" y="3840480"/>
            <a:ext cx="4114800" cy="1737360"/>
          </a:xfrm>
          <a:prstGeom prst="roundRect">
            <a:avLst>
              <a:gd name="adj" fmla="val 4211"/>
            </a:avLst>
          </a:prstGeom>
          <a:solidFill>
            <a:srgbClr val="0B1F3A"/>
          </a:solidFill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55" name="Text 52">
            <a:extLst>
              <a:ext uri="{FF2B5EF4-FFF2-40B4-BE49-F238E27FC236}">
                <a16:creationId xmlns:a16="http://schemas.microsoft.com/office/drawing/2014/main" id="{1BCD8A3D-0ECF-4A9F-AAD1-2DE16AFC408B}"/>
              </a:ext>
            </a:extLst>
          </p:cNvPr>
          <p:cNvSpPr>
            <a:spLocks noGrp="1"/>
          </p:cNvSpPr>
          <p:nvPr/>
        </p:nvSpPr>
        <p:spPr>
          <a:xfrm>
            <a:off x="7772400" y="3995928"/>
            <a:ext cx="365760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REVIEW</a:t>
            </a:r>
          </a:p>
        </p:txBody>
      </p:sp>
      <p:sp>
        <p:nvSpPr>
          <p:cNvPr id="56" name="Text 53">
            <a:extLst>
              <a:ext uri="{FF2B5EF4-FFF2-40B4-BE49-F238E27FC236}">
                <a16:creationId xmlns:a16="http://schemas.microsoft.com/office/drawing/2014/main" id="{E5E05FD2-BA1D-4A04-BCC8-8B15D4E23897}"/>
              </a:ext>
            </a:extLst>
          </p:cNvPr>
          <p:cNvSpPr>
            <a:spLocks noGrp="1"/>
          </p:cNvSpPr>
          <p:nvPr/>
        </p:nvSpPr>
        <p:spPr>
          <a:xfrm>
            <a:off x="7772400" y="4233672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Second-person review is team policy (ADR 012)</a:t>
            </a:r>
          </a:p>
        </p:txBody>
      </p:sp>
      <p:sp>
        <p:nvSpPr>
          <p:cNvPr id="57" name="Shape 54">
            <a:extLst>
              <a:ext uri="{FF2B5EF4-FFF2-40B4-BE49-F238E27FC236}">
                <a16:creationId xmlns:a16="http://schemas.microsoft.com/office/drawing/2014/main" id="{00BB1C32-CB5D-4FC6-9DCD-739FE81E8CAB}"/>
              </a:ext>
            </a:extLst>
          </p:cNvPr>
          <p:cNvSpPr>
            <a:spLocks noGrp="1"/>
          </p:cNvSpPr>
          <p:nvPr/>
        </p:nvSpPr>
        <p:spPr>
          <a:xfrm>
            <a:off x="7772400" y="4727448"/>
            <a:ext cx="914400" cy="402336"/>
          </a:xfrm>
          <a:prstGeom prst="roundRect">
            <a:avLst>
              <a:gd name="adj" fmla="val 22727"/>
            </a:avLst>
          </a:prstGeom>
          <a:solidFill>
            <a:srgbClr val="1C3D5A"/>
          </a:solidFill>
          <a:ln w="12700">
            <a:solidFill>
              <a:srgbClr val="1C3D5A"/>
            </a:solidFill>
            <a:prstDash val="solid"/>
          </a:ln>
        </p:spPr>
      </p:sp>
      <p:sp>
        <p:nvSpPr>
          <p:cNvPr id="58" name="Text 55">
            <a:extLst>
              <a:ext uri="{FF2B5EF4-FFF2-40B4-BE49-F238E27FC236}">
                <a16:creationId xmlns:a16="http://schemas.microsoft.com/office/drawing/2014/main" id="{D7118268-ADA0-4C0E-91A5-0C4526650785}"/>
              </a:ext>
            </a:extLst>
          </p:cNvPr>
          <p:cNvSpPr>
            <a:spLocks noGrp="1"/>
          </p:cNvSpPr>
          <p:nvPr/>
        </p:nvSpPr>
        <p:spPr>
          <a:xfrm>
            <a:off x="7808976" y="4727448"/>
            <a:ext cx="84124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 #9</a:t>
            </a:r>
          </a:p>
        </p:txBody>
      </p:sp>
      <p:sp>
        <p:nvSpPr>
          <p:cNvPr id="59" name="Shape 56">
            <a:extLst>
              <a:ext uri="{FF2B5EF4-FFF2-40B4-BE49-F238E27FC236}">
                <a16:creationId xmlns:a16="http://schemas.microsoft.com/office/drawing/2014/main" id="{308878AA-1EB5-450C-9FC8-6733027B7633}"/>
              </a:ext>
            </a:extLst>
          </p:cNvPr>
          <p:cNvSpPr>
            <a:spLocks noGrp="1"/>
          </p:cNvSpPr>
          <p:nvPr/>
        </p:nvSpPr>
        <p:spPr>
          <a:xfrm>
            <a:off x="8705088" y="4864608"/>
            <a:ext cx="201168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60" name="Shape 57">
            <a:extLst>
              <a:ext uri="{FF2B5EF4-FFF2-40B4-BE49-F238E27FC236}">
                <a16:creationId xmlns:a16="http://schemas.microsoft.com/office/drawing/2014/main" id="{E1F7A8C4-2EC1-403A-AF3C-EB91A4EA27FD}"/>
              </a:ext>
            </a:extLst>
          </p:cNvPr>
          <p:cNvSpPr>
            <a:spLocks noGrp="1"/>
          </p:cNvSpPr>
          <p:nvPr/>
        </p:nvSpPr>
        <p:spPr>
          <a:xfrm>
            <a:off x="8924544" y="4727448"/>
            <a:ext cx="1097280" cy="402336"/>
          </a:xfrm>
          <a:prstGeom prst="roundRect">
            <a:avLst>
              <a:gd name="adj" fmla="val 22727"/>
            </a:avLst>
          </a:prstGeom>
          <a:solidFill>
            <a:srgbClr val="3A2E1A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61" name="Text 58">
            <a:extLst>
              <a:ext uri="{FF2B5EF4-FFF2-40B4-BE49-F238E27FC236}">
                <a16:creationId xmlns:a16="http://schemas.microsoft.com/office/drawing/2014/main" id="{1563C354-7890-43C4-8D82-3D80B27A7C69}"/>
              </a:ext>
            </a:extLst>
          </p:cNvPr>
          <p:cNvSpPr>
            <a:spLocks noGrp="1"/>
          </p:cNvSpPr>
          <p:nvPr/>
        </p:nvSpPr>
        <p:spPr>
          <a:xfrm>
            <a:off x="8961120" y="4727448"/>
            <a:ext cx="102412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950"/>
              </a:lnSpc>
              <a:buNone/>
            </a:pPr>
            <a:r>
              <a:rPr sz="850" b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changes</a:t>
            </a:r>
          </a:p>
          <a:p>
            <a:pPr marL="0" indent="0" algn="ctr">
              <a:lnSpc>
                <a:spcPts val="950"/>
              </a:lnSpc>
              <a:buNone/>
            </a:pPr>
            <a:r>
              <a:rPr sz="850" b="1">
                <a:solidFill>
                  <a:srgbClr val="F2A93B"/>
                </a:solidFill>
                <a:latin typeface="Calibri"/>
                <a:ea typeface="Calibri"/>
                <a:cs typeface="Calibri"/>
              </a:rPr>
              <a:t>requested</a:t>
            </a:r>
          </a:p>
        </p:txBody>
      </p:sp>
      <p:sp>
        <p:nvSpPr>
          <p:cNvPr id="62" name="Shape 59">
            <a:extLst>
              <a:ext uri="{FF2B5EF4-FFF2-40B4-BE49-F238E27FC236}">
                <a16:creationId xmlns:a16="http://schemas.microsoft.com/office/drawing/2014/main" id="{9C2D08FD-CC55-4390-B589-89BC9047BA6F}"/>
              </a:ext>
            </a:extLst>
          </p:cNvPr>
          <p:cNvSpPr>
            <a:spLocks noGrp="1"/>
          </p:cNvSpPr>
          <p:nvPr/>
        </p:nvSpPr>
        <p:spPr>
          <a:xfrm>
            <a:off x="10040112" y="4864608"/>
            <a:ext cx="201168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63" name="Shape 60">
            <a:extLst>
              <a:ext uri="{FF2B5EF4-FFF2-40B4-BE49-F238E27FC236}">
                <a16:creationId xmlns:a16="http://schemas.microsoft.com/office/drawing/2014/main" id="{013E075F-9EF9-4D87-992F-E8EEB53F854A}"/>
              </a:ext>
            </a:extLst>
          </p:cNvPr>
          <p:cNvSpPr>
            <a:spLocks noGrp="1"/>
          </p:cNvSpPr>
          <p:nvPr/>
        </p:nvSpPr>
        <p:spPr>
          <a:xfrm>
            <a:off x="10259568" y="4727448"/>
            <a:ext cx="868680" cy="402336"/>
          </a:xfrm>
          <a:prstGeom prst="roundRect">
            <a:avLst>
              <a:gd name="adj" fmla="val 22727"/>
            </a:avLst>
          </a:prstGeom>
          <a:solidFill>
            <a:srgbClr val="16332A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64" name="Text 61">
            <a:extLst>
              <a:ext uri="{FF2B5EF4-FFF2-40B4-BE49-F238E27FC236}">
                <a16:creationId xmlns:a16="http://schemas.microsoft.com/office/drawing/2014/main" id="{4FBD9D72-AC40-418B-8573-EA21D1A5A46D}"/>
              </a:ext>
            </a:extLst>
          </p:cNvPr>
          <p:cNvSpPr>
            <a:spLocks noGrp="1"/>
          </p:cNvSpPr>
          <p:nvPr/>
        </p:nvSpPr>
        <p:spPr>
          <a:xfrm>
            <a:off x="10296144" y="4727448"/>
            <a:ext cx="795528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00" b="1">
                <a:solidFill>
                  <a:srgbClr val="6FD0A0"/>
                </a:solidFill>
                <a:latin typeface="Calibri"/>
                <a:ea typeface="Calibri"/>
                <a:cs typeface="Calibri"/>
              </a:rPr>
              <a:t>approved</a:t>
            </a:r>
          </a:p>
        </p:txBody>
      </p:sp>
      <p:sp>
        <p:nvSpPr>
          <p:cNvPr id="65" name="Shape 62">
            <a:extLst>
              <a:ext uri="{FF2B5EF4-FFF2-40B4-BE49-F238E27FC236}">
                <a16:creationId xmlns:a16="http://schemas.microsoft.com/office/drawing/2014/main" id="{A04576B3-495E-4C7B-9451-92B454955BCC}"/>
              </a:ext>
            </a:extLst>
          </p:cNvPr>
          <p:cNvSpPr>
            <a:spLocks noGrp="1"/>
          </p:cNvSpPr>
          <p:nvPr/>
        </p:nvSpPr>
        <p:spPr>
          <a:xfrm>
            <a:off x="11146536" y="4864608"/>
            <a:ext cx="164592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66" name="Shape 63">
            <a:extLst>
              <a:ext uri="{FF2B5EF4-FFF2-40B4-BE49-F238E27FC236}">
                <a16:creationId xmlns:a16="http://schemas.microsoft.com/office/drawing/2014/main" id="{735D9605-DB1F-40D2-AFC6-F63A7DBCD18D}"/>
              </a:ext>
            </a:extLst>
          </p:cNvPr>
          <p:cNvSpPr>
            <a:spLocks noGrp="1"/>
          </p:cNvSpPr>
          <p:nvPr/>
        </p:nvSpPr>
        <p:spPr>
          <a:xfrm>
            <a:off x="11329416" y="4727448"/>
            <a:ext cx="100584" cy="402336"/>
          </a:xfrm>
          <a:prstGeom prst="roundRect">
            <a:avLst>
              <a:gd name="adj" fmla="val 90909"/>
            </a:avLst>
          </a:prstGeom>
          <a:solidFill>
            <a:srgbClr val="4CC9F0"/>
          </a:solidFill>
          <a:ln w="12700">
            <a:solidFill>
              <a:srgbClr val="4CC9F0"/>
            </a:solidFill>
            <a:prstDash val="solid"/>
          </a:ln>
        </p:spPr>
      </p:sp>
      <p:sp>
        <p:nvSpPr>
          <p:cNvPr id="67" name="Text 64">
            <a:extLst>
              <a:ext uri="{FF2B5EF4-FFF2-40B4-BE49-F238E27FC236}">
                <a16:creationId xmlns:a16="http://schemas.microsoft.com/office/drawing/2014/main" id="{728DE7F8-68BB-4BA5-A362-D988394C1669}"/>
              </a:ext>
            </a:extLst>
          </p:cNvPr>
          <p:cNvSpPr>
            <a:spLocks noGrp="1"/>
          </p:cNvSpPr>
          <p:nvPr/>
        </p:nvSpPr>
        <p:spPr>
          <a:xfrm>
            <a:off x="11365992" y="4727448"/>
            <a:ext cx="27432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endParaRPr/>
          </a:p>
        </p:txBody>
      </p:sp>
      <p:sp>
        <p:nvSpPr>
          <p:cNvPr id="68" name="Text 65">
            <a:extLst>
              <a:ext uri="{FF2B5EF4-FFF2-40B4-BE49-F238E27FC236}">
                <a16:creationId xmlns:a16="http://schemas.microsoft.com/office/drawing/2014/main" id="{E9AA4D05-81A5-4099-866D-FC8246165436}"/>
              </a:ext>
            </a:extLst>
          </p:cNvPr>
          <p:cNvSpPr>
            <a:spLocks noGrp="1"/>
          </p:cNvSpPr>
          <p:nvPr/>
        </p:nvSpPr>
        <p:spPr>
          <a:xfrm>
            <a:off x="7772400" y="5202936"/>
            <a:ext cx="365760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950" i="1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changes requested → corrected → approved → merged</a:t>
            </a:r>
          </a:p>
        </p:txBody>
      </p:sp>
      <p:sp>
        <p:nvSpPr>
          <p:cNvPr id="69" name="Text 66">
            <a:extLst>
              <a:ext uri="{FF2B5EF4-FFF2-40B4-BE49-F238E27FC236}">
                <a16:creationId xmlns:a16="http://schemas.microsoft.com/office/drawing/2014/main" id="{9D7B4580-9CA6-452A-A7E3-56737CD3518D}"/>
              </a:ext>
            </a:extLst>
          </p:cNvPr>
          <p:cNvSpPr>
            <a:spLocks noGrp="1"/>
          </p:cNvSpPr>
          <p:nvPr/>
        </p:nvSpPr>
        <p:spPr>
          <a:xfrm>
            <a:off x="548640" y="5989320"/>
            <a:ext cx="672084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Visible work  →  linked change  →  reviewed merge</a:t>
            </a:r>
          </a:p>
        </p:txBody>
      </p:sp>
    </p:spTree>
    <p:extLst>
      <p:ext uri="{BB962C8B-B14F-4D97-AF65-F5344CB8AC3E}">
        <p14:creationId xmlns:p14="http://schemas.microsoft.com/office/powerpoint/2010/main" val="2668414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953C694-46C3-4D5A-A15C-7171468475E5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THE DELIVERY FLOW · CI · CD · GIT-DRIVEN OPS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79ECA9-D3D6-4531-B21B-9D5A1013F41D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Application-code PRs become running Q previews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BCC59E00-595F-4826-8D7F-601B61E7B953}"/>
              </a:ext>
            </a:extLst>
          </p:cNvPr>
          <p:cNvSpPr>
            <a:spLocks noGrp="1"/>
          </p:cNvSpPr>
          <p:nvPr/>
        </p:nvSpPr>
        <p:spPr>
          <a:xfrm>
            <a:off x="548640" y="1371600"/>
            <a:ext cx="11091672" cy="1051560"/>
          </a:xfrm>
          <a:prstGeom prst="roundRect">
            <a:avLst>
              <a:gd name="adj" fmla="val 6957"/>
            </a:avLst>
          </a:prstGeom>
          <a:solidFill>
            <a:srgbClr val="0B1F3A"/>
          </a:solidFill>
        </p:spPr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128E42DD-0D5D-4049-8E28-B132A5C391F1}"/>
              </a:ext>
            </a:extLst>
          </p:cNvPr>
          <p:cNvSpPr>
            <a:spLocks noGrp="1"/>
          </p:cNvSpPr>
          <p:nvPr/>
        </p:nvSpPr>
        <p:spPr>
          <a:xfrm>
            <a:off x="731520" y="146304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CI</a:t>
            </a:r>
            <a:r>
              <a:rPr sz="1050">
                <a:solidFill>
                  <a:srgbClr val="9FB2C6"/>
                </a:solidFill>
                <a:latin typeface="Calibri"/>
                <a:ea typeface="Calibri"/>
                <a:cs typeface="Calibri"/>
              </a:rPr>
              <a:t>   build &amp; publish container images</a:t>
            </a:r>
          </a:p>
        </p:txBody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98FEB7A9-5DFF-49A3-B61C-AA3E41837D75}"/>
              </a:ext>
            </a:extLst>
          </p:cNvPr>
          <p:cNvSpPr>
            <a:spLocks noGrp="1"/>
          </p:cNvSpPr>
          <p:nvPr/>
        </p:nvSpPr>
        <p:spPr>
          <a:xfrm>
            <a:off x="777240" y="1828800"/>
            <a:ext cx="2452878" cy="457200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 w="12700">
            <a:solidFill>
              <a:srgbClr val="2E5A7A"/>
            </a:solidFill>
            <a:prstDash val="solid"/>
          </a:ln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32F9A630-4A99-428C-90F7-1E367CAEA128}"/>
              </a:ext>
            </a:extLst>
          </p:cNvPr>
          <p:cNvSpPr>
            <a:spLocks noGrp="1"/>
          </p:cNvSpPr>
          <p:nvPr/>
        </p:nvSpPr>
        <p:spPr>
          <a:xfrm>
            <a:off x="813816" y="182880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feature branch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2BF3DE7D-0A0F-4BD4-9D42-6E447CE00926}"/>
              </a:ext>
            </a:extLst>
          </p:cNvPr>
          <p:cNvSpPr>
            <a:spLocks noGrp="1"/>
          </p:cNvSpPr>
          <p:nvPr/>
        </p:nvSpPr>
        <p:spPr>
          <a:xfrm>
            <a:off x="3248406" y="1993392"/>
            <a:ext cx="237744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34561EEA-4936-4360-94B1-3CF12217F2B8}"/>
              </a:ext>
            </a:extLst>
          </p:cNvPr>
          <p:cNvSpPr>
            <a:spLocks noGrp="1"/>
          </p:cNvSpPr>
          <p:nvPr/>
        </p:nvSpPr>
        <p:spPr>
          <a:xfrm>
            <a:off x="3504438" y="1828800"/>
            <a:ext cx="2452878" cy="457200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 w="12700">
            <a:solidFill>
              <a:srgbClr val="2E5A7A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C6B67A45-FA79-4B94-BBE4-C68DC8051599}"/>
              </a:ext>
            </a:extLst>
          </p:cNvPr>
          <p:cNvSpPr>
            <a:spLocks noGrp="1"/>
          </p:cNvSpPr>
          <p:nvPr/>
        </p:nvSpPr>
        <p:spPr>
          <a:xfrm>
            <a:off x="3541014" y="182880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 · app paths</a:t>
            </a:r>
          </a:p>
        </p:txBody>
      </p:sp>
      <p:sp>
        <p:nvSpPr>
          <p:cNvPr id="11" name="Shape 9">
            <a:extLst>
              <a:ext uri="{FF2B5EF4-FFF2-40B4-BE49-F238E27FC236}">
                <a16:creationId xmlns:a16="http://schemas.microsoft.com/office/drawing/2014/main" id="{1528CD5A-CD81-40C3-83EA-C0C6FCFFF963}"/>
              </a:ext>
            </a:extLst>
          </p:cNvPr>
          <p:cNvSpPr>
            <a:spLocks noGrp="1"/>
          </p:cNvSpPr>
          <p:nvPr/>
        </p:nvSpPr>
        <p:spPr>
          <a:xfrm>
            <a:off x="5975604" y="1993392"/>
            <a:ext cx="237744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3A6B85F7-A19A-408C-9B46-23D2AF64555E}"/>
              </a:ext>
            </a:extLst>
          </p:cNvPr>
          <p:cNvSpPr>
            <a:spLocks noGrp="1"/>
          </p:cNvSpPr>
          <p:nvPr/>
        </p:nvSpPr>
        <p:spPr>
          <a:xfrm>
            <a:off x="6231636" y="1828800"/>
            <a:ext cx="2452878" cy="457200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 w="12700">
            <a:solidFill>
              <a:srgbClr val="2E5A7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3B4C8B7-62CE-4B39-8465-AF28557BF2D5}"/>
              </a:ext>
            </a:extLst>
          </p:cNvPr>
          <p:cNvSpPr>
            <a:spLocks noGrp="1"/>
          </p:cNvSpPr>
          <p:nvPr/>
        </p:nvSpPr>
        <p:spPr>
          <a:xfrm>
            <a:off x="6268212" y="182880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Actions build</a:t>
            </a:r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33520DB2-E31A-473B-9CF1-5DB34BD3C3AD}"/>
              </a:ext>
            </a:extLst>
          </p:cNvPr>
          <p:cNvSpPr>
            <a:spLocks noGrp="1"/>
          </p:cNvSpPr>
          <p:nvPr/>
        </p:nvSpPr>
        <p:spPr>
          <a:xfrm>
            <a:off x="8702802" y="1993392"/>
            <a:ext cx="237744" cy="128016"/>
          </a:xfrm>
          <a:prstGeom prst="rightArrow">
            <a:avLst/>
          </a:prstGeom>
          <a:solidFill>
            <a:srgbClr val="4CC9F0"/>
          </a:solidFill>
        </p:spPr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A19FC1DB-22F9-4053-A20F-34EB3D3CBE2E}"/>
              </a:ext>
            </a:extLst>
          </p:cNvPr>
          <p:cNvSpPr>
            <a:spLocks noGrp="1"/>
          </p:cNvSpPr>
          <p:nvPr/>
        </p:nvSpPr>
        <p:spPr>
          <a:xfrm>
            <a:off x="8958834" y="1828800"/>
            <a:ext cx="2452878" cy="457200"/>
          </a:xfrm>
          <a:prstGeom prst="roundRect">
            <a:avLst>
              <a:gd name="adj" fmla="val 20000"/>
            </a:avLst>
          </a:prstGeom>
          <a:solidFill>
            <a:srgbClr val="1C3D5A"/>
          </a:solidFill>
          <a:ln w="12700">
            <a:solidFill>
              <a:srgbClr val="2E5A7A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92AE953E-9322-461A-A787-AD3776BFFE8B}"/>
              </a:ext>
            </a:extLst>
          </p:cNvPr>
          <p:cNvSpPr>
            <a:spLocks noGrp="1"/>
          </p:cNvSpPr>
          <p:nvPr/>
        </p:nvSpPr>
        <p:spPr>
          <a:xfrm>
            <a:off x="8995410" y="1828800"/>
            <a:ext cx="2379726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10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GHCR : pr-N + sha-*</a:t>
            </a:r>
          </a:p>
        </p:txBody>
      </p:sp>
      <p:pic>
        <p:nvPicPr>
          <p:cNvPr id="72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63533" y="1481328"/>
            <a:ext cx="1040587" cy="237744"/>
          </a:xfrm>
          <a:prstGeom prst="rect">
            <a:avLst/>
          </a:prstGeom>
        </p:spPr>
      </p:pic>
      <p:pic>
        <p:nvPicPr>
          <p:cNvPr id="73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12273" y="1481328"/>
            <a:ext cx="1109167" cy="237744"/>
          </a:xfrm>
          <a:prstGeom prst="rect">
            <a:avLst/>
          </a:prstGeom>
        </p:spPr>
      </p:pic>
      <p:sp>
        <p:nvSpPr>
          <p:cNvPr id="19" name="Shape 15">
            <a:extLst>
              <a:ext uri="{FF2B5EF4-FFF2-40B4-BE49-F238E27FC236}">
                <a16:creationId xmlns:a16="http://schemas.microsoft.com/office/drawing/2014/main" id="{4B3A5416-DE16-4A6F-BB1F-DC931B5D9448}"/>
              </a:ext>
            </a:extLst>
          </p:cNvPr>
          <p:cNvSpPr>
            <a:spLocks noGrp="1"/>
          </p:cNvSpPr>
          <p:nvPr/>
        </p:nvSpPr>
        <p:spPr>
          <a:xfrm>
            <a:off x="548640" y="2880360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FBF1DE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0" name="Text 16">
            <a:extLst>
              <a:ext uri="{FF2B5EF4-FFF2-40B4-BE49-F238E27FC236}">
                <a16:creationId xmlns:a16="http://schemas.microsoft.com/office/drawing/2014/main" id="{16BEFFB6-9570-4F8C-B0A9-F8D8DACB03AA}"/>
              </a:ext>
            </a:extLst>
          </p:cNvPr>
          <p:cNvSpPr>
            <a:spLocks noGrp="1"/>
          </p:cNvSpPr>
          <p:nvPr/>
        </p:nvSpPr>
        <p:spPr>
          <a:xfrm>
            <a:off x="731520" y="2971800"/>
            <a:ext cx="54864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CD</a:t>
            </a:r>
            <a:r>
              <a:rPr sz="10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   API-triggered Q deployment</a:t>
            </a:r>
          </a:p>
        </p:txBody>
      </p:sp>
      <p:sp>
        <p:nvSpPr>
          <p:cNvPr id="21" name="Shape 17">
            <a:extLst>
              <a:ext uri="{FF2B5EF4-FFF2-40B4-BE49-F238E27FC236}">
                <a16:creationId xmlns:a16="http://schemas.microsoft.com/office/drawing/2014/main" id="{8853999C-6595-49C1-9274-3CBEFEA5F80B}"/>
              </a:ext>
            </a:extLst>
          </p:cNvPr>
          <p:cNvSpPr>
            <a:spLocks noGrp="1"/>
          </p:cNvSpPr>
          <p:nvPr/>
        </p:nvSpPr>
        <p:spPr>
          <a:xfrm>
            <a:off x="822960" y="3319272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2" name="Text 18">
            <a:extLst>
              <a:ext uri="{FF2B5EF4-FFF2-40B4-BE49-F238E27FC236}">
                <a16:creationId xmlns:a16="http://schemas.microsoft.com/office/drawing/2014/main" id="{DBFDFCF2-47EA-4EC6-9FB5-E0972B63CDCA}"/>
              </a:ext>
            </a:extLst>
          </p:cNvPr>
          <p:cNvSpPr>
            <a:spLocks noGrp="1"/>
          </p:cNvSpPr>
          <p:nvPr/>
        </p:nvSpPr>
        <p:spPr>
          <a:xfrm>
            <a:off x="859536" y="3319272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pr-N image tag</a:t>
            </a:r>
          </a:p>
        </p:txBody>
      </p:sp>
      <p:sp>
        <p:nvSpPr>
          <p:cNvPr id="23" name="Shape 19">
            <a:extLst>
              <a:ext uri="{FF2B5EF4-FFF2-40B4-BE49-F238E27FC236}">
                <a16:creationId xmlns:a16="http://schemas.microsoft.com/office/drawing/2014/main" id="{4364AFCA-28F4-4E4B-B640-3B02F3EAD317}"/>
              </a:ext>
            </a:extLst>
          </p:cNvPr>
          <p:cNvSpPr>
            <a:spLocks noGrp="1"/>
          </p:cNvSpPr>
          <p:nvPr/>
        </p:nvSpPr>
        <p:spPr>
          <a:xfrm>
            <a:off x="2464308" y="3465576"/>
            <a:ext cx="237744" cy="128016"/>
          </a:xfrm>
          <a:prstGeom prst="rightArrow">
            <a:avLst/>
          </a:prstGeom>
          <a:solidFill>
            <a:srgbClr val="C98A2B"/>
          </a:solidFill>
        </p:spPr>
      </p:sp>
      <p:sp>
        <p:nvSpPr>
          <p:cNvPr id="24" name="Shape 20">
            <a:extLst>
              <a:ext uri="{FF2B5EF4-FFF2-40B4-BE49-F238E27FC236}">
                <a16:creationId xmlns:a16="http://schemas.microsoft.com/office/drawing/2014/main" id="{BB351642-56F1-4285-AB49-D2CE4C735540}"/>
              </a:ext>
            </a:extLst>
          </p:cNvPr>
          <p:cNvSpPr>
            <a:spLocks noGrp="1"/>
          </p:cNvSpPr>
          <p:nvPr/>
        </p:nvSpPr>
        <p:spPr>
          <a:xfrm>
            <a:off x="2720340" y="3319272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5" name="Text 21">
            <a:extLst>
              <a:ext uri="{FF2B5EF4-FFF2-40B4-BE49-F238E27FC236}">
                <a16:creationId xmlns:a16="http://schemas.microsoft.com/office/drawing/2014/main" id="{3ED6130E-2520-4C0F-8B95-3138BAC63AB2}"/>
              </a:ext>
            </a:extLst>
          </p:cNvPr>
          <p:cNvSpPr>
            <a:spLocks noGrp="1"/>
          </p:cNvSpPr>
          <p:nvPr/>
        </p:nvSpPr>
        <p:spPr>
          <a:xfrm>
            <a:off x="2756916" y="3319272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Portainer API</a:t>
            </a:r>
          </a:p>
        </p:txBody>
      </p:sp>
      <p:sp>
        <p:nvSpPr>
          <p:cNvPr id="26" name="Shape 22">
            <a:extLst>
              <a:ext uri="{FF2B5EF4-FFF2-40B4-BE49-F238E27FC236}">
                <a16:creationId xmlns:a16="http://schemas.microsoft.com/office/drawing/2014/main" id="{072CDF7C-A1E8-49E6-B791-869DE0BDF7A5}"/>
              </a:ext>
            </a:extLst>
          </p:cNvPr>
          <p:cNvSpPr>
            <a:spLocks noGrp="1"/>
          </p:cNvSpPr>
          <p:nvPr/>
        </p:nvSpPr>
        <p:spPr>
          <a:xfrm>
            <a:off x="4361688" y="3465576"/>
            <a:ext cx="237744" cy="128016"/>
          </a:xfrm>
          <a:prstGeom prst="rightArrow">
            <a:avLst/>
          </a:prstGeom>
          <a:solidFill>
            <a:srgbClr val="C98A2B"/>
          </a:solidFill>
        </p:spPr>
      </p:sp>
      <p:sp>
        <p:nvSpPr>
          <p:cNvPr id="27" name="Shape 23">
            <a:extLst>
              <a:ext uri="{FF2B5EF4-FFF2-40B4-BE49-F238E27FC236}">
                <a16:creationId xmlns:a16="http://schemas.microsoft.com/office/drawing/2014/main" id="{3F4A50D9-76C9-4D30-9163-02B7D2E9E20D}"/>
              </a:ext>
            </a:extLst>
          </p:cNvPr>
          <p:cNvSpPr>
            <a:spLocks noGrp="1"/>
          </p:cNvSpPr>
          <p:nvPr/>
        </p:nvSpPr>
        <p:spPr>
          <a:xfrm>
            <a:off x="4617720" y="3319272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28" name="Text 24">
            <a:extLst>
              <a:ext uri="{FF2B5EF4-FFF2-40B4-BE49-F238E27FC236}">
                <a16:creationId xmlns:a16="http://schemas.microsoft.com/office/drawing/2014/main" id="{3077630A-71BD-4F11-AB1F-134A302A387E}"/>
              </a:ext>
            </a:extLst>
          </p:cNvPr>
          <p:cNvSpPr>
            <a:spLocks noGrp="1"/>
          </p:cNvSpPr>
          <p:nvPr/>
        </p:nvSpPr>
        <p:spPr>
          <a:xfrm>
            <a:off x="4654296" y="3319272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Q Compose stacks</a:t>
            </a:r>
          </a:p>
        </p:txBody>
      </p:sp>
      <p:sp>
        <p:nvSpPr>
          <p:cNvPr id="29" name="Shape 25">
            <a:extLst>
              <a:ext uri="{FF2B5EF4-FFF2-40B4-BE49-F238E27FC236}">
                <a16:creationId xmlns:a16="http://schemas.microsoft.com/office/drawing/2014/main" id="{0F971B08-F11D-4D49-ACF2-04553816966E}"/>
              </a:ext>
            </a:extLst>
          </p:cNvPr>
          <p:cNvSpPr>
            <a:spLocks noGrp="1"/>
          </p:cNvSpPr>
          <p:nvPr/>
        </p:nvSpPr>
        <p:spPr>
          <a:xfrm>
            <a:off x="6259068" y="3465576"/>
            <a:ext cx="237744" cy="128016"/>
          </a:xfrm>
          <a:prstGeom prst="rightArrow">
            <a:avLst/>
          </a:prstGeom>
          <a:solidFill>
            <a:srgbClr val="C98A2B"/>
          </a:solidFill>
        </p:spPr>
      </p:sp>
      <p:sp>
        <p:nvSpPr>
          <p:cNvPr id="30" name="Shape 26">
            <a:extLst>
              <a:ext uri="{FF2B5EF4-FFF2-40B4-BE49-F238E27FC236}">
                <a16:creationId xmlns:a16="http://schemas.microsoft.com/office/drawing/2014/main" id="{D414C04F-CE88-4D17-AEFF-4D5F7339F4A5}"/>
              </a:ext>
            </a:extLst>
          </p:cNvPr>
          <p:cNvSpPr>
            <a:spLocks noGrp="1"/>
          </p:cNvSpPr>
          <p:nvPr/>
        </p:nvSpPr>
        <p:spPr>
          <a:xfrm>
            <a:off x="6515100" y="3319272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31" name="Text 27">
            <a:extLst>
              <a:ext uri="{FF2B5EF4-FFF2-40B4-BE49-F238E27FC236}">
                <a16:creationId xmlns:a16="http://schemas.microsoft.com/office/drawing/2014/main" id="{13788C73-C72E-4023-B46A-FF9C0486A6D0}"/>
              </a:ext>
            </a:extLst>
          </p:cNvPr>
          <p:cNvSpPr>
            <a:spLocks noGrp="1"/>
          </p:cNvSpPr>
          <p:nvPr/>
        </p:nvSpPr>
        <p:spPr>
          <a:xfrm>
            <a:off x="6551676" y="3319272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 i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q_map1</a:t>
            </a:r>
          </a:p>
        </p:txBody>
      </p:sp>
      <p:pic>
        <p:nvPicPr>
          <p:cNvPr id="87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63240" y="2926080"/>
            <a:ext cx="274320" cy="274320"/>
          </a:xfrm>
          <a:prstGeom prst="rect">
            <a:avLst/>
          </a:prstGeom>
        </p:spPr>
      </p:pic>
      <p:sp>
        <p:nvSpPr>
          <p:cNvPr id="33" name="Text 28">
            <a:extLst>
              <a:ext uri="{FF2B5EF4-FFF2-40B4-BE49-F238E27FC236}">
                <a16:creationId xmlns:a16="http://schemas.microsoft.com/office/drawing/2014/main" id="{8C2584E5-737E-47E4-A1D6-B23E25B09E0E}"/>
              </a:ext>
            </a:extLst>
          </p:cNvPr>
          <p:cNvSpPr>
            <a:spLocks noGrp="1"/>
          </p:cNvSpPr>
          <p:nvPr/>
        </p:nvSpPr>
        <p:spPr>
          <a:xfrm>
            <a:off x="8366760" y="3191256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1000" i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⚠ Q MongoDB is shared with production</a:t>
            </a:r>
          </a:p>
        </p:txBody>
      </p:sp>
      <p:sp>
        <p:nvSpPr>
          <p:cNvPr id="34" name="Text 29">
            <a:extLst>
              <a:ext uri="{FF2B5EF4-FFF2-40B4-BE49-F238E27FC236}">
                <a16:creationId xmlns:a16="http://schemas.microsoft.com/office/drawing/2014/main" id="{696197E2-6EE8-4DB6-856E-2211FC778D9F}"/>
              </a:ext>
            </a:extLst>
          </p:cNvPr>
          <p:cNvSpPr>
            <a:spLocks noGrp="1"/>
          </p:cNvSpPr>
          <p:nvPr/>
        </p:nvSpPr>
        <p:spPr>
          <a:xfrm>
            <a:off x="548640" y="3913632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 i="1">
                <a:solidFill>
                  <a:srgbClr val="5B4FA6"/>
                </a:solidFill>
                <a:latin typeface="Calibri"/>
                <a:ea typeface="Calibri"/>
                <a:cs typeface="Calibri"/>
              </a:rPr>
              <a:t>review the running Q system + approve   →   squash-merge   →   main build : latest + sha-*</a:t>
            </a:r>
          </a:p>
        </p:txBody>
      </p:sp>
      <p:sp>
        <p:nvSpPr>
          <p:cNvPr id="35" name="Shape 30">
            <a:extLst>
              <a:ext uri="{FF2B5EF4-FFF2-40B4-BE49-F238E27FC236}">
                <a16:creationId xmlns:a16="http://schemas.microsoft.com/office/drawing/2014/main" id="{1A7DDD9B-9085-46E6-BC37-EC394C4B9F60}"/>
              </a:ext>
            </a:extLst>
          </p:cNvPr>
          <p:cNvSpPr>
            <a:spLocks noGrp="1"/>
          </p:cNvSpPr>
          <p:nvPr/>
        </p:nvSpPr>
        <p:spPr>
          <a:xfrm>
            <a:off x="548640" y="4553712"/>
            <a:ext cx="11091672" cy="960120"/>
          </a:xfrm>
          <a:prstGeom prst="roundRect">
            <a:avLst>
              <a:gd name="adj" fmla="val 7619"/>
            </a:avLst>
          </a:prstGeom>
          <a:solidFill>
            <a:srgbClr val="EAF1F8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36" name="Text 31">
            <a:extLst>
              <a:ext uri="{FF2B5EF4-FFF2-40B4-BE49-F238E27FC236}">
                <a16:creationId xmlns:a16="http://schemas.microsoft.com/office/drawing/2014/main" id="{FC965063-2A0B-4024-945A-E6B2951D521C}"/>
              </a:ext>
            </a:extLst>
          </p:cNvPr>
          <p:cNvSpPr>
            <a:spLocks noGrp="1"/>
          </p:cNvSpPr>
          <p:nvPr/>
        </p:nvSpPr>
        <p:spPr>
          <a:xfrm>
            <a:off x="731520" y="4645152"/>
            <a:ext cx="59436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050" b="1">
                <a:solidFill>
                  <a:srgbClr val="2E6DA4"/>
                </a:solidFill>
                <a:latin typeface="Calibri"/>
                <a:ea typeface="Calibri"/>
                <a:cs typeface="Calibri"/>
              </a:rPr>
              <a:t>GIT-DRIVEN OPS</a:t>
            </a:r>
            <a:r>
              <a:rPr sz="10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   Portainer polls main configuration</a:t>
            </a:r>
          </a:p>
        </p:txBody>
      </p:sp>
      <p:sp>
        <p:nvSpPr>
          <p:cNvPr id="37" name="Shape 32">
            <a:extLst>
              <a:ext uri="{FF2B5EF4-FFF2-40B4-BE49-F238E27FC236}">
                <a16:creationId xmlns:a16="http://schemas.microsoft.com/office/drawing/2014/main" id="{20A8936A-F5D9-4F64-8B74-B1B2AAC8DB74}"/>
              </a:ext>
            </a:extLst>
          </p:cNvPr>
          <p:cNvSpPr>
            <a:spLocks noGrp="1"/>
          </p:cNvSpPr>
          <p:nvPr/>
        </p:nvSpPr>
        <p:spPr>
          <a:xfrm>
            <a:off x="822960" y="4992624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38" name="Text 33">
            <a:extLst>
              <a:ext uri="{FF2B5EF4-FFF2-40B4-BE49-F238E27FC236}">
                <a16:creationId xmlns:a16="http://schemas.microsoft.com/office/drawing/2014/main" id="{78E7A46A-D1C4-4141-80F4-6B051421D491}"/>
              </a:ext>
            </a:extLst>
          </p:cNvPr>
          <p:cNvSpPr>
            <a:spLocks noGrp="1"/>
          </p:cNvSpPr>
          <p:nvPr/>
        </p:nvSpPr>
        <p:spPr>
          <a:xfrm>
            <a:off x="859536" y="4992624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GHCR : latest</a:t>
            </a:r>
          </a:p>
        </p:txBody>
      </p:sp>
      <p:sp>
        <p:nvSpPr>
          <p:cNvPr id="39" name="Shape 34">
            <a:extLst>
              <a:ext uri="{FF2B5EF4-FFF2-40B4-BE49-F238E27FC236}">
                <a16:creationId xmlns:a16="http://schemas.microsoft.com/office/drawing/2014/main" id="{E660D414-9357-4C01-8157-242978077371}"/>
              </a:ext>
            </a:extLst>
          </p:cNvPr>
          <p:cNvSpPr>
            <a:spLocks noGrp="1"/>
          </p:cNvSpPr>
          <p:nvPr/>
        </p:nvSpPr>
        <p:spPr>
          <a:xfrm>
            <a:off x="2464308" y="5138928"/>
            <a:ext cx="237744" cy="128016"/>
          </a:xfrm>
          <a:prstGeom prst="rightArrow">
            <a:avLst/>
          </a:prstGeom>
          <a:solidFill>
            <a:srgbClr val="2E6DA4"/>
          </a:solidFill>
        </p:spPr>
      </p:sp>
      <p:sp>
        <p:nvSpPr>
          <p:cNvPr id="40" name="Shape 35">
            <a:extLst>
              <a:ext uri="{FF2B5EF4-FFF2-40B4-BE49-F238E27FC236}">
                <a16:creationId xmlns:a16="http://schemas.microsoft.com/office/drawing/2014/main" id="{ADEF8656-2206-409E-AF46-78AAA24F4D32}"/>
              </a:ext>
            </a:extLst>
          </p:cNvPr>
          <p:cNvSpPr>
            <a:spLocks noGrp="1"/>
          </p:cNvSpPr>
          <p:nvPr/>
        </p:nvSpPr>
        <p:spPr>
          <a:xfrm>
            <a:off x="2720340" y="4992624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1" name="Text 36">
            <a:extLst>
              <a:ext uri="{FF2B5EF4-FFF2-40B4-BE49-F238E27FC236}">
                <a16:creationId xmlns:a16="http://schemas.microsoft.com/office/drawing/2014/main" id="{1BA2D1FF-B959-4AA4-A872-CF37C490EE9D}"/>
              </a:ext>
            </a:extLst>
          </p:cNvPr>
          <p:cNvSpPr>
            <a:spLocks noGrp="1"/>
          </p:cNvSpPr>
          <p:nvPr/>
        </p:nvSpPr>
        <p:spPr>
          <a:xfrm>
            <a:off x="2756916" y="4992624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Portainer Git polling</a:t>
            </a:r>
          </a:p>
        </p:txBody>
      </p:sp>
      <p:sp>
        <p:nvSpPr>
          <p:cNvPr id="42" name="Shape 37">
            <a:extLst>
              <a:ext uri="{FF2B5EF4-FFF2-40B4-BE49-F238E27FC236}">
                <a16:creationId xmlns:a16="http://schemas.microsoft.com/office/drawing/2014/main" id="{257D5847-EB64-415B-BED6-926E47C45791}"/>
              </a:ext>
            </a:extLst>
          </p:cNvPr>
          <p:cNvSpPr>
            <a:spLocks noGrp="1"/>
          </p:cNvSpPr>
          <p:nvPr/>
        </p:nvSpPr>
        <p:spPr>
          <a:xfrm>
            <a:off x="4361688" y="5138928"/>
            <a:ext cx="237744" cy="128016"/>
          </a:xfrm>
          <a:prstGeom prst="rightArrow">
            <a:avLst/>
          </a:prstGeom>
          <a:solidFill>
            <a:srgbClr val="2E6DA4"/>
          </a:solidFill>
        </p:spPr>
      </p:sp>
      <p:sp>
        <p:nvSpPr>
          <p:cNvPr id="43" name="Shape 38">
            <a:extLst>
              <a:ext uri="{FF2B5EF4-FFF2-40B4-BE49-F238E27FC236}">
                <a16:creationId xmlns:a16="http://schemas.microsoft.com/office/drawing/2014/main" id="{E6323151-44E4-4B4F-B230-198C14489C23}"/>
              </a:ext>
            </a:extLst>
          </p:cNvPr>
          <p:cNvSpPr>
            <a:spLocks noGrp="1"/>
          </p:cNvSpPr>
          <p:nvPr/>
        </p:nvSpPr>
        <p:spPr>
          <a:xfrm>
            <a:off x="4617720" y="4992624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FFFFFF"/>
          </a:solidFill>
          <a:ln w="12700">
            <a:solidFill>
              <a:srgbClr val="2E6DA4"/>
            </a:solidFill>
            <a:prstDash val="solid"/>
          </a:ln>
        </p:spPr>
      </p:sp>
      <p:sp>
        <p:nvSpPr>
          <p:cNvPr id="44" name="Text 39">
            <a:extLst>
              <a:ext uri="{FF2B5EF4-FFF2-40B4-BE49-F238E27FC236}">
                <a16:creationId xmlns:a16="http://schemas.microsoft.com/office/drawing/2014/main" id="{84C965EA-7809-4422-A696-74852E6FC467}"/>
              </a:ext>
            </a:extLst>
          </p:cNvPr>
          <p:cNvSpPr>
            <a:spLocks noGrp="1"/>
          </p:cNvSpPr>
          <p:nvPr/>
        </p:nvSpPr>
        <p:spPr>
          <a:xfrm>
            <a:off x="4654296" y="4992624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production stacks</a:t>
            </a:r>
          </a:p>
        </p:txBody>
      </p:sp>
      <p:sp>
        <p:nvSpPr>
          <p:cNvPr id="45" name="Shape 40">
            <a:extLst>
              <a:ext uri="{FF2B5EF4-FFF2-40B4-BE49-F238E27FC236}">
                <a16:creationId xmlns:a16="http://schemas.microsoft.com/office/drawing/2014/main" id="{63E0AFC2-A31F-4A85-9FAB-2D94233B0A64}"/>
              </a:ext>
            </a:extLst>
          </p:cNvPr>
          <p:cNvSpPr>
            <a:spLocks noGrp="1"/>
          </p:cNvSpPr>
          <p:nvPr/>
        </p:nvSpPr>
        <p:spPr>
          <a:xfrm>
            <a:off x="6259068" y="5138928"/>
            <a:ext cx="237744" cy="128016"/>
          </a:xfrm>
          <a:prstGeom prst="rightArrow">
            <a:avLst/>
          </a:prstGeom>
          <a:solidFill>
            <a:srgbClr val="2E6DA4"/>
          </a:solidFill>
        </p:spPr>
      </p:sp>
      <p:sp>
        <p:nvSpPr>
          <p:cNvPr id="46" name="Shape 41">
            <a:extLst>
              <a:ext uri="{FF2B5EF4-FFF2-40B4-BE49-F238E27FC236}">
                <a16:creationId xmlns:a16="http://schemas.microsoft.com/office/drawing/2014/main" id="{7B899F54-4765-47D6-B373-47BA127505EF}"/>
              </a:ext>
            </a:extLst>
          </p:cNvPr>
          <p:cNvSpPr>
            <a:spLocks noGrp="1"/>
          </p:cNvSpPr>
          <p:nvPr/>
        </p:nvSpPr>
        <p:spPr>
          <a:xfrm>
            <a:off x="6515100" y="4992624"/>
            <a:ext cx="1623060" cy="420624"/>
          </a:xfrm>
          <a:prstGeom prst="roundRect">
            <a:avLst>
              <a:gd name="adj" fmla="val 21739"/>
            </a:avLst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47" name="Text 42">
            <a:extLst>
              <a:ext uri="{FF2B5EF4-FFF2-40B4-BE49-F238E27FC236}">
                <a16:creationId xmlns:a16="http://schemas.microsoft.com/office/drawing/2014/main" id="{43201903-E278-4232-B8B7-C499A6A48C0D}"/>
              </a:ext>
            </a:extLst>
          </p:cNvPr>
          <p:cNvSpPr>
            <a:spLocks noGrp="1"/>
          </p:cNvSpPr>
          <p:nvPr/>
        </p:nvSpPr>
        <p:spPr>
          <a:xfrm>
            <a:off x="6551676" y="4992624"/>
            <a:ext cx="1549908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200"/>
              </a:lnSpc>
              <a:buNone/>
            </a:pPr>
            <a:r>
              <a:rPr sz="950" b="1" i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map1</a:t>
            </a:r>
          </a:p>
        </p:txBody>
      </p:sp>
      <p:pic>
        <p:nvPicPr>
          <p:cNvPr id="103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343400" y="4608576"/>
            <a:ext cx="382079" cy="256032"/>
          </a:xfrm>
          <a:prstGeom prst="rect">
            <a:avLst/>
          </a:prstGeom>
        </p:spPr>
      </p:pic>
      <p:sp>
        <p:nvSpPr>
          <p:cNvPr id="49" name="Text 43">
            <a:extLst>
              <a:ext uri="{FF2B5EF4-FFF2-40B4-BE49-F238E27FC236}">
                <a16:creationId xmlns:a16="http://schemas.microsoft.com/office/drawing/2014/main" id="{3A3B9749-9172-4679-A792-D9C6F30ABE91}"/>
              </a:ext>
            </a:extLst>
          </p:cNvPr>
          <p:cNvSpPr>
            <a:spLocks noGrp="1"/>
          </p:cNvSpPr>
          <p:nvPr/>
        </p:nvSpPr>
        <p:spPr>
          <a:xfrm>
            <a:off x="8366760" y="4864608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1000" i="1">
                <a:solidFill>
                  <a:srgbClr val="2E6DA4"/>
                </a:solidFill>
                <a:latin typeface="Calibri"/>
                <a:ea typeface="Calibri"/>
                <a:cs typeface="Calibri"/>
              </a:rPr>
              <a:t>⚠ Rebuild after merge; no sequenced production deploy job</a:t>
            </a:r>
          </a:p>
        </p:txBody>
      </p:sp>
      <p:sp>
        <p:nvSpPr>
          <p:cNvPr id="50" name="Text 44">
            <a:extLst>
              <a:ext uri="{FF2B5EF4-FFF2-40B4-BE49-F238E27FC236}">
                <a16:creationId xmlns:a16="http://schemas.microsoft.com/office/drawing/2014/main" id="{6EB0E206-908D-4479-B888-18479B788F85}"/>
              </a:ext>
            </a:extLst>
          </p:cNvPr>
          <p:cNvSpPr>
            <a:spLocks noGrp="1"/>
          </p:cNvSpPr>
          <p:nvPr/>
        </p:nvSpPr>
        <p:spPr>
          <a:xfrm>
            <a:off x="548640" y="5605272"/>
            <a:ext cx="75895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9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⚠ Workflow filters: selected application / Dockerfile / build-workflow paths — Compose, Portainer, docs &amp; Terraform-only changes get no pre-merge Q preview</a:t>
            </a:r>
          </a:p>
        </p:txBody>
      </p:sp>
      <p:sp>
        <p:nvSpPr>
          <p:cNvPr id="51" name="Shape 45">
            <a:extLst>
              <a:ext uri="{FF2B5EF4-FFF2-40B4-BE49-F238E27FC236}">
                <a16:creationId xmlns:a16="http://schemas.microsoft.com/office/drawing/2014/main" id="{6BF7D0CF-EDCF-4DAF-9606-CF232F974AAA}"/>
              </a:ext>
            </a:extLst>
          </p:cNvPr>
          <p:cNvSpPr>
            <a:spLocks noGrp="1"/>
          </p:cNvSpPr>
          <p:nvPr/>
        </p:nvSpPr>
        <p:spPr>
          <a:xfrm>
            <a:off x="8275320" y="5605272"/>
            <a:ext cx="3364992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</p:spPr>
      </p:sp>
      <p:sp>
        <p:nvSpPr>
          <p:cNvPr id="52" name="Text 46">
            <a:extLst>
              <a:ext uri="{FF2B5EF4-FFF2-40B4-BE49-F238E27FC236}">
                <a16:creationId xmlns:a16="http://schemas.microsoft.com/office/drawing/2014/main" id="{7A2D1E78-05BC-4450-A148-1010697855E7}"/>
              </a:ext>
            </a:extLst>
          </p:cNvPr>
          <p:cNvSpPr>
            <a:spLocks noGrp="1"/>
          </p:cNvSpPr>
          <p:nvPr/>
        </p:nvSpPr>
        <p:spPr>
          <a:xfrm>
            <a:off x="8275320" y="5605272"/>
            <a:ext cx="336499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lnSpc>
                <a:spcPts val="1300"/>
              </a:lnSpc>
              <a:buNone/>
            </a:pPr>
            <a:r>
              <a:rPr sz="110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The VMs pull images;</a:t>
            </a:r>
          </a:p>
          <a:p>
            <a:pPr marL="0" indent="0" algn="ctr">
              <a:lnSpc>
                <a:spcPts val="1300"/>
              </a:lnSpc>
              <a:buNone/>
            </a:pPr>
            <a:r>
              <a:rPr sz="110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they never build application code.</a:t>
            </a:r>
          </a:p>
        </p:txBody>
      </p:sp>
    </p:spTree>
    <p:extLst>
      <p:ext uri="{BB962C8B-B14F-4D97-AF65-F5344CB8AC3E}">
        <p14:creationId xmlns:p14="http://schemas.microsoft.com/office/powerpoint/2010/main" val="5256123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B8DEA1D9-ABDC-4A8A-ADCB-AB6125B42D9A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INFRASTRUCTURE OWNERSHIP · SECOPS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FC758517-4960-4760-AF05-6C43303B135A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Code-defined boundaries reduce operational risk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7DD518DA-9A35-418C-AF52-A3BFB25201B1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52ED6A1B-591A-4D78-80E8-856DFAB22343}"/>
              </a:ext>
            </a:extLst>
          </p:cNvPr>
          <p:cNvSpPr>
            <a:spLocks noGrp="1"/>
          </p:cNvSpPr>
          <p:nvPr/>
        </p:nvSpPr>
        <p:spPr>
          <a:xfrm>
            <a:off x="548640" y="141732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E8833A"/>
          </a:solidFill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C5978391-7360-4462-9EE0-E8C7BE623932}"/>
              </a:ext>
            </a:extLst>
          </p:cNvPr>
          <p:cNvSpPr>
            <a:spLocks noGrp="1"/>
          </p:cNvSpPr>
          <p:nvPr/>
        </p:nvSpPr>
        <p:spPr>
          <a:xfrm>
            <a:off x="548640" y="1645920"/>
            <a:ext cx="3566160" cy="228600"/>
          </a:xfrm>
          <a:prstGeom prst="rect">
            <a:avLst/>
          </a:prstGeom>
          <a:solidFill>
            <a:srgbClr val="E8833A"/>
          </a:solidFill>
        </p:spPr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74FE3171-A384-47AC-A3BD-31E85004F9F8}"/>
              </a:ext>
            </a:extLst>
          </p:cNvPr>
          <p:cNvSpPr>
            <a:spLocks noGrp="1"/>
          </p:cNvSpPr>
          <p:nvPr/>
        </p:nvSpPr>
        <p:spPr>
          <a:xfrm>
            <a:off x="731520" y="14173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PROVISION</a:t>
            </a:r>
          </a:p>
        </p:txBody>
      </p:sp>
      <p:pic>
        <p:nvPicPr>
          <p:cNvPr id="60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4870" y="2199132"/>
            <a:ext cx="1167654" cy="699516"/>
          </a:xfrm>
          <a:prstGeom prst="rect">
            <a:avLst/>
          </a:prstGeom>
        </p:spPr>
      </p:pic>
      <p:sp>
        <p:nvSpPr>
          <p:cNvPr id="11" name="Text 8">
            <a:extLst>
              <a:ext uri="{FF2B5EF4-FFF2-40B4-BE49-F238E27FC236}">
                <a16:creationId xmlns:a16="http://schemas.microsoft.com/office/drawing/2014/main" id="{3CC3CD1F-4D1A-4812-A75D-CEF4A6F49BBF}"/>
              </a:ext>
            </a:extLst>
          </p:cNvPr>
          <p:cNvSpPr>
            <a:spLocks noGrp="1"/>
          </p:cNvSpPr>
          <p:nvPr/>
        </p:nvSpPr>
        <p:spPr>
          <a:xfrm>
            <a:off x="822960" y="3118104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Terraform + AWS API</a:t>
            </a:r>
          </a:p>
        </p:txBody>
      </p:sp>
      <p:sp>
        <p:nvSpPr>
          <p:cNvPr id="12" name="Text 9">
            <a:extLst>
              <a:ext uri="{FF2B5EF4-FFF2-40B4-BE49-F238E27FC236}">
                <a16:creationId xmlns:a16="http://schemas.microsoft.com/office/drawing/2014/main" id="{A51F8E2C-7FB3-4987-9614-CBFAE50BA11B}"/>
              </a:ext>
            </a:extLst>
          </p:cNvPr>
          <p:cNvSpPr>
            <a:spLocks noGrp="1"/>
          </p:cNvSpPr>
          <p:nvPr/>
        </p:nvSpPr>
        <p:spPr>
          <a:xfrm>
            <a:off x="822960" y="339242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300"/>
              </a:lnSpc>
              <a:buNone/>
            </a:pPr>
            <a:r>
              <a:rPr sz="10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Q VM · static IP · firewall</a:t>
            </a:r>
          </a:p>
        </p:txBody>
      </p:sp>
      <p:sp>
        <p:nvSpPr>
          <p:cNvPr id="13" name="Shape 10">
            <a:extLst>
              <a:ext uri="{FF2B5EF4-FFF2-40B4-BE49-F238E27FC236}">
                <a16:creationId xmlns:a16="http://schemas.microsoft.com/office/drawing/2014/main" id="{5AB16AD0-5AC1-4B61-9B77-147C98DFC50C}"/>
              </a:ext>
            </a:extLst>
          </p:cNvPr>
          <p:cNvSpPr>
            <a:spLocks noGrp="1"/>
          </p:cNvSpPr>
          <p:nvPr/>
        </p:nvSpPr>
        <p:spPr>
          <a:xfrm>
            <a:off x="822960" y="3813048"/>
            <a:ext cx="3017520" cy="0"/>
          </a:xfrm>
          <a:prstGeom prst="line">
            <a:avLst/>
          </a:prstGeom>
          <a:noFill/>
          <a:ln w="9525">
            <a:solidFill>
              <a:srgbClr val="E1E7ED"/>
            </a:solidFill>
            <a:prstDash val="solid"/>
          </a:ln>
        </p:spPr>
      </p:sp>
      <p:sp>
        <p:nvSpPr>
          <p:cNvPr id="14" name="Text 11">
            <a:extLst>
              <a:ext uri="{FF2B5EF4-FFF2-40B4-BE49-F238E27FC236}">
                <a16:creationId xmlns:a16="http://schemas.microsoft.com/office/drawing/2014/main" id="{3B9B0EDE-457A-4ADB-BF56-8BD930F0C627}"/>
              </a:ext>
            </a:extLst>
          </p:cNvPr>
          <p:cNvSpPr>
            <a:spLocks noGrp="1"/>
          </p:cNvSpPr>
          <p:nvPr/>
        </p:nvSpPr>
        <p:spPr>
          <a:xfrm>
            <a:off x="822960" y="388620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9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Terraform owns Q only. Production VM predates this IaC boundary.</a:t>
            </a:r>
          </a:p>
        </p:txBody>
      </p:sp>
      <p:sp>
        <p:nvSpPr>
          <p:cNvPr id="15" name="Shape 12">
            <a:extLst>
              <a:ext uri="{FF2B5EF4-FFF2-40B4-BE49-F238E27FC236}">
                <a16:creationId xmlns:a16="http://schemas.microsoft.com/office/drawing/2014/main" id="{2CC3E775-D3F5-4564-821D-291EDD2172A9}"/>
              </a:ext>
            </a:extLst>
          </p:cNvPr>
          <p:cNvSpPr>
            <a:spLocks noGrp="1"/>
          </p:cNvSpPr>
          <p:nvPr/>
        </p:nvSpPr>
        <p:spPr>
          <a:xfrm>
            <a:off x="4133088" y="2743200"/>
            <a:ext cx="219456" cy="182880"/>
          </a:xfrm>
          <a:prstGeom prst="rightArrow">
            <a:avLst/>
          </a:prstGeom>
          <a:solidFill>
            <a:srgbClr val="2E8FB0"/>
          </a:solidFill>
        </p:spPr>
      </p:sp>
      <p:sp>
        <p:nvSpPr>
          <p:cNvPr id="16" name="Shape 13">
            <a:extLst>
              <a:ext uri="{FF2B5EF4-FFF2-40B4-BE49-F238E27FC236}">
                <a16:creationId xmlns:a16="http://schemas.microsoft.com/office/drawing/2014/main" id="{0FD35324-8C55-4AAE-B9B0-DF8FCF3C2F52}"/>
              </a:ext>
            </a:extLst>
          </p:cNvPr>
          <p:cNvSpPr>
            <a:spLocks noGrp="1"/>
          </p:cNvSpPr>
          <p:nvPr/>
        </p:nvSpPr>
        <p:spPr>
          <a:xfrm>
            <a:off x="4370832" y="141732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17" name="Shape 14">
            <a:extLst>
              <a:ext uri="{FF2B5EF4-FFF2-40B4-BE49-F238E27FC236}">
                <a16:creationId xmlns:a16="http://schemas.microsoft.com/office/drawing/2014/main" id="{2748AEC1-D21C-41B8-8CA7-3000010D1F95}"/>
              </a:ext>
            </a:extLst>
          </p:cNvPr>
          <p:cNvSpPr>
            <a:spLocks noGrp="1"/>
          </p:cNvSpPr>
          <p:nvPr/>
        </p:nvSpPr>
        <p:spPr>
          <a:xfrm>
            <a:off x="4370832" y="141732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0B1F3A"/>
          </a:solidFill>
        </p:spPr>
      </p:sp>
      <p:sp>
        <p:nvSpPr>
          <p:cNvPr id="18" name="Shape 15">
            <a:extLst>
              <a:ext uri="{FF2B5EF4-FFF2-40B4-BE49-F238E27FC236}">
                <a16:creationId xmlns:a16="http://schemas.microsoft.com/office/drawing/2014/main" id="{125645AC-760F-4850-8801-B444485F3302}"/>
              </a:ext>
            </a:extLst>
          </p:cNvPr>
          <p:cNvSpPr>
            <a:spLocks noGrp="1"/>
          </p:cNvSpPr>
          <p:nvPr/>
        </p:nvSpPr>
        <p:spPr>
          <a:xfrm>
            <a:off x="4370832" y="1645920"/>
            <a:ext cx="3566160" cy="228600"/>
          </a:xfrm>
          <a:prstGeom prst="rect">
            <a:avLst/>
          </a:prstGeom>
          <a:solidFill>
            <a:srgbClr val="0B1F3A"/>
          </a:solidFill>
        </p:spPr>
      </p:sp>
      <p:sp>
        <p:nvSpPr>
          <p:cNvPr id="19" name="Text 16">
            <a:extLst>
              <a:ext uri="{FF2B5EF4-FFF2-40B4-BE49-F238E27FC236}">
                <a16:creationId xmlns:a16="http://schemas.microsoft.com/office/drawing/2014/main" id="{8DA65E10-779B-4312-91CB-7AE650DCD9CF}"/>
              </a:ext>
            </a:extLst>
          </p:cNvPr>
          <p:cNvSpPr>
            <a:spLocks noGrp="1"/>
          </p:cNvSpPr>
          <p:nvPr/>
        </p:nvSpPr>
        <p:spPr>
          <a:xfrm>
            <a:off x="4553712" y="14173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RUN</a:t>
            </a:r>
          </a:p>
        </p:txBody>
      </p:sp>
      <p:pic>
        <p:nvPicPr>
          <p:cNvPr id="70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5152" y="2075688"/>
            <a:ext cx="758670" cy="758670"/>
          </a:xfrm>
          <a:prstGeom prst="rect">
            <a:avLst/>
          </a:prstGeom>
        </p:spPr>
      </p:pic>
      <p:pic>
        <p:nvPicPr>
          <p:cNvPr id="71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24144" y="2108946"/>
            <a:ext cx="1892526" cy="405653"/>
          </a:xfrm>
          <a:prstGeom prst="rect">
            <a:avLst/>
          </a:prstGeom>
        </p:spPr>
      </p:pic>
      <p:sp>
        <p:nvSpPr>
          <p:cNvPr id="22" name="Text 17">
            <a:extLst>
              <a:ext uri="{FF2B5EF4-FFF2-40B4-BE49-F238E27FC236}">
                <a16:creationId xmlns:a16="http://schemas.microsoft.com/office/drawing/2014/main" id="{94408B33-00B0-4A18-B976-EE9E69EC7983}"/>
              </a:ext>
            </a:extLst>
          </p:cNvPr>
          <p:cNvSpPr>
            <a:spLocks noGrp="1"/>
          </p:cNvSpPr>
          <p:nvPr/>
        </p:nvSpPr>
        <p:spPr>
          <a:xfrm>
            <a:off x="4645152" y="3118104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Portainer + Compose</a:t>
            </a:r>
          </a:p>
        </p:txBody>
      </p:sp>
      <p:sp>
        <p:nvSpPr>
          <p:cNvPr id="23" name="Text 18">
            <a:extLst>
              <a:ext uri="{FF2B5EF4-FFF2-40B4-BE49-F238E27FC236}">
                <a16:creationId xmlns:a16="http://schemas.microsoft.com/office/drawing/2014/main" id="{AFB2FF55-AB5F-47FA-A658-52E3B4ED4020}"/>
              </a:ext>
            </a:extLst>
          </p:cNvPr>
          <p:cNvSpPr>
            <a:spLocks noGrp="1"/>
          </p:cNvSpPr>
          <p:nvPr/>
        </p:nvSpPr>
        <p:spPr>
          <a:xfrm>
            <a:off x="4645152" y="339242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300"/>
              </a:lnSpc>
              <a:buNone/>
            </a:pPr>
            <a:r>
              <a:rPr sz="10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Pull GHCR images · configure · restart · observe</a:t>
            </a:r>
          </a:p>
        </p:txBody>
      </p:sp>
      <p:sp>
        <p:nvSpPr>
          <p:cNvPr id="24" name="Shape 19">
            <a:extLst>
              <a:ext uri="{FF2B5EF4-FFF2-40B4-BE49-F238E27FC236}">
                <a16:creationId xmlns:a16="http://schemas.microsoft.com/office/drawing/2014/main" id="{30089A41-3355-43C9-BE03-BFBE8B93AAD5}"/>
              </a:ext>
            </a:extLst>
          </p:cNvPr>
          <p:cNvSpPr>
            <a:spLocks noGrp="1"/>
          </p:cNvSpPr>
          <p:nvPr/>
        </p:nvSpPr>
        <p:spPr>
          <a:xfrm>
            <a:off x="4645152" y="3813048"/>
            <a:ext cx="3017520" cy="0"/>
          </a:xfrm>
          <a:prstGeom prst="line">
            <a:avLst/>
          </a:prstGeom>
          <a:noFill/>
          <a:ln w="9525">
            <a:solidFill>
              <a:srgbClr val="E1E7ED"/>
            </a:solidFill>
            <a:prstDash val="solid"/>
          </a:ln>
        </p:spPr>
      </p:sp>
      <p:sp>
        <p:nvSpPr>
          <p:cNvPr id="25" name="Text 20">
            <a:extLst>
              <a:ext uri="{FF2B5EF4-FFF2-40B4-BE49-F238E27FC236}">
                <a16:creationId xmlns:a16="http://schemas.microsoft.com/office/drawing/2014/main" id="{FD2A107F-98E2-4E2E-8986-A7F04B7E2ED5}"/>
              </a:ext>
            </a:extLst>
          </p:cNvPr>
          <p:cNvSpPr>
            <a:spLocks noGrp="1"/>
          </p:cNvSpPr>
          <p:nvPr/>
        </p:nvSpPr>
        <p:spPr>
          <a:xfrm>
            <a:off x="4645152" y="388620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9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A VM only pulls images; builds live in CI, never on a host.</a:t>
            </a:r>
          </a:p>
        </p:txBody>
      </p:sp>
      <p:sp>
        <p:nvSpPr>
          <p:cNvPr id="26" name="Shape 21">
            <a:extLst>
              <a:ext uri="{FF2B5EF4-FFF2-40B4-BE49-F238E27FC236}">
                <a16:creationId xmlns:a16="http://schemas.microsoft.com/office/drawing/2014/main" id="{F352E193-557E-46AC-BC51-CCF3A074AB78}"/>
              </a:ext>
            </a:extLst>
          </p:cNvPr>
          <p:cNvSpPr>
            <a:spLocks noGrp="1"/>
          </p:cNvSpPr>
          <p:nvPr/>
        </p:nvSpPr>
        <p:spPr>
          <a:xfrm>
            <a:off x="7955280" y="2743200"/>
            <a:ext cx="219456" cy="182880"/>
          </a:xfrm>
          <a:prstGeom prst="rightArrow">
            <a:avLst/>
          </a:prstGeom>
          <a:solidFill>
            <a:srgbClr val="2E8FB0"/>
          </a:solidFill>
        </p:spPr>
      </p:sp>
      <p:sp>
        <p:nvSpPr>
          <p:cNvPr id="27" name="Shape 22">
            <a:extLst>
              <a:ext uri="{FF2B5EF4-FFF2-40B4-BE49-F238E27FC236}">
                <a16:creationId xmlns:a16="http://schemas.microsoft.com/office/drawing/2014/main" id="{4FA0363E-FAD6-414C-9982-DAC51F30F3BA}"/>
              </a:ext>
            </a:extLst>
          </p:cNvPr>
          <p:cNvSpPr>
            <a:spLocks noGrp="1"/>
          </p:cNvSpPr>
          <p:nvPr/>
        </p:nvSpPr>
        <p:spPr>
          <a:xfrm>
            <a:off x="8193024" y="1417320"/>
            <a:ext cx="356616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28" name="Shape 23">
            <a:extLst>
              <a:ext uri="{FF2B5EF4-FFF2-40B4-BE49-F238E27FC236}">
                <a16:creationId xmlns:a16="http://schemas.microsoft.com/office/drawing/2014/main" id="{7FCB46EC-C596-49F5-BBA1-3EA2242E7613}"/>
              </a:ext>
            </a:extLst>
          </p:cNvPr>
          <p:cNvSpPr>
            <a:spLocks noGrp="1"/>
          </p:cNvSpPr>
          <p:nvPr/>
        </p:nvSpPr>
        <p:spPr>
          <a:xfrm>
            <a:off x="8193024" y="1417320"/>
            <a:ext cx="3566160" cy="457200"/>
          </a:xfrm>
          <a:prstGeom prst="roundRect">
            <a:avLst>
              <a:gd name="adj" fmla="val 16000"/>
            </a:avLst>
          </a:prstGeom>
          <a:solidFill>
            <a:srgbClr val="F38020"/>
          </a:solidFill>
        </p:spPr>
      </p:sp>
      <p:sp>
        <p:nvSpPr>
          <p:cNvPr id="29" name="Shape 24">
            <a:extLst>
              <a:ext uri="{FF2B5EF4-FFF2-40B4-BE49-F238E27FC236}">
                <a16:creationId xmlns:a16="http://schemas.microsoft.com/office/drawing/2014/main" id="{CBB5E6C6-9EFF-4A11-A6E5-AD0076B88BED}"/>
              </a:ext>
            </a:extLst>
          </p:cNvPr>
          <p:cNvSpPr>
            <a:spLocks noGrp="1"/>
          </p:cNvSpPr>
          <p:nvPr/>
        </p:nvSpPr>
        <p:spPr>
          <a:xfrm>
            <a:off x="8193024" y="1645920"/>
            <a:ext cx="3566160" cy="228600"/>
          </a:xfrm>
          <a:prstGeom prst="rect">
            <a:avLst/>
          </a:prstGeom>
          <a:solidFill>
            <a:srgbClr val="F38020"/>
          </a:solidFill>
        </p:spPr>
      </p:sp>
      <p:sp>
        <p:nvSpPr>
          <p:cNvPr id="30" name="Text 25">
            <a:extLst>
              <a:ext uri="{FF2B5EF4-FFF2-40B4-BE49-F238E27FC236}">
                <a16:creationId xmlns:a16="http://schemas.microsoft.com/office/drawing/2014/main" id="{2D8013A9-D61D-4651-888F-B7CE44AE4EE8}"/>
              </a:ext>
            </a:extLst>
          </p:cNvPr>
          <p:cNvSpPr>
            <a:spLocks noGrp="1"/>
          </p:cNvSpPr>
          <p:nvPr/>
        </p:nvSpPr>
        <p:spPr>
          <a:xfrm>
            <a:off x="8375904" y="1417320"/>
            <a:ext cx="320040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EDGE</a:t>
            </a:r>
          </a:p>
        </p:txBody>
      </p:sp>
      <p:pic>
        <p:nvPicPr>
          <p:cNvPr id="81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67343" y="2130552"/>
            <a:ext cx="1866115" cy="630936"/>
          </a:xfrm>
          <a:prstGeom prst="rect">
            <a:avLst/>
          </a:prstGeom>
        </p:spPr>
      </p:pic>
      <p:sp>
        <p:nvSpPr>
          <p:cNvPr id="32" name="Text 26">
            <a:extLst>
              <a:ext uri="{FF2B5EF4-FFF2-40B4-BE49-F238E27FC236}">
                <a16:creationId xmlns:a16="http://schemas.microsoft.com/office/drawing/2014/main" id="{CE72363E-3399-4838-B16D-E5810D50D5B1}"/>
              </a:ext>
            </a:extLst>
          </p:cNvPr>
          <p:cNvSpPr>
            <a:spLocks noGrp="1"/>
          </p:cNvSpPr>
          <p:nvPr/>
        </p:nvSpPr>
        <p:spPr>
          <a:xfrm>
            <a:off x="8467344" y="3118104"/>
            <a:ext cx="30175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Cloudflare Tunnel</a:t>
            </a:r>
          </a:p>
        </p:txBody>
      </p:sp>
      <p:sp>
        <p:nvSpPr>
          <p:cNvPr id="33" name="Text 27">
            <a:extLst>
              <a:ext uri="{FF2B5EF4-FFF2-40B4-BE49-F238E27FC236}">
                <a16:creationId xmlns:a16="http://schemas.microsoft.com/office/drawing/2014/main" id="{1760E0A7-653D-41AF-B1C4-679EFE0B0D8A}"/>
              </a:ext>
            </a:extLst>
          </p:cNvPr>
          <p:cNvSpPr>
            <a:spLocks noGrp="1"/>
          </p:cNvSpPr>
          <p:nvPr/>
        </p:nvSpPr>
        <p:spPr>
          <a:xfrm>
            <a:off x="8467344" y="3392424"/>
            <a:ext cx="301752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300"/>
              </a:lnSpc>
              <a:buNone/>
            </a:pPr>
            <a:r>
              <a:rPr sz="10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Outbound-only ingress · API / dashboard rules</a:t>
            </a:r>
          </a:p>
        </p:txBody>
      </p:sp>
      <p:sp>
        <p:nvSpPr>
          <p:cNvPr id="34" name="Shape 28">
            <a:extLst>
              <a:ext uri="{FF2B5EF4-FFF2-40B4-BE49-F238E27FC236}">
                <a16:creationId xmlns:a16="http://schemas.microsoft.com/office/drawing/2014/main" id="{A20056D6-D5C6-4C32-AFD1-B74CD48464A4}"/>
              </a:ext>
            </a:extLst>
          </p:cNvPr>
          <p:cNvSpPr>
            <a:spLocks noGrp="1"/>
          </p:cNvSpPr>
          <p:nvPr/>
        </p:nvSpPr>
        <p:spPr>
          <a:xfrm>
            <a:off x="8467344" y="3813048"/>
            <a:ext cx="3017520" cy="0"/>
          </a:xfrm>
          <a:prstGeom prst="line">
            <a:avLst/>
          </a:prstGeom>
          <a:noFill/>
          <a:ln w="9525">
            <a:solidFill>
              <a:srgbClr val="E1E7ED"/>
            </a:solidFill>
            <a:prstDash val="solid"/>
          </a:ln>
        </p:spPr>
      </p:sp>
      <p:sp>
        <p:nvSpPr>
          <p:cNvPr id="35" name="Text 29">
            <a:extLst>
              <a:ext uri="{FF2B5EF4-FFF2-40B4-BE49-F238E27FC236}">
                <a16:creationId xmlns:a16="http://schemas.microsoft.com/office/drawing/2014/main" id="{F798969E-349D-4A2A-A5FC-5EAA008436E7}"/>
              </a:ext>
            </a:extLst>
          </p:cNvPr>
          <p:cNvSpPr>
            <a:spLocks noGrp="1"/>
          </p:cNvSpPr>
          <p:nvPr/>
        </p:nvSpPr>
        <p:spPr>
          <a:xfrm>
            <a:off x="8467344" y="3886200"/>
            <a:ext cx="3017520" cy="3200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200"/>
              </a:lnSpc>
              <a:buNone/>
            </a:pPr>
            <a:r>
              <a:rPr sz="9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Removes inbound HTTP/HTTPS + VM-side TLS. Routing is remote API state.</a:t>
            </a:r>
          </a:p>
        </p:txBody>
      </p:sp>
      <p:sp>
        <p:nvSpPr>
          <p:cNvPr id="36" name="Text 30">
            <a:extLst>
              <a:ext uri="{FF2B5EF4-FFF2-40B4-BE49-F238E27FC236}">
                <a16:creationId xmlns:a16="http://schemas.microsoft.com/office/drawing/2014/main" id="{F44E0807-7239-4BDA-A3DA-9B991576FE49}"/>
              </a:ext>
            </a:extLst>
          </p:cNvPr>
          <p:cNvSpPr>
            <a:spLocks noGrp="1"/>
          </p:cNvSpPr>
          <p:nvPr/>
        </p:nvSpPr>
        <p:spPr>
          <a:xfrm>
            <a:off x="548640" y="4361688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0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Terraform  —AWS API→  Q Lightsail   ·   manual trust bootstrap → Portainer / Compose   ·   containers  —outbound tunnel→  Cloudflare edge → users</a:t>
            </a:r>
          </a:p>
        </p:txBody>
      </p:sp>
      <p:sp>
        <p:nvSpPr>
          <p:cNvPr id="37" name="Shape 31">
            <a:extLst>
              <a:ext uri="{FF2B5EF4-FFF2-40B4-BE49-F238E27FC236}">
                <a16:creationId xmlns:a16="http://schemas.microsoft.com/office/drawing/2014/main" id="{DDDC5E78-33BE-439E-873C-819DE9ABB7C6}"/>
              </a:ext>
            </a:extLst>
          </p:cNvPr>
          <p:cNvSpPr>
            <a:spLocks noGrp="1"/>
          </p:cNvSpPr>
          <p:nvPr/>
        </p:nvSpPr>
        <p:spPr>
          <a:xfrm>
            <a:off x="548640" y="4754880"/>
            <a:ext cx="7452360" cy="1371600"/>
          </a:xfrm>
          <a:prstGeom prst="roundRect">
            <a:avLst>
              <a:gd name="adj" fmla="val 5333"/>
            </a:avLst>
          </a:prstGeom>
          <a:solidFill>
            <a:srgbClr val="0B1F3A"/>
          </a:solidFill>
        </p:spPr>
      </p:sp>
      <p:sp>
        <p:nvSpPr>
          <p:cNvPr id="38" name="Text 32">
            <a:extLst>
              <a:ext uri="{FF2B5EF4-FFF2-40B4-BE49-F238E27FC236}">
                <a16:creationId xmlns:a16="http://schemas.microsoft.com/office/drawing/2014/main" id="{79AB4E5A-648B-432B-BC6E-C2C9BBFDB7D2}"/>
              </a:ext>
            </a:extLst>
          </p:cNvPr>
          <p:cNvSpPr>
            <a:spLocks noGrp="1"/>
          </p:cNvSpPr>
          <p:nvPr/>
        </p:nvSpPr>
        <p:spPr>
          <a:xfrm>
            <a:off x="777240" y="4901184"/>
            <a:ext cx="457200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4CC9F0"/>
                </a:solidFill>
                <a:latin typeface="Calibri"/>
                <a:ea typeface="Calibri"/>
                <a:cs typeface="Calibri"/>
              </a:rPr>
              <a:t>SECURITY POSTURE</a:t>
            </a:r>
          </a:p>
        </p:txBody>
      </p:sp>
      <p:sp>
        <p:nvSpPr>
          <p:cNvPr id="39" name="Shape 33">
            <a:extLst>
              <a:ext uri="{FF2B5EF4-FFF2-40B4-BE49-F238E27FC236}">
                <a16:creationId xmlns:a16="http://schemas.microsoft.com/office/drawing/2014/main" id="{C94A80E1-97FD-480C-95BE-4C23A49F08C2}"/>
              </a:ext>
            </a:extLst>
          </p:cNvPr>
          <p:cNvSpPr>
            <a:spLocks noGrp="1"/>
          </p:cNvSpPr>
          <p:nvPr/>
        </p:nvSpPr>
        <p:spPr>
          <a:xfrm>
            <a:off x="822960" y="5312664"/>
            <a:ext cx="128016" cy="128016"/>
          </a:xfrm>
          <a:prstGeom prst="ellipse">
            <a:avLst/>
          </a:prstGeom>
          <a:solidFill>
            <a:srgbClr val="4CC9F0"/>
          </a:solidFill>
        </p:spPr>
      </p:sp>
      <p:sp>
        <p:nvSpPr>
          <p:cNvPr id="40" name="Text 34">
            <a:extLst>
              <a:ext uri="{FF2B5EF4-FFF2-40B4-BE49-F238E27FC236}">
                <a16:creationId xmlns:a16="http://schemas.microsoft.com/office/drawing/2014/main" id="{CB8AC77F-9CD4-4C8A-A2A0-618AEAB5E4AE}"/>
              </a:ext>
            </a:extLst>
          </p:cNvPr>
          <p:cNvSpPr>
            <a:spLocks noGrp="1"/>
          </p:cNvSpPr>
          <p:nvPr/>
        </p:nvSpPr>
        <p:spPr>
          <a:xfrm>
            <a:off x="1051560" y="5257800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No secrets in Git or Lightsail user data</a:t>
            </a:r>
          </a:p>
        </p:txBody>
      </p:sp>
      <p:sp>
        <p:nvSpPr>
          <p:cNvPr id="41" name="Shape 35">
            <a:extLst>
              <a:ext uri="{FF2B5EF4-FFF2-40B4-BE49-F238E27FC236}">
                <a16:creationId xmlns:a16="http://schemas.microsoft.com/office/drawing/2014/main" id="{9E5A01D7-1430-4E9C-A265-D1971C1C3309}"/>
              </a:ext>
            </a:extLst>
          </p:cNvPr>
          <p:cNvSpPr>
            <a:spLocks noGrp="1"/>
          </p:cNvSpPr>
          <p:nvPr/>
        </p:nvSpPr>
        <p:spPr>
          <a:xfrm>
            <a:off x="822960" y="5586984"/>
            <a:ext cx="128016" cy="128016"/>
          </a:xfrm>
          <a:prstGeom prst="ellipse">
            <a:avLst/>
          </a:prstGeom>
          <a:solidFill>
            <a:srgbClr val="4CC9F0"/>
          </a:solidFill>
        </p:spPr>
      </p:sp>
      <p:sp>
        <p:nvSpPr>
          <p:cNvPr id="42" name="Text 36">
            <a:extLst>
              <a:ext uri="{FF2B5EF4-FFF2-40B4-BE49-F238E27FC236}">
                <a16:creationId xmlns:a16="http://schemas.microsoft.com/office/drawing/2014/main" id="{A57C05AD-7EF6-4619-B600-E7FFC1C4B057}"/>
              </a:ext>
            </a:extLst>
          </p:cNvPr>
          <p:cNvSpPr>
            <a:spLocks noGrp="1"/>
          </p:cNvSpPr>
          <p:nvPr/>
        </p:nvSpPr>
        <p:spPr>
          <a:xfrm>
            <a:off x="1051560" y="5532120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Zero inbound web ports (SSH remains)</a:t>
            </a:r>
          </a:p>
        </p:txBody>
      </p:sp>
      <p:sp>
        <p:nvSpPr>
          <p:cNvPr id="43" name="Shape 37">
            <a:extLst>
              <a:ext uri="{FF2B5EF4-FFF2-40B4-BE49-F238E27FC236}">
                <a16:creationId xmlns:a16="http://schemas.microsoft.com/office/drawing/2014/main" id="{E0DD2370-317F-489B-8BAA-83392C1AF47D}"/>
              </a:ext>
            </a:extLst>
          </p:cNvPr>
          <p:cNvSpPr>
            <a:spLocks noGrp="1"/>
          </p:cNvSpPr>
          <p:nvPr/>
        </p:nvSpPr>
        <p:spPr>
          <a:xfrm>
            <a:off x="822960" y="5861304"/>
            <a:ext cx="128016" cy="128016"/>
          </a:xfrm>
          <a:prstGeom prst="ellipse">
            <a:avLst/>
          </a:prstGeom>
          <a:solidFill>
            <a:srgbClr val="4CC9F0"/>
          </a:solidFill>
        </p:spPr>
      </p:sp>
      <p:sp>
        <p:nvSpPr>
          <p:cNvPr id="44" name="Text 38">
            <a:extLst>
              <a:ext uri="{FF2B5EF4-FFF2-40B4-BE49-F238E27FC236}">
                <a16:creationId xmlns:a16="http://schemas.microsoft.com/office/drawing/2014/main" id="{51FD09C8-5CEC-4295-9541-B6C28F724646}"/>
              </a:ext>
            </a:extLst>
          </p:cNvPr>
          <p:cNvSpPr>
            <a:spLocks noGrp="1"/>
          </p:cNvSpPr>
          <p:nvPr/>
        </p:nvSpPr>
        <p:spPr>
          <a:xfrm>
            <a:off x="1051560" y="5806440"/>
            <a:ext cx="6766560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50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Scoped image-build permissions</a:t>
            </a:r>
          </a:p>
        </p:txBody>
      </p:sp>
      <p:sp>
        <p:nvSpPr>
          <p:cNvPr id="45" name="Shape 39">
            <a:extLst>
              <a:ext uri="{FF2B5EF4-FFF2-40B4-BE49-F238E27FC236}">
                <a16:creationId xmlns:a16="http://schemas.microsoft.com/office/drawing/2014/main" id="{EFF7C8F1-D82C-41CD-8826-D805659E4736}"/>
              </a:ext>
            </a:extLst>
          </p:cNvPr>
          <p:cNvSpPr>
            <a:spLocks noGrp="1"/>
          </p:cNvSpPr>
          <p:nvPr/>
        </p:nvSpPr>
        <p:spPr>
          <a:xfrm>
            <a:off x="8183880" y="4754880"/>
            <a:ext cx="3456432" cy="1371600"/>
          </a:xfrm>
          <a:prstGeom prst="roundRect">
            <a:avLst>
              <a:gd name="adj" fmla="val 5333"/>
            </a:avLst>
          </a:prstGeom>
          <a:solidFill>
            <a:srgbClr val="FBF1DE"/>
          </a:solidFill>
          <a:ln w="15875">
            <a:solidFill>
              <a:srgbClr val="F2A93B"/>
            </a:solidFill>
            <a:prstDash val="solid"/>
          </a:ln>
        </p:spPr>
      </p:sp>
      <p:sp>
        <p:nvSpPr>
          <p:cNvPr id="46" name="Text 40">
            <a:extLst>
              <a:ext uri="{FF2B5EF4-FFF2-40B4-BE49-F238E27FC236}">
                <a16:creationId xmlns:a16="http://schemas.microsoft.com/office/drawing/2014/main" id="{79060048-32F6-4EDB-B682-853C660BDD1C}"/>
              </a:ext>
            </a:extLst>
          </p:cNvPr>
          <p:cNvSpPr>
            <a:spLocks noGrp="1"/>
          </p:cNvSpPr>
          <p:nvPr/>
        </p:nvSpPr>
        <p:spPr>
          <a:xfrm>
            <a:off x="8385048" y="4901184"/>
            <a:ext cx="3017520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10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⚠ KNOWN GAPS</a:t>
            </a:r>
          </a:p>
        </p:txBody>
      </p:sp>
      <p:sp>
        <p:nvSpPr>
          <p:cNvPr id="47" name="Text 41">
            <a:extLst>
              <a:ext uri="{FF2B5EF4-FFF2-40B4-BE49-F238E27FC236}">
                <a16:creationId xmlns:a16="http://schemas.microsoft.com/office/drawing/2014/main" id="{3F7080C9-5BC3-4EA6-93B7-848E5B89ACFD}"/>
              </a:ext>
            </a:extLst>
          </p:cNvPr>
          <p:cNvSpPr>
            <a:spLocks noGrp="1"/>
          </p:cNvSpPr>
          <p:nvPr/>
        </p:nvSpPr>
        <p:spPr>
          <a:xfrm>
            <a:off x="8385048" y="5230368"/>
            <a:ext cx="3054096" cy="777240"/>
          </a:xfrm>
          <a:prstGeom prst="rect">
            <a:avLst/>
          </a:prstGeom>
          <a:noFill/>
        </p:spPr>
        <p:txBody>
          <a:bodyPr wrap="square" anchor="t"/>
          <a:lstStyle/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sz="10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Production VM + Cloudflare routing outside IaC</a:t>
            </a:r>
          </a:p>
          <a:p>
            <a:pPr marL="342900" indent="-342900">
              <a:spcAft>
                <a:spcPts val="800"/>
              </a:spcAft>
              <a:buSzPct val="100000"/>
              <a:buChar char="▪"/>
            </a:pPr>
            <a:r>
              <a:rPr sz="10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Atlas permits all source IPs (0.0.0.0/0)</a:t>
            </a:r>
          </a:p>
        </p:txBody>
      </p:sp>
      <p:sp>
        <p:nvSpPr>
          <p:cNvPr id="48" name="Text 42">
            <a:extLst>
              <a:ext uri="{FF2B5EF4-FFF2-40B4-BE49-F238E27FC236}">
                <a16:creationId xmlns:a16="http://schemas.microsoft.com/office/drawing/2014/main" id="{20BEB10D-06B1-45C0-8012-24F1AD1FBD75}"/>
              </a:ext>
            </a:extLst>
          </p:cNvPr>
          <p:cNvSpPr>
            <a:spLocks noGrp="1"/>
          </p:cNvSpPr>
          <p:nvPr/>
        </p:nvSpPr>
        <p:spPr>
          <a:xfrm>
            <a:off x="548640" y="6236208"/>
            <a:ext cx="11091672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050" i="1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AWS CLI = authenticated inspection capability, not a deployment engine</a:t>
            </a:r>
          </a:p>
        </p:txBody>
      </p:sp>
      <p:pic>
        <p:nvPicPr>
          <p:cNvPr id="99" name="Grafik 98"/>
          <p:cNvPicPr>
            <a:picLocks noChangeAspect="1"/>
          </p:cNvPicPr>
          <p:nvPr/>
        </p:nvPicPr>
        <p:blipFill>
          <a:blip r:embed="rId7"/>
          <a:stretch/>
        </p:blipFill>
        <p:spPr>
          <a:xfrm>
            <a:off x="2588760" y="2093976"/>
            <a:ext cx="867672" cy="867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35919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6B53EAB-BBD9-47B4-9587-6F24F91F64D6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DAY-TWO OPERATIONS · HONEST LIMITS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0149B2F-D38D-4FDB-B881-446DB5E7CFF2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Operational proof today, hardening path tomorrow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D6F37F5B-8088-45E2-BC8E-B32D995AD7EC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0D4ABE0-A36B-42D5-9A4F-52FD6FF405C4}"/>
              </a:ext>
            </a:extLst>
          </p:cNvPr>
          <p:cNvSpPr>
            <a:spLocks noGrp="1"/>
          </p:cNvSpPr>
          <p:nvPr/>
        </p:nvSpPr>
        <p:spPr>
          <a:xfrm>
            <a:off x="548640" y="150876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0B1F3A"/>
          </a:solidFill>
        </p:spPr>
      </p:sp>
      <p:sp>
        <p:nvSpPr>
          <p:cNvPr id="6" name="Shape 4">
            <a:extLst>
              <a:ext uri="{FF2B5EF4-FFF2-40B4-BE49-F238E27FC236}">
                <a16:creationId xmlns:a16="http://schemas.microsoft.com/office/drawing/2014/main" id="{8E36620F-0B76-4D37-9D86-142A3C2FA519}"/>
              </a:ext>
            </a:extLst>
          </p:cNvPr>
          <p:cNvSpPr>
            <a:spLocks noGrp="1"/>
          </p:cNvSpPr>
          <p:nvPr/>
        </p:nvSpPr>
        <p:spPr>
          <a:xfrm>
            <a:off x="548640" y="1783080"/>
            <a:ext cx="5440680" cy="292608"/>
          </a:xfrm>
          <a:prstGeom prst="rect">
            <a:avLst/>
          </a:prstGeom>
          <a:solidFill>
            <a:srgbClr val="0B1F3A"/>
          </a:solidFill>
        </p:spPr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186846D0-D420-4C22-95DB-E46F6764A417}"/>
              </a:ext>
            </a:extLst>
          </p:cNvPr>
          <p:cNvSpPr>
            <a:spLocks noGrp="1"/>
          </p:cNvSpPr>
          <p:nvPr/>
        </p:nvSpPr>
        <p:spPr>
          <a:xfrm>
            <a:off x="3474720" y="1792224"/>
            <a:ext cx="2331720" cy="0"/>
          </a:xfrm>
          <a:prstGeom prst="line">
            <a:avLst/>
          </a:prstGeom>
          <a:noFill/>
          <a:ln w="12700">
            <a:solidFill>
              <a:srgbClr val="2E5A7A"/>
            </a:solidFill>
            <a:prstDash val="solid"/>
          </a:ln>
        </p:spPr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1AA47716-58B7-431D-9433-F83C4E704700}"/>
              </a:ext>
            </a:extLst>
          </p:cNvPr>
          <p:cNvSpPr>
            <a:spLocks noGrp="1"/>
          </p:cNvSpPr>
          <p:nvPr/>
        </p:nvSpPr>
        <p:spPr>
          <a:xfrm>
            <a:off x="777240" y="1508760"/>
            <a:ext cx="36576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OPERATES TODAY</a:t>
            </a:r>
          </a:p>
        </p:txBody>
      </p:sp>
      <p:sp>
        <p:nvSpPr>
          <p:cNvPr id="9" name="Shape 7">
            <a:extLst>
              <a:ext uri="{FF2B5EF4-FFF2-40B4-BE49-F238E27FC236}">
                <a16:creationId xmlns:a16="http://schemas.microsoft.com/office/drawing/2014/main" id="{F1212D23-10CB-4413-ADF1-37DFEEFCA15F}"/>
              </a:ext>
            </a:extLst>
          </p:cNvPr>
          <p:cNvSpPr>
            <a:spLocks noGrp="1"/>
          </p:cNvSpPr>
          <p:nvPr/>
        </p:nvSpPr>
        <p:spPr>
          <a:xfrm>
            <a:off x="822960" y="2350008"/>
            <a:ext cx="237744" cy="237744"/>
          </a:xfrm>
          <a:prstGeom prst="ellipse">
            <a:avLst/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7B040036-9538-4991-BA7E-E9AA56352166}"/>
              </a:ext>
            </a:extLst>
          </p:cNvPr>
          <p:cNvSpPr>
            <a:spLocks noGrp="1"/>
          </p:cNvSpPr>
          <p:nvPr/>
        </p:nvSpPr>
        <p:spPr>
          <a:xfrm>
            <a:off x="822960" y="2350008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DDB3BA08-DDAE-47F6-874F-DB41CB2963E8}"/>
              </a:ext>
            </a:extLst>
          </p:cNvPr>
          <p:cNvSpPr>
            <a:spLocks noGrp="1"/>
          </p:cNvSpPr>
          <p:nvPr/>
        </p:nvSpPr>
        <p:spPr>
          <a:xfrm>
            <a:off x="1207008" y="2331720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ETL heartbeat + API health checks</a:t>
            </a:r>
          </a:p>
        </p:txBody>
      </p:sp>
      <p:sp>
        <p:nvSpPr>
          <p:cNvPr id="12" name="Shape 10">
            <a:extLst>
              <a:ext uri="{FF2B5EF4-FFF2-40B4-BE49-F238E27FC236}">
                <a16:creationId xmlns:a16="http://schemas.microsoft.com/office/drawing/2014/main" id="{1F6FE06B-72F4-4C08-9619-A5A65FF0FD8C}"/>
              </a:ext>
            </a:extLst>
          </p:cNvPr>
          <p:cNvSpPr>
            <a:spLocks noGrp="1"/>
          </p:cNvSpPr>
          <p:nvPr/>
        </p:nvSpPr>
        <p:spPr>
          <a:xfrm>
            <a:off x="822960" y="2953512"/>
            <a:ext cx="237744" cy="237744"/>
          </a:xfrm>
          <a:prstGeom prst="ellipse">
            <a:avLst/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1D24A84F-9867-40FE-B4D7-1BD53A0FF872}"/>
              </a:ext>
            </a:extLst>
          </p:cNvPr>
          <p:cNvSpPr>
            <a:spLocks noGrp="1"/>
          </p:cNvSpPr>
          <p:nvPr/>
        </p:nvSpPr>
        <p:spPr>
          <a:xfrm>
            <a:off x="822960" y="2953512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4" name="Text 12">
            <a:extLst>
              <a:ext uri="{FF2B5EF4-FFF2-40B4-BE49-F238E27FC236}">
                <a16:creationId xmlns:a16="http://schemas.microsoft.com/office/drawing/2014/main" id="{03115485-6B1A-45A3-958C-9130CB9D3FED}"/>
              </a:ext>
            </a:extLst>
          </p:cNvPr>
          <p:cNvSpPr>
            <a:spLocks noGrp="1"/>
          </p:cNvSpPr>
          <p:nvPr/>
        </p:nvSpPr>
        <p:spPr>
          <a:xfrm>
            <a:off x="1207008" y="2935224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Restart policies + local container logs</a:t>
            </a:r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BE9697B7-643E-468A-8CD7-870F7EDAD3E6}"/>
              </a:ext>
            </a:extLst>
          </p:cNvPr>
          <p:cNvSpPr>
            <a:spLocks noGrp="1"/>
          </p:cNvSpPr>
          <p:nvPr/>
        </p:nvSpPr>
        <p:spPr>
          <a:xfrm>
            <a:off x="822960" y="3557016"/>
            <a:ext cx="237744" cy="237744"/>
          </a:xfrm>
          <a:prstGeom prst="ellipse">
            <a:avLst/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64A588C-F034-4D19-AE49-864A10ABEFA8}"/>
              </a:ext>
            </a:extLst>
          </p:cNvPr>
          <p:cNvSpPr>
            <a:spLocks noGrp="1"/>
          </p:cNvSpPr>
          <p:nvPr/>
        </p:nvSpPr>
        <p:spPr>
          <a:xfrm>
            <a:off x="822960" y="3557016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4D1E7282-DF74-4354-B4D3-9F1BF65E12BB}"/>
              </a:ext>
            </a:extLst>
          </p:cNvPr>
          <p:cNvSpPr>
            <a:spLocks noGrp="1"/>
          </p:cNvSpPr>
          <p:nvPr/>
        </p:nvSpPr>
        <p:spPr>
          <a:xfrm>
            <a:off x="1207008" y="3538728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Independent Bronze / Silver lifecycles</a:t>
            </a:r>
          </a:p>
        </p:txBody>
      </p:sp>
      <p:sp>
        <p:nvSpPr>
          <p:cNvPr id="18" name="Shape 16">
            <a:extLst>
              <a:ext uri="{FF2B5EF4-FFF2-40B4-BE49-F238E27FC236}">
                <a16:creationId xmlns:a16="http://schemas.microsoft.com/office/drawing/2014/main" id="{4E9D32C2-5F32-442D-9688-8EEB098CA813}"/>
              </a:ext>
            </a:extLst>
          </p:cNvPr>
          <p:cNvSpPr>
            <a:spLocks noGrp="1"/>
          </p:cNvSpPr>
          <p:nvPr/>
        </p:nvSpPr>
        <p:spPr>
          <a:xfrm>
            <a:off x="822960" y="4160520"/>
            <a:ext cx="237744" cy="237744"/>
          </a:xfrm>
          <a:prstGeom prst="ellipse">
            <a:avLst/>
          </a:prstGeom>
          <a:solidFill>
            <a:srgbClr val="E9F6EF"/>
          </a:solidFill>
          <a:ln w="12700">
            <a:solidFill>
              <a:srgbClr val="1B8A5A"/>
            </a:solidFill>
            <a:prstDash val="solid"/>
          </a:ln>
        </p:spPr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1123096B-AF53-4BC7-BE76-073B98FE43CB}"/>
              </a:ext>
            </a:extLst>
          </p:cNvPr>
          <p:cNvSpPr>
            <a:spLocks noGrp="1"/>
          </p:cNvSpPr>
          <p:nvPr/>
        </p:nvSpPr>
        <p:spPr>
          <a:xfrm>
            <a:off x="822960" y="4160520"/>
            <a:ext cx="237744" cy="23774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200" b="1">
                <a:solidFill>
                  <a:srgbClr val="1B8A5A"/>
                </a:solidFill>
                <a:latin typeface="Calibri"/>
                <a:ea typeface="Calibri"/>
                <a:cs typeface="Calibri"/>
              </a:rPr>
              <a:t>✓</a:t>
            </a:r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F0EDF392-4AB2-4212-BA77-A4607F9FE59B}"/>
              </a:ext>
            </a:extLst>
          </p:cNvPr>
          <p:cNvSpPr>
            <a:spLocks noGrp="1"/>
          </p:cNvSpPr>
          <p:nvPr/>
        </p:nvSpPr>
        <p:spPr>
          <a:xfrm>
            <a:off x="1207008" y="4142232"/>
            <a:ext cx="45262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Separate production / Q compute</a:t>
            </a:r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E8A2FCBD-F846-4948-8CAF-864DAC48D032}"/>
              </a:ext>
            </a:extLst>
          </p:cNvPr>
          <p:cNvSpPr>
            <a:spLocks noGrp="1"/>
          </p:cNvSpPr>
          <p:nvPr/>
        </p:nvSpPr>
        <p:spPr>
          <a:xfrm>
            <a:off x="6382512" y="1508760"/>
            <a:ext cx="5440680" cy="3383280"/>
          </a:xfrm>
          <a:prstGeom prst="roundRect">
            <a:avLst>
              <a:gd name="adj" fmla="val 2162"/>
            </a:avLst>
          </a:prstGeom>
          <a:solidFill>
            <a:srgbClr val="FCF6EA"/>
          </a:solidFill>
          <a:ln w="15875">
            <a:solidFill>
              <a:srgbClr val="F2A93B"/>
            </a:solidFill>
            <a:prstDash val="solid"/>
          </a:ln>
          <a:effectLst>
            <a:outerShdw blurRad="101600" dist="25400" dir="5400000" algn="bl" rotWithShape="0">
              <a:srgbClr val="1A2B3D">
                <a:alpha val="12000"/>
              </a:srgbClr>
            </a:outerShdw>
          </a:effectLst>
        </p:spPr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32C48323-C1EC-4257-AC3C-06C07C215561}"/>
              </a:ext>
            </a:extLst>
          </p:cNvPr>
          <p:cNvSpPr>
            <a:spLocks noGrp="1"/>
          </p:cNvSpPr>
          <p:nvPr/>
        </p:nvSpPr>
        <p:spPr>
          <a:xfrm>
            <a:off x="6382512" y="1508760"/>
            <a:ext cx="5440680" cy="566928"/>
          </a:xfrm>
          <a:prstGeom prst="roundRect">
            <a:avLst>
              <a:gd name="adj" fmla="val 12903"/>
            </a:avLst>
          </a:prstGeom>
          <a:solidFill>
            <a:srgbClr val="F2A93B"/>
          </a:solidFill>
        </p:spPr>
      </p:sp>
      <p:sp>
        <p:nvSpPr>
          <p:cNvPr id="23" name="Shape 21">
            <a:extLst>
              <a:ext uri="{FF2B5EF4-FFF2-40B4-BE49-F238E27FC236}">
                <a16:creationId xmlns:a16="http://schemas.microsoft.com/office/drawing/2014/main" id="{BCE71AC3-722B-4343-AB09-39DE7B5B243C}"/>
              </a:ext>
            </a:extLst>
          </p:cNvPr>
          <p:cNvSpPr>
            <a:spLocks noGrp="1"/>
          </p:cNvSpPr>
          <p:nvPr/>
        </p:nvSpPr>
        <p:spPr>
          <a:xfrm>
            <a:off x="6382512" y="1783080"/>
            <a:ext cx="5440680" cy="292608"/>
          </a:xfrm>
          <a:prstGeom prst="rect">
            <a:avLst/>
          </a:prstGeom>
          <a:solidFill>
            <a:srgbClr val="F2A93B"/>
          </a:solidFill>
        </p:spPr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BF4BA2CD-F6EB-4FBB-A6F5-854C513C3C3C}"/>
              </a:ext>
            </a:extLst>
          </p:cNvPr>
          <p:cNvSpPr>
            <a:spLocks noGrp="1"/>
          </p:cNvSpPr>
          <p:nvPr/>
        </p:nvSpPr>
        <p:spPr>
          <a:xfrm>
            <a:off x="6611112" y="1508760"/>
            <a:ext cx="45720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4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NEXT HARDENING STEPS</a:t>
            </a:r>
          </a:p>
        </p:txBody>
      </p:sp>
      <p:sp>
        <p:nvSpPr>
          <p:cNvPr id="25" name="Shape 23">
            <a:extLst>
              <a:ext uri="{FF2B5EF4-FFF2-40B4-BE49-F238E27FC236}">
                <a16:creationId xmlns:a16="http://schemas.microsoft.com/office/drawing/2014/main" id="{8FA9071A-C769-4774-A375-5A84F36C91E5}"/>
              </a:ext>
            </a:extLst>
          </p:cNvPr>
          <p:cNvSpPr>
            <a:spLocks noGrp="1"/>
          </p:cNvSpPr>
          <p:nvPr/>
        </p:nvSpPr>
        <p:spPr>
          <a:xfrm>
            <a:off x="6656832" y="2340864"/>
            <a:ext cx="38404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9B31BFFE-3DFC-4ED1-9A63-74D96FE3C12E}"/>
              </a:ext>
            </a:extLst>
          </p:cNvPr>
          <p:cNvSpPr>
            <a:spLocks noGrp="1"/>
          </p:cNvSpPr>
          <p:nvPr/>
        </p:nvSpPr>
        <p:spPr>
          <a:xfrm>
            <a:off x="6656832" y="2340864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8C5D9D2C-4539-4672-BD8C-489AA8BA678D}"/>
              </a:ext>
            </a:extLst>
          </p:cNvPr>
          <p:cNvSpPr>
            <a:spLocks noGrp="1"/>
          </p:cNvSpPr>
          <p:nvPr/>
        </p:nvSpPr>
        <p:spPr>
          <a:xfrm>
            <a:off x="7159752" y="2331720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Unit, lint, image-scan &amp; SBOM gates in CI</a:t>
            </a:r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6411D450-A9F7-4970-9648-6E5ED4CD65A3}"/>
              </a:ext>
            </a:extLst>
          </p:cNvPr>
          <p:cNvSpPr>
            <a:spLocks noGrp="1"/>
          </p:cNvSpPr>
          <p:nvPr/>
        </p:nvSpPr>
        <p:spPr>
          <a:xfrm>
            <a:off x="6656832" y="2944368"/>
            <a:ext cx="38404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29" name="Text 27">
            <a:extLst>
              <a:ext uri="{FF2B5EF4-FFF2-40B4-BE49-F238E27FC236}">
                <a16:creationId xmlns:a16="http://schemas.microsoft.com/office/drawing/2014/main" id="{447A240D-1A68-42D7-BED6-F636C09CA7B9}"/>
              </a:ext>
            </a:extLst>
          </p:cNvPr>
          <p:cNvSpPr>
            <a:spLocks noGrp="1"/>
          </p:cNvSpPr>
          <p:nvPr/>
        </p:nvSpPr>
        <p:spPr>
          <a:xfrm>
            <a:off x="6656832" y="2944368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CA9248F6-B1B3-4EF2-B2A8-0BDE4B6A75FF}"/>
              </a:ext>
            </a:extLst>
          </p:cNvPr>
          <p:cNvSpPr>
            <a:spLocks noGrp="1"/>
          </p:cNvSpPr>
          <p:nvPr/>
        </p:nvSpPr>
        <p:spPr>
          <a:xfrm>
            <a:off x="7159752" y="2935224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Promote the tested image digest after merge</a:t>
            </a:r>
          </a:p>
        </p:txBody>
      </p:sp>
      <p:sp>
        <p:nvSpPr>
          <p:cNvPr id="31" name="Shape 29">
            <a:extLst>
              <a:ext uri="{FF2B5EF4-FFF2-40B4-BE49-F238E27FC236}">
                <a16:creationId xmlns:a16="http://schemas.microsoft.com/office/drawing/2014/main" id="{F90D75D6-BFD5-4E2B-8B14-B593FF8B2B83}"/>
              </a:ext>
            </a:extLst>
          </p:cNvPr>
          <p:cNvSpPr>
            <a:spLocks noGrp="1"/>
          </p:cNvSpPr>
          <p:nvPr/>
        </p:nvSpPr>
        <p:spPr>
          <a:xfrm>
            <a:off x="6656832" y="3547872"/>
            <a:ext cx="38404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3CEF55E1-C73A-47C5-B9C4-27C2E93AE27B}"/>
              </a:ext>
            </a:extLst>
          </p:cNvPr>
          <p:cNvSpPr>
            <a:spLocks noGrp="1"/>
          </p:cNvSpPr>
          <p:nvPr/>
        </p:nvSpPr>
        <p:spPr>
          <a:xfrm>
            <a:off x="6656832" y="3547872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3</a:t>
            </a:r>
          </a:p>
        </p:txBody>
      </p:sp>
      <p:sp>
        <p:nvSpPr>
          <p:cNvPr id="33" name="Text 31">
            <a:extLst>
              <a:ext uri="{FF2B5EF4-FFF2-40B4-BE49-F238E27FC236}">
                <a16:creationId xmlns:a16="http://schemas.microsoft.com/office/drawing/2014/main" id="{D017BD1E-1961-46C9-ADDA-887FFBE673A8}"/>
              </a:ext>
            </a:extLst>
          </p:cNvPr>
          <p:cNvSpPr>
            <a:spLocks noGrp="1"/>
          </p:cNvSpPr>
          <p:nvPr/>
        </p:nvSpPr>
        <p:spPr>
          <a:xfrm>
            <a:off x="7159752" y="3538728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Central metrics, alerts &amp; log aggregation</a:t>
            </a:r>
          </a:p>
        </p:txBody>
      </p:sp>
      <p:sp>
        <p:nvSpPr>
          <p:cNvPr id="34" name="Shape 32">
            <a:extLst>
              <a:ext uri="{FF2B5EF4-FFF2-40B4-BE49-F238E27FC236}">
                <a16:creationId xmlns:a16="http://schemas.microsoft.com/office/drawing/2014/main" id="{B8BB4CD6-ECB5-48A7-848F-8C0BD375F3D1}"/>
              </a:ext>
            </a:extLst>
          </p:cNvPr>
          <p:cNvSpPr>
            <a:spLocks noGrp="1"/>
          </p:cNvSpPr>
          <p:nvPr/>
        </p:nvSpPr>
        <p:spPr>
          <a:xfrm>
            <a:off x="6656832" y="4151376"/>
            <a:ext cx="384048" cy="256032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2700">
            <a:solidFill>
              <a:srgbClr val="C98A2B"/>
            </a:solidFill>
            <a:prstDash val="solid"/>
          </a:ln>
        </p:spPr>
      </p:sp>
      <p:sp>
        <p:nvSpPr>
          <p:cNvPr id="35" name="Text 33">
            <a:extLst>
              <a:ext uri="{FF2B5EF4-FFF2-40B4-BE49-F238E27FC236}">
                <a16:creationId xmlns:a16="http://schemas.microsoft.com/office/drawing/2014/main" id="{8DC33C70-D6B7-4565-98FF-DAFC4D4E92BC}"/>
              </a:ext>
            </a:extLst>
          </p:cNvPr>
          <p:cNvSpPr>
            <a:spLocks noGrp="1"/>
          </p:cNvSpPr>
          <p:nvPr/>
        </p:nvSpPr>
        <p:spPr>
          <a:xfrm>
            <a:off x="6656832" y="4151376"/>
            <a:ext cx="384048" cy="256032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0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4</a:t>
            </a:r>
          </a:p>
        </p:txBody>
      </p:sp>
      <p:sp>
        <p:nvSpPr>
          <p:cNvPr id="36" name="Text 34">
            <a:extLst>
              <a:ext uri="{FF2B5EF4-FFF2-40B4-BE49-F238E27FC236}">
                <a16:creationId xmlns:a16="http://schemas.microsoft.com/office/drawing/2014/main" id="{B35F1F11-8E1F-4695-B5AC-F326BEDD7522}"/>
              </a:ext>
            </a:extLst>
          </p:cNvPr>
          <p:cNvSpPr>
            <a:spLocks noGrp="1"/>
          </p:cNvSpPr>
          <p:nvPr/>
        </p:nvSpPr>
        <p:spPr>
          <a:xfrm>
            <a:off x="7159752" y="4142232"/>
            <a:ext cx="438912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Isolate Q MongoDB; Cloudflare + prod under IaC</a:t>
            </a:r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10E9783-9F52-4ECF-BA99-52A2A750C8AF}"/>
              </a:ext>
            </a:extLst>
          </p:cNvPr>
          <p:cNvSpPr>
            <a:spLocks noGrp="1"/>
          </p:cNvSpPr>
          <p:nvPr/>
        </p:nvSpPr>
        <p:spPr>
          <a:xfrm>
            <a:off x="6656832" y="4507992"/>
            <a:ext cx="489204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r">
              <a:buNone/>
            </a:pPr>
            <a:r>
              <a:rPr sz="1050" b="1" i="1">
                <a:solidFill>
                  <a:srgbClr val="5B4FA6"/>
                </a:solidFill>
                <a:latin typeface="Calibri"/>
                <a:ea typeface="Calibri"/>
                <a:cs typeface="Calibri"/>
              </a:rPr>
              <a:t>gaps return to the visible GitHub Project ↩</a:t>
            </a:r>
          </a:p>
        </p:txBody>
      </p:sp>
      <p:sp>
        <p:nvSpPr>
          <p:cNvPr id="38" name="Shape 36">
            <a:extLst>
              <a:ext uri="{FF2B5EF4-FFF2-40B4-BE49-F238E27FC236}">
                <a16:creationId xmlns:a16="http://schemas.microsoft.com/office/drawing/2014/main" id="{6F415757-E97A-46DF-86C4-E87015CADD2F}"/>
              </a:ext>
            </a:extLst>
          </p:cNvPr>
          <p:cNvSpPr>
            <a:spLocks noGrp="1"/>
          </p:cNvSpPr>
          <p:nvPr/>
        </p:nvSpPr>
        <p:spPr>
          <a:xfrm>
            <a:off x="548640" y="5074920"/>
            <a:ext cx="11091672" cy="566928"/>
          </a:xfrm>
          <a:prstGeom prst="roundRect">
            <a:avLst>
              <a:gd name="adj" fmla="val 12903"/>
            </a:avLst>
          </a:prstGeom>
          <a:solidFill>
            <a:srgbClr val="EEF1F5"/>
          </a:solidFill>
          <a:ln w="12700">
            <a:solidFill>
              <a:srgbClr val="E1E7ED"/>
            </a:solidFill>
            <a:prstDash val="solid"/>
          </a:ln>
        </p:spPr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F52F9187-2650-49A4-97C9-5D6014123817}"/>
              </a:ext>
            </a:extLst>
          </p:cNvPr>
          <p:cNvSpPr>
            <a:spLocks noGrp="1"/>
          </p:cNvSpPr>
          <p:nvPr/>
        </p:nvSpPr>
        <p:spPr>
          <a:xfrm>
            <a:off x="777240" y="5074920"/>
            <a:ext cx="10634472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2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Architectural judgment:  </a:t>
            </a:r>
            <a:r>
              <a:rPr sz="120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Docker Compose is sufficient at this scale — Kubernetes would add an operations platform before the project needs one.</a:t>
            </a:r>
          </a:p>
        </p:txBody>
      </p:sp>
      <p:sp>
        <p:nvSpPr>
          <p:cNvPr id="40" name="Shape 38">
            <a:extLst>
              <a:ext uri="{FF2B5EF4-FFF2-40B4-BE49-F238E27FC236}">
                <a16:creationId xmlns:a16="http://schemas.microsoft.com/office/drawing/2014/main" id="{F90C4F3F-4F94-4179-8159-672B300DCE4C}"/>
              </a:ext>
            </a:extLst>
          </p:cNvPr>
          <p:cNvSpPr>
            <a:spLocks noGrp="1"/>
          </p:cNvSpPr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0B1F3A"/>
          </a:solidFill>
        </p:spPr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1C724720-8E49-4124-BFC1-721F107F272F}"/>
              </a:ext>
            </a:extLst>
          </p:cNvPr>
          <p:cNvSpPr>
            <a:spLocks noGrp="1"/>
          </p:cNvSpPr>
          <p:nvPr/>
        </p:nvSpPr>
        <p:spPr>
          <a:xfrm>
            <a:off x="548640" y="5806440"/>
            <a:ext cx="11091672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2000" b="1">
                <a:solidFill>
                  <a:srgbClr val="FFFFFF"/>
                </a:solidFill>
                <a:latin typeface="Cambria"/>
                <a:ea typeface="Cambria"/>
                <a:cs typeface="Cambria"/>
              </a:rPr>
              <a:t>Everything as Code — One Source of Truth.</a:t>
            </a:r>
          </a:p>
        </p:txBody>
      </p:sp>
    </p:spTree>
    <p:extLst>
      <p:ext uri="{BB962C8B-B14F-4D97-AF65-F5344CB8AC3E}">
        <p14:creationId xmlns:p14="http://schemas.microsoft.com/office/powerpoint/2010/main" val="61230439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9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CADE8134-C0C4-42F3-BE75-2960529B119C}"/>
              </a:ext>
            </a:extLst>
          </p:cNvPr>
          <p:cNvSpPr>
            <a:spLocks noGrp="1"/>
          </p:cNvSpPr>
          <p:nvPr/>
        </p:nvSpPr>
        <p:spPr>
          <a:xfrm>
            <a:off x="548640" y="365760"/>
            <a:ext cx="1109167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1200" b="1">
                <a:solidFill>
                  <a:srgbClr val="2E8FB0"/>
                </a:solidFill>
                <a:latin typeface="Calibri"/>
                <a:ea typeface="Calibri"/>
                <a:cs typeface="Calibri"/>
              </a:rPr>
              <a:t>WHY THIS SEGMENT BELONGS IN THE DEFENSE</a:t>
            </a:r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6E0F225-B4A4-4BE5-A374-D9624360EB36}"/>
              </a:ext>
            </a:extLst>
          </p:cNvPr>
          <p:cNvSpPr>
            <a:spLocks noGrp="1"/>
          </p:cNvSpPr>
          <p:nvPr/>
        </p:nvSpPr>
        <p:spPr>
          <a:xfrm>
            <a:off x="548640" y="621792"/>
            <a:ext cx="11091672" cy="6400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buNone/>
            </a:pPr>
            <a:r>
              <a:rPr sz="2900" b="1">
                <a:solidFill>
                  <a:srgbClr val="0B1F3A"/>
                </a:solidFill>
                <a:latin typeface="Cambria"/>
                <a:ea typeface="Cambria"/>
                <a:cs typeface="Cambria"/>
              </a:rPr>
              <a:t>Course curriculum, proven by project evidence</a:t>
            </a:r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355B7681-1948-4C87-AD6F-3C880FAC773E}"/>
              </a:ext>
            </a:extLst>
          </p:cNvPr>
          <p:cNvSpPr>
            <a:spLocks noGrp="1"/>
          </p:cNvSpPr>
          <p:nvPr/>
        </p:nvSpPr>
        <p:spPr>
          <a:xfrm>
            <a:off x="548640" y="1463040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E4E43CE5-374C-47DC-A3EF-4F192040DDD2}"/>
              </a:ext>
            </a:extLst>
          </p:cNvPr>
          <p:cNvSpPr>
            <a:spLocks noGrp="1"/>
          </p:cNvSpPr>
          <p:nvPr/>
        </p:nvSpPr>
        <p:spPr>
          <a:xfrm>
            <a:off x="731520" y="1636776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1B8A5A"/>
          </a:solidFill>
        </p:spPr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DAF08A95-5740-4B2B-B2EC-8ED885B6ED5B}"/>
              </a:ext>
            </a:extLst>
          </p:cNvPr>
          <p:cNvSpPr>
            <a:spLocks noGrp="1"/>
          </p:cNvSpPr>
          <p:nvPr/>
        </p:nvSpPr>
        <p:spPr>
          <a:xfrm>
            <a:off x="731520" y="1636776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Sprint 3</a:t>
            </a:r>
          </a:p>
        </p:txBody>
      </p:sp>
      <p:sp>
        <p:nvSpPr>
          <p:cNvPr id="7" name="Text 5">
            <a:extLst>
              <a:ext uri="{FF2B5EF4-FFF2-40B4-BE49-F238E27FC236}">
                <a16:creationId xmlns:a16="http://schemas.microsoft.com/office/drawing/2014/main" id="{AAC417CD-1BDE-47A9-832F-646B5736F25D}"/>
              </a:ext>
            </a:extLst>
          </p:cNvPr>
          <p:cNvSpPr>
            <a:spLocks noGrp="1"/>
          </p:cNvSpPr>
          <p:nvPr/>
        </p:nvSpPr>
        <p:spPr>
          <a:xfrm>
            <a:off x="2148840" y="1463040"/>
            <a:ext cx="288036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3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SQL &amp; MongoDB</a:t>
            </a:r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8F20864C-9A3B-47DE-845E-6533F240BF5A}"/>
              </a:ext>
            </a:extLst>
          </p:cNvPr>
          <p:cNvSpPr>
            <a:spLocks noGrp="1"/>
          </p:cNvSpPr>
          <p:nvPr/>
        </p:nvSpPr>
        <p:spPr>
          <a:xfrm>
            <a:off x="5074920" y="1609344"/>
            <a:ext cx="0" cy="457200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EBB7394A-FA35-4604-A141-C0D33C569709}"/>
              </a:ext>
            </a:extLst>
          </p:cNvPr>
          <p:cNvSpPr>
            <a:spLocks noGrp="1"/>
          </p:cNvSpPr>
          <p:nvPr/>
        </p:nvSpPr>
        <p:spPr>
          <a:xfrm>
            <a:off x="5257800" y="1463040"/>
            <a:ext cx="501091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400"/>
              </a:lnSpc>
              <a:buNone/>
            </a:pPr>
            <a:r>
              <a:rPr sz="11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MongoDB Atlas Bronze + Supabase Postgres Silver</a:t>
            </a:r>
          </a:p>
        </p:txBody>
      </p:sp>
      <p:pic>
        <p:nvPicPr>
          <p:cNvPr id="57" name="Image 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7828" y="1636776"/>
            <a:ext cx="359008" cy="402336"/>
          </a:xfrm>
          <a:prstGeom prst="rect">
            <a:avLst/>
          </a:prstGeom>
        </p:spPr>
      </p:pic>
      <p:pic>
        <p:nvPicPr>
          <p:cNvPr id="58" name="Image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029282" y="1636776"/>
            <a:ext cx="389956" cy="402336"/>
          </a:xfrm>
          <a:prstGeom prst="rect">
            <a:avLst/>
          </a:prstGeom>
        </p:spPr>
      </p:pic>
      <p:sp>
        <p:nvSpPr>
          <p:cNvPr id="12" name="Shape 8">
            <a:extLst>
              <a:ext uri="{FF2B5EF4-FFF2-40B4-BE49-F238E27FC236}">
                <a16:creationId xmlns:a16="http://schemas.microsoft.com/office/drawing/2014/main" id="{6CDFB7D2-ED96-4BD4-AC1C-01C86D59CD6F}"/>
              </a:ext>
            </a:extLst>
          </p:cNvPr>
          <p:cNvSpPr>
            <a:spLocks noGrp="1"/>
          </p:cNvSpPr>
          <p:nvPr/>
        </p:nvSpPr>
        <p:spPr>
          <a:xfrm>
            <a:off x="548640" y="2322576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13" name="Shape 9">
            <a:extLst>
              <a:ext uri="{FF2B5EF4-FFF2-40B4-BE49-F238E27FC236}">
                <a16:creationId xmlns:a16="http://schemas.microsoft.com/office/drawing/2014/main" id="{FD709135-C495-417A-843D-8678B4A09C4F}"/>
              </a:ext>
            </a:extLst>
          </p:cNvPr>
          <p:cNvSpPr>
            <a:spLocks noGrp="1"/>
          </p:cNvSpPr>
          <p:nvPr/>
        </p:nvSpPr>
        <p:spPr>
          <a:xfrm>
            <a:off x="731520" y="2496312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E8833A"/>
          </a:solidFill>
        </p:spPr>
      </p:sp>
      <p:sp>
        <p:nvSpPr>
          <p:cNvPr id="14" name="Text 10">
            <a:extLst>
              <a:ext uri="{FF2B5EF4-FFF2-40B4-BE49-F238E27FC236}">
                <a16:creationId xmlns:a16="http://schemas.microsoft.com/office/drawing/2014/main" id="{F7CAE30E-7E2E-497E-BA1E-CC516FCD1B5D}"/>
              </a:ext>
            </a:extLst>
          </p:cNvPr>
          <p:cNvSpPr>
            <a:spLocks noGrp="1"/>
          </p:cNvSpPr>
          <p:nvPr/>
        </p:nvSpPr>
        <p:spPr>
          <a:xfrm>
            <a:off x="731520" y="2496312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Sprint 5</a:t>
            </a:r>
          </a:p>
        </p:txBody>
      </p:sp>
      <p:sp>
        <p:nvSpPr>
          <p:cNvPr id="15" name="Text 11">
            <a:extLst>
              <a:ext uri="{FF2B5EF4-FFF2-40B4-BE49-F238E27FC236}">
                <a16:creationId xmlns:a16="http://schemas.microsoft.com/office/drawing/2014/main" id="{B2D714A6-995C-4289-B71D-551C41D63802}"/>
              </a:ext>
            </a:extLst>
          </p:cNvPr>
          <p:cNvSpPr>
            <a:spLocks noGrp="1"/>
          </p:cNvSpPr>
          <p:nvPr/>
        </p:nvSpPr>
        <p:spPr>
          <a:xfrm>
            <a:off x="2148840" y="2322576"/>
            <a:ext cx="288036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3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ETL &amp; AWS Cloud Practitioner</a:t>
            </a:r>
          </a:p>
        </p:txBody>
      </p:sp>
      <p:sp>
        <p:nvSpPr>
          <p:cNvPr id="16" name="Shape 12">
            <a:extLst>
              <a:ext uri="{FF2B5EF4-FFF2-40B4-BE49-F238E27FC236}">
                <a16:creationId xmlns:a16="http://schemas.microsoft.com/office/drawing/2014/main" id="{33C20C82-A0A5-4858-AF70-43A9DEF837CC}"/>
              </a:ext>
            </a:extLst>
          </p:cNvPr>
          <p:cNvSpPr>
            <a:spLocks noGrp="1"/>
          </p:cNvSpPr>
          <p:nvPr/>
        </p:nvSpPr>
        <p:spPr>
          <a:xfrm>
            <a:off x="5074920" y="2468880"/>
            <a:ext cx="0" cy="457200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sp>
        <p:nvSpPr>
          <p:cNvPr id="17" name="Text 13">
            <a:extLst>
              <a:ext uri="{FF2B5EF4-FFF2-40B4-BE49-F238E27FC236}">
                <a16:creationId xmlns:a16="http://schemas.microsoft.com/office/drawing/2014/main" id="{D78A1D65-2EDF-4715-9436-D571422584C1}"/>
              </a:ext>
            </a:extLst>
          </p:cNvPr>
          <p:cNvSpPr>
            <a:spLocks noGrp="1"/>
          </p:cNvSpPr>
          <p:nvPr/>
        </p:nvSpPr>
        <p:spPr>
          <a:xfrm>
            <a:off x="5257800" y="2322576"/>
            <a:ext cx="501091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400"/>
              </a:lnSpc>
              <a:buNone/>
            </a:pPr>
            <a:r>
              <a:rPr sz="11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Managed data services + AWS Lightsail compute</a:t>
            </a:r>
          </a:p>
        </p:txBody>
      </p:sp>
      <p:pic>
        <p:nvPicPr>
          <p:cNvPr id="65" name="Image 2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05872" y="2546836"/>
            <a:ext cx="502920" cy="301288"/>
          </a:xfrm>
          <a:prstGeom prst="rect">
            <a:avLst/>
          </a:prstGeom>
        </p:spPr>
      </p:pic>
      <p:sp>
        <p:nvSpPr>
          <p:cNvPr id="19" name="Shape 14">
            <a:extLst>
              <a:ext uri="{FF2B5EF4-FFF2-40B4-BE49-F238E27FC236}">
                <a16:creationId xmlns:a16="http://schemas.microsoft.com/office/drawing/2014/main" id="{EE4D78A1-1F67-4B1B-9396-6F0C21E6BD1C}"/>
              </a:ext>
            </a:extLst>
          </p:cNvPr>
          <p:cNvSpPr>
            <a:spLocks noGrp="1"/>
          </p:cNvSpPr>
          <p:nvPr/>
        </p:nvSpPr>
        <p:spPr>
          <a:xfrm>
            <a:off x="548640" y="3182112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20" name="Shape 15">
            <a:extLst>
              <a:ext uri="{FF2B5EF4-FFF2-40B4-BE49-F238E27FC236}">
                <a16:creationId xmlns:a16="http://schemas.microsoft.com/office/drawing/2014/main" id="{A1EAF918-196E-4057-BB8F-6103798D8E50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2E6DA4"/>
          </a:solidFill>
        </p:spPr>
      </p:sp>
      <p:sp>
        <p:nvSpPr>
          <p:cNvPr id="21" name="Text 16">
            <a:extLst>
              <a:ext uri="{FF2B5EF4-FFF2-40B4-BE49-F238E27FC236}">
                <a16:creationId xmlns:a16="http://schemas.microsoft.com/office/drawing/2014/main" id="{568B188A-E452-4E2E-853E-2AE6A56064AB}"/>
              </a:ext>
            </a:extLst>
          </p:cNvPr>
          <p:cNvSpPr>
            <a:spLocks noGrp="1"/>
          </p:cNvSpPr>
          <p:nvPr/>
        </p:nvSpPr>
        <p:spPr>
          <a:xfrm>
            <a:off x="731520" y="3355848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Sprint 7</a:t>
            </a:r>
          </a:p>
        </p:txBody>
      </p:sp>
      <p:sp>
        <p:nvSpPr>
          <p:cNvPr id="22" name="Text 17">
            <a:extLst>
              <a:ext uri="{FF2B5EF4-FFF2-40B4-BE49-F238E27FC236}">
                <a16:creationId xmlns:a16="http://schemas.microsoft.com/office/drawing/2014/main" id="{C0AF5E1F-F9EA-4360-ABC5-DD770DE90EEE}"/>
              </a:ext>
            </a:extLst>
          </p:cNvPr>
          <p:cNvSpPr>
            <a:spLocks noGrp="1"/>
          </p:cNvSpPr>
          <p:nvPr/>
        </p:nvSpPr>
        <p:spPr>
          <a:xfrm>
            <a:off x="2148840" y="3182112"/>
            <a:ext cx="288036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3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DevOps / isolation</a:t>
            </a:r>
          </a:p>
        </p:txBody>
      </p:sp>
      <p:sp>
        <p:nvSpPr>
          <p:cNvPr id="23" name="Shape 18">
            <a:extLst>
              <a:ext uri="{FF2B5EF4-FFF2-40B4-BE49-F238E27FC236}">
                <a16:creationId xmlns:a16="http://schemas.microsoft.com/office/drawing/2014/main" id="{5E38533E-CE4E-4147-877A-D9224B8C10E7}"/>
              </a:ext>
            </a:extLst>
          </p:cNvPr>
          <p:cNvSpPr>
            <a:spLocks noGrp="1"/>
          </p:cNvSpPr>
          <p:nvPr/>
        </p:nvSpPr>
        <p:spPr>
          <a:xfrm>
            <a:off x="5074920" y="3328416"/>
            <a:ext cx="0" cy="457200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sp>
        <p:nvSpPr>
          <p:cNvPr id="24" name="Text 19">
            <a:extLst>
              <a:ext uri="{FF2B5EF4-FFF2-40B4-BE49-F238E27FC236}">
                <a16:creationId xmlns:a16="http://schemas.microsoft.com/office/drawing/2014/main" id="{E24DE07D-9AFC-47AF-A85D-74F8D4214EA1}"/>
              </a:ext>
            </a:extLst>
          </p:cNvPr>
          <p:cNvSpPr>
            <a:spLocks noGrp="1"/>
          </p:cNvSpPr>
          <p:nvPr/>
        </p:nvSpPr>
        <p:spPr>
          <a:xfrm>
            <a:off x="5257800" y="3182112"/>
            <a:ext cx="501091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400"/>
              </a:lnSpc>
              <a:buNone/>
            </a:pPr>
            <a:r>
              <a:rPr sz="11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Docker · FastAPI health endpoints · env separation · API security</a:t>
            </a:r>
          </a:p>
        </p:txBody>
      </p:sp>
      <p:pic>
        <p:nvPicPr>
          <p:cNvPr id="72" name="Image 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405872" y="3503117"/>
            <a:ext cx="502920" cy="107798"/>
          </a:xfrm>
          <a:prstGeom prst="rect">
            <a:avLst/>
          </a:prstGeom>
        </p:spPr>
      </p:pic>
      <p:sp>
        <p:nvSpPr>
          <p:cNvPr id="26" name="Shape 20">
            <a:extLst>
              <a:ext uri="{FF2B5EF4-FFF2-40B4-BE49-F238E27FC236}">
                <a16:creationId xmlns:a16="http://schemas.microsoft.com/office/drawing/2014/main" id="{2B3339F1-B0FB-48B2-85EA-F14310CF3084}"/>
              </a:ext>
            </a:extLst>
          </p:cNvPr>
          <p:cNvSpPr>
            <a:spLocks noGrp="1"/>
          </p:cNvSpPr>
          <p:nvPr/>
        </p:nvSpPr>
        <p:spPr>
          <a:xfrm>
            <a:off x="548640" y="4041648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27" name="Shape 21">
            <a:extLst>
              <a:ext uri="{FF2B5EF4-FFF2-40B4-BE49-F238E27FC236}">
                <a16:creationId xmlns:a16="http://schemas.microsoft.com/office/drawing/2014/main" id="{8E32A6DB-B139-4178-9A1C-8D4B21728CB9}"/>
              </a:ext>
            </a:extLst>
          </p:cNvPr>
          <p:cNvSpPr>
            <a:spLocks noGrp="1"/>
          </p:cNvSpPr>
          <p:nvPr/>
        </p:nvSpPr>
        <p:spPr>
          <a:xfrm>
            <a:off x="731520" y="4215384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0B1F3A"/>
          </a:solidFill>
        </p:spPr>
      </p:sp>
      <p:sp>
        <p:nvSpPr>
          <p:cNvPr id="28" name="Text 22">
            <a:extLst>
              <a:ext uri="{FF2B5EF4-FFF2-40B4-BE49-F238E27FC236}">
                <a16:creationId xmlns:a16="http://schemas.microsoft.com/office/drawing/2014/main" id="{22D819ED-A988-4ACD-A0E9-E6F8A574B8EB}"/>
              </a:ext>
            </a:extLst>
          </p:cNvPr>
          <p:cNvSpPr>
            <a:spLocks noGrp="1"/>
          </p:cNvSpPr>
          <p:nvPr/>
        </p:nvSpPr>
        <p:spPr>
          <a:xfrm>
            <a:off x="731520" y="4215384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Sprint 8</a:t>
            </a:r>
          </a:p>
        </p:txBody>
      </p:sp>
      <p:sp>
        <p:nvSpPr>
          <p:cNvPr id="29" name="Text 23">
            <a:extLst>
              <a:ext uri="{FF2B5EF4-FFF2-40B4-BE49-F238E27FC236}">
                <a16:creationId xmlns:a16="http://schemas.microsoft.com/office/drawing/2014/main" id="{0EE7B123-3F2A-40F7-8035-8AC0CAAB071D}"/>
              </a:ext>
            </a:extLst>
          </p:cNvPr>
          <p:cNvSpPr>
            <a:spLocks noGrp="1"/>
          </p:cNvSpPr>
          <p:nvPr/>
        </p:nvSpPr>
        <p:spPr>
          <a:xfrm>
            <a:off x="2148840" y="4041648"/>
            <a:ext cx="288036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3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CI/CD</a:t>
            </a:r>
          </a:p>
        </p:txBody>
      </p:sp>
      <p:sp>
        <p:nvSpPr>
          <p:cNvPr id="30" name="Shape 24">
            <a:extLst>
              <a:ext uri="{FF2B5EF4-FFF2-40B4-BE49-F238E27FC236}">
                <a16:creationId xmlns:a16="http://schemas.microsoft.com/office/drawing/2014/main" id="{C1A1DBFD-BC1C-45BD-A99B-40F94A9E12D9}"/>
              </a:ext>
            </a:extLst>
          </p:cNvPr>
          <p:cNvSpPr>
            <a:spLocks noGrp="1"/>
          </p:cNvSpPr>
          <p:nvPr/>
        </p:nvSpPr>
        <p:spPr>
          <a:xfrm>
            <a:off x="5074920" y="4187952"/>
            <a:ext cx="0" cy="457200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sp>
        <p:nvSpPr>
          <p:cNvPr id="31" name="Text 25">
            <a:extLst>
              <a:ext uri="{FF2B5EF4-FFF2-40B4-BE49-F238E27FC236}">
                <a16:creationId xmlns:a16="http://schemas.microsoft.com/office/drawing/2014/main" id="{516AD3E5-8886-4E6A-BDAA-7BEF5A69EC6E}"/>
              </a:ext>
            </a:extLst>
          </p:cNvPr>
          <p:cNvSpPr>
            <a:spLocks noGrp="1"/>
          </p:cNvSpPr>
          <p:nvPr/>
        </p:nvSpPr>
        <p:spPr>
          <a:xfrm>
            <a:off x="5257800" y="4041648"/>
            <a:ext cx="501091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400"/>
              </a:lnSpc>
              <a:buNone/>
            </a:pPr>
            <a:r>
              <a:rPr sz="11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GitHub Actions · GHCR · PR previews · release flow</a:t>
            </a:r>
          </a:p>
        </p:txBody>
      </p:sp>
      <p:pic>
        <p:nvPicPr>
          <p:cNvPr id="79" name="Image 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405872" y="4359101"/>
            <a:ext cx="502920" cy="114903"/>
          </a:xfrm>
          <a:prstGeom prst="rect">
            <a:avLst/>
          </a:prstGeom>
        </p:spPr>
      </p:pic>
      <p:sp>
        <p:nvSpPr>
          <p:cNvPr id="33" name="Shape 26">
            <a:extLst>
              <a:ext uri="{FF2B5EF4-FFF2-40B4-BE49-F238E27FC236}">
                <a16:creationId xmlns:a16="http://schemas.microsoft.com/office/drawing/2014/main" id="{DAAFB5A1-0BA8-4025-BE71-8579F8DE3A52}"/>
              </a:ext>
            </a:extLst>
          </p:cNvPr>
          <p:cNvSpPr>
            <a:spLocks noGrp="1"/>
          </p:cNvSpPr>
          <p:nvPr/>
        </p:nvSpPr>
        <p:spPr>
          <a:xfrm>
            <a:off x="548640" y="4901184"/>
            <a:ext cx="11091672" cy="749808"/>
          </a:xfrm>
          <a:prstGeom prst="roundRect">
            <a:avLst>
              <a:gd name="adj" fmla="val 7317"/>
            </a:avLst>
          </a:prstGeom>
          <a:solidFill>
            <a:srgbClr val="FFFFFF"/>
          </a:solidFill>
          <a:ln w="12700">
            <a:solidFill>
              <a:srgbClr val="E1E7ED"/>
            </a:solidFill>
            <a:prstDash val="solid"/>
          </a:ln>
          <a:effectLst>
            <a:outerShdw blurRad="101600" dist="25400" dir="5400000" algn="bl" rotWithShape="0">
              <a:srgbClr val="1A2B3D">
                <a:alpha val="8000"/>
              </a:srgbClr>
            </a:outerShdw>
          </a:effectLst>
        </p:spPr>
      </p:sp>
      <p:sp>
        <p:nvSpPr>
          <p:cNvPr id="34" name="Shape 27">
            <a:extLst>
              <a:ext uri="{FF2B5EF4-FFF2-40B4-BE49-F238E27FC236}">
                <a16:creationId xmlns:a16="http://schemas.microsoft.com/office/drawing/2014/main" id="{52849BC2-F6A4-477B-B456-3D1B7E740F54}"/>
              </a:ext>
            </a:extLst>
          </p:cNvPr>
          <p:cNvSpPr>
            <a:spLocks noGrp="1"/>
          </p:cNvSpPr>
          <p:nvPr/>
        </p:nvSpPr>
        <p:spPr>
          <a:xfrm>
            <a:off x="731520" y="5074920"/>
            <a:ext cx="1234440" cy="402336"/>
          </a:xfrm>
          <a:prstGeom prst="roundRect">
            <a:avLst>
              <a:gd name="adj" fmla="val 18182"/>
            </a:avLst>
          </a:prstGeom>
          <a:solidFill>
            <a:srgbClr val="5B4FA6"/>
          </a:solidFill>
        </p:spPr>
      </p:sp>
      <p:sp>
        <p:nvSpPr>
          <p:cNvPr id="35" name="Text 28">
            <a:extLst>
              <a:ext uri="{FF2B5EF4-FFF2-40B4-BE49-F238E27FC236}">
                <a16:creationId xmlns:a16="http://schemas.microsoft.com/office/drawing/2014/main" id="{C4E75CC8-4E7C-43D3-8770-53932D0DE7D4}"/>
              </a:ext>
            </a:extLst>
          </p:cNvPr>
          <p:cNvSpPr>
            <a:spLocks noGrp="1"/>
          </p:cNvSpPr>
          <p:nvPr/>
        </p:nvSpPr>
        <p:spPr>
          <a:xfrm>
            <a:off x="731520" y="5074920"/>
            <a:ext cx="1234440" cy="40233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 algn="ctr">
              <a:buNone/>
            </a:pPr>
            <a:r>
              <a:rPr sz="11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Sprint 9</a:t>
            </a:r>
          </a:p>
        </p:txBody>
      </p:sp>
      <p:sp>
        <p:nvSpPr>
          <p:cNvPr id="36" name="Text 29">
            <a:extLst>
              <a:ext uri="{FF2B5EF4-FFF2-40B4-BE49-F238E27FC236}">
                <a16:creationId xmlns:a16="http://schemas.microsoft.com/office/drawing/2014/main" id="{9668AEC0-CAFD-4479-A73C-7A5A20F7763C}"/>
              </a:ext>
            </a:extLst>
          </p:cNvPr>
          <p:cNvSpPr>
            <a:spLocks noGrp="1"/>
          </p:cNvSpPr>
          <p:nvPr/>
        </p:nvSpPr>
        <p:spPr>
          <a:xfrm>
            <a:off x="2148840" y="4901184"/>
            <a:ext cx="2880360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30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Monitoring &amp; Terraform</a:t>
            </a:r>
          </a:p>
        </p:txBody>
      </p:sp>
      <p:sp>
        <p:nvSpPr>
          <p:cNvPr id="37" name="Shape 30">
            <a:extLst>
              <a:ext uri="{FF2B5EF4-FFF2-40B4-BE49-F238E27FC236}">
                <a16:creationId xmlns:a16="http://schemas.microsoft.com/office/drawing/2014/main" id="{9F12270E-B458-4E3C-90B7-A9965B0131EA}"/>
              </a:ext>
            </a:extLst>
          </p:cNvPr>
          <p:cNvSpPr>
            <a:spLocks noGrp="1"/>
          </p:cNvSpPr>
          <p:nvPr/>
        </p:nvSpPr>
        <p:spPr>
          <a:xfrm>
            <a:off x="5074920" y="5047488"/>
            <a:ext cx="0" cy="457200"/>
          </a:xfrm>
          <a:prstGeom prst="line">
            <a:avLst/>
          </a:prstGeom>
          <a:noFill/>
          <a:ln w="12700">
            <a:solidFill>
              <a:srgbClr val="E1E7ED"/>
            </a:solidFill>
            <a:prstDash val="solid"/>
          </a:ln>
        </p:spPr>
      </p:sp>
      <p:sp>
        <p:nvSpPr>
          <p:cNvPr id="38" name="Text 31">
            <a:extLst>
              <a:ext uri="{FF2B5EF4-FFF2-40B4-BE49-F238E27FC236}">
                <a16:creationId xmlns:a16="http://schemas.microsoft.com/office/drawing/2014/main" id="{00CAB0F9-292E-4C20-84A4-5FFEAD6A8FC0}"/>
              </a:ext>
            </a:extLst>
          </p:cNvPr>
          <p:cNvSpPr>
            <a:spLocks noGrp="1"/>
          </p:cNvSpPr>
          <p:nvPr/>
        </p:nvSpPr>
        <p:spPr>
          <a:xfrm>
            <a:off x="5257800" y="4901184"/>
            <a:ext cx="5010912" cy="7498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400"/>
              </a:lnSpc>
              <a:buNone/>
            </a:pPr>
            <a:r>
              <a:rPr sz="1150">
                <a:solidFill>
                  <a:srgbClr val="5A6B7D"/>
                </a:solidFill>
                <a:latin typeface="Calibri"/>
                <a:ea typeface="Calibri"/>
                <a:cs typeface="Calibri"/>
              </a:rPr>
              <a:t>Health checks · restart/logging policy · Terraform-managed Q infra</a:t>
            </a:r>
          </a:p>
        </p:txBody>
      </p:sp>
      <p:sp>
        <p:nvSpPr>
          <p:cNvPr id="41" name="Shape 34">
            <a:extLst>
              <a:ext uri="{FF2B5EF4-FFF2-40B4-BE49-F238E27FC236}">
                <a16:creationId xmlns:a16="http://schemas.microsoft.com/office/drawing/2014/main" id="{BBFB4AAE-C6A1-4BA9-9985-C01FE2EDB50C}"/>
              </a:ext>
            </a:extLst>
          </p:cNvPr>
          <p:cNvSpPr>
            <a:spLocks noGrp="1"/>
          </p:cNvSpPr>
          <p:nvPr/>
        </p:nvSpPr>
        <p:spPr>
          <a:xfrm>
            <a:off x="548640" y="5806440"/>
            <a:ext cx="11091672" cy="658368"/>
          </a:xfrm>
          <a:prstGeom prst="roundRect">
            <a:avLst>
              <a:gd name="adj" fmla="val 11111"/>
            </a:avLst>
          </a:prstGeom>
          <a:solidFill>
            <a:srgbClr val="FBF1DE"/>
          </a:solidFill>
          <a:ln w="12700">
            <a:solidFill>
              <a:srgbClr val="F2A93B"/>
            </a:solidFill>
            <a:prstDash val="solid"/>
          </a:ln>
        </p:spPr>
      </p:sp>
      <p:sp>
        <p:nvSpPr>
          <p:cNvPr id="42" name="Text 35">
            <a:extLst>
              <a:ext uri="{FF2B5EF4-FFF2-40B4-BE49-F238E27FC236}">
                <a16:creationId xmlns:a16="http://schemas.microsoft.com/office/drawing/2014/main" id="{AF4827EB-9D3C-4E58-9232-A1BE9D49BB6B}"/>
              </a:ext>
            </a:extLst>
          </p:cNvPr>
          <p:cNvSpPr>
            <a:spLocks noGrp="1"/>
          </p:cNvSpPr>
          <p:nvPr/>
        </p:nvSpPr>
        <p:spPr>
          <a:xfrm>
            <a:off x="777240" y="5806440"/>
            <a:ext cx="10634472" cy="6583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marL="0" indent="0">
              <a:lnSpc>
                <a:spcPts val="1500"/>
              </a:lnSpc>
              <a:buNone/>
            </a:pPr>
            <a:r>
              <a:rPr sz="1150" b="1">
                <a:solidFill>
                  <a:srgbClr val="C98A2B"/>
                </a:solidFill>
                <a:latin typeface="Calibri"/>
                <a:ea typeface="Calibri"/>
                <a:cs typeface="Calibri"/>
              </a:rPr>
              <a:t>⚠ Shown honestly:  </a:t>
            </a:r>
            <a:r>
              <a:rPr sz="11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Kubernetes · Prometheus · Grafana are course topics but </a:t>
            </a:r>
            <a:r>
              <a:rPr sz="1150" b="1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not implemented</a:t>
            </a:r>
            <a:r>
              <a:rPr sz="1150">
                <a:solidFill>
                  <a:srgbClr val="0B1F3A"/>
                </a:solidFill>
                <a:latin typeface="Calibri"/>
                <a:ea typeface="Calibri"/>
                <a:cs typeface="Calibri"/>
              </a:rPr>
              <a:t> here — stated plainly, not hidden behind a technology logo wall.</a:t>
            </a:r>
          </a:p>
        </p:txBody>
      </p:sp>
      <p:pic>
        <p:nvPicPr>
          <p:cNvPr id="88" name="Grafik 87"/>
          <p:cNvPicPr>
            <a:picLocks noChangeAspect="1"/>
          </p:cNvPicPr>
          <p:nvPr/>
        </p:nvPicPr>
        <p:blipFill>
          <a:blip r:embed="rId8"/>
          <a:stretch/>
        </p:blipFill>
        <p:spPr>
          <a:xfrm>
            <a:off x="10474452" y="5093208"/>
            <a:ext cx="365760" cy="3657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9512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756</Words>
  <Application>Microsoft Macintosh PowerPoint</Application>
  <DocSecurity>0</DocSecurity>
  <PresentationFormat>Breitbild</PresentationFormat>
  <Paragraphs>141</Paragraphs>
  <Slides>6</Slides>
  <Notes>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6</vt:i4>
      </vt:variant>
    </vt:vector>
  </HeadingPairs>
  <TitlesOfParts>
    <vt:vector size="10" baseType="lpstr">
      <vt:lpstr>Arial</vt:lpstr>
      <vt:lpstr>Calibri</vt:lpstr>
      <vt:lpstr>Cambria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Matthias Köhler</cp:lastModifiedBy>
  <cp:revision>1</cp:revision>
  <dcterms:created xsi:type="dcterms:W3CDTF">2026-07-21T13:08:44Z</dcterms:created>
  <dcterms:modified xsi:type="dcterms:W3CDTF">2026-07-21T13:13:46Z</dcterms:modified>
</cp:coreProperties>
</file>