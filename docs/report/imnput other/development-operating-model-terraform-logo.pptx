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1b5cc9a1c44c72" /><Relationship Type="http://schemas.openxmlformats.org/officeDocument/2006/relationships/extended-properties" Target="/docProps/app.xml" Id="R9c9a936c334646f3" /><Relationship Type="http://schemas.openxmlformats.org/officeDocument/2006/relationships/officeDocument" Target="/ppt/presentation.xml" Id="R8a26b7594f6f41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75e4b2f3d74b5e"/>
  </p:sldMasterIdLst>
  <p:notesMasterIdLst>
    <p:notesMasterId xmlns:r="http://schemas.openxmlformats.org/officeDocument/2006/relationships" r:id="R82a9fb28b4f14c79"/>
  </p:notesMasterIdLst>
  <p:sldIdLst>
    <p:sldId xmlns:r="http://schemas.openxmlformats.org/officeDocument/2006/relationships" id="256" r:id="R97bf323d739e463c"/>
    <p:sldId xmlns:r="http://schemas.openxmlformats.org/officeDocument/2006/relationships" id="257" r:id="R9d343a4c24cb4586"/>
    <p:sldId xmlns:r="http://schemas.openxmlformats.org/officeDocument/2006/relationships" id="258" r:id="Ra4671f372b024a87"/>
    <p:sldId xmlns:r="http://schemas.openxmlformats.org/officeDocument/2006/relationships" id="259" r:id="Rb935d491ed9f4dca"/>
    <p:sldId xmlns:r="http://schemas.openxmlformats.org/officeDocument/2006/relationships" id="260" r:id="R09c529452bd84656"/>
    <p:sldId xmlns:r="http://schemas.openxmlformats.org/officeDocument/2006/relationships" id="261" r:id="Rdd64e4d8920f4e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b63e2e9389447c" /><Relationship Type="http://schemas.openxmlformats.org/officeDocument/2006/relationships/slideMaster" Target="/ppt/slideMasters/slideMaster1.xml" Id="Rf675e4b2f3d74b5e" /><Relationship Type="http://schemas.openxmlformats.org/officeDocument/2006/relationships/notesMaster" Target="/ppt/notesMasters/notesMaster1.xml" Id="R82a9fb28b4f14c79" /><Relationship Type="http://schemas.openxmlformats.org/officeDocument/2006/relationships/presProps" Target="/ppt/presProps.xml" Id="R095b5522265d4e55" /><Relationship Type="http://schemas.openxmlformats.org/officeDocument/2006/relationships/viewProps" Target="/ppt/viewProps.xml" Id="R301f8b1a55594bb2" /><Relationship Type="http://schemas.openxmlformats.org/officeDocument/2006/relationships/tableStyles" Target="/ppt/tableStyles.xml" Id="R0f2abba14b1b444f" /><Relationship Type="http://schemas.openxmlformats.org/officeDocument/2006/relationships/slide" Target="/ppt/slides/slide1.xml" Id="R97bf323d739e463c" /><Relationship Type="http://schemas.openxmlformats.org/officeDocument/2006/relationships/slide" Target="/ppt/slides/slide2.xml" Id="R9d343a4c24cb4586" /><Relationship Type="http://schemas.openxmlformats.org/officeDocument/2006/relationships/slide" Target="/ppt/slides/slide3.xml" Id="Ra4671f372b024a87" /><Relationship Type="http://schemas.openxmlformats.org/officeDocument/2006/relationships/slide" Target="/ppt/slides/slide4.xml" Id="Rb935d491ed9f4dca" /><Relationship Type="http://schemas.openxmlformats.org/officeDocument/2006/relationships/slide" Target="/ppt/slides/slide5.xml" Id="R09c529452bd84656" /><Relationship Type="http://schemas.openxmlformats.org/officeDocument/2006/relationships/slide" Target="/ppt/slides/slide6.xml" Id="Rdd64e4d8920f4e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d17f4bae7049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b3850cb42142f0" /><Relationship Type="http://schemas.openxmlformats.org/officeDocument/2006/relationships/notesMaster" Target="/ppt/notesMasters/notesMaster1.xml" Id="Rb6c3e9ba250b47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906d0a2243438d" /><Relationship Type="http://schemas.openxmlformats.org/officeDocument/2006/relationships/notesMaster" Target="/ppt/notesMasters/notesMaster1.xml" Id="Re463213729d0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6faeb790b246f0" /><Relationship Type="http://schemas.openxmlformats.org/officeDocument/2006/relationships/notesMaster" Target="/ppt/notesMasters/notesMaster1.xml" Id="Rec6d8d33b28846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711a36bf0b4cb1" /><Relationship Type="http://schemas.openxmlformats.org/officeDocument/2006/relationships/notesMaster" Target="/ppt/notesMasters/notesMaster1.xml" Id="R92282f8285b54d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fba7fb70244cbd" /><Relationship Type="http://schemas.openxmlformats.org/officeDocument/2006/relationships/notesMaster" Target="/ppt/notesMasters/notesMaster1.xml" Id="R9efbc34a46d341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fffb6a2a124a5f" /><Relationship Type="http://schemas.openxmlformats.org/officeDocument/2006/relationships/notesMaster" Target="/ppt/notesMasters/notesMaster1.xml" Id="Rbc3f1ba8fbfa4c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33c0e5f804e4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318f14785f4c86" /><Relationship Type="http://schemas.openxmlformats.org/officeDocument/2006/relationships/slideLayout" Target="/ppt/slideLayouts/slideLayout1.xml" Id="Rd6ea929a56414d3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ea929a56414d3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7e0f1e3b54484" /><Relationship Type="http://schemas.openxmlformats.org/officeDocument/2006/relationships/image" Target="/ppt/media/image.png" Id="Rc8aea9ddcc474b33" /><Relationship Type="http://schemas.openxmlformats.org/officeDocument/2006/relationships/image" Target="/ppt/media/image2.png" Id="Rf2280abb930a4358" /><Relationship Type="http://schemas.openxmlformats.org/officeDocument/2006/relationships/image" Target="/ppt/media/image3.png" Id="R9790f9a953134879" /><Relationship Type="http://schemas.openxmlformats.org/officeDocument/2006/relationships/image" Target="/ppt/media/image4.png" Id="R6de42046383a435f" /><Relationship Type="http://schemas.openxmlformats.org/officeDocument/2006/relationships/image" Target="/ppt/media/image5.png" Id="Rdc91d8a4686e465f" /><Relationship Type="http://schemas.openxmlformats.org/officeDocument/2006/relationships/notesSlide" Target="/ppt/notesSlides/notesSlide1.xml" Id="Rcb02bbc2f71642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4cd21d45148f7" /><Relationship Type="http://schemas.openxmlformats.org/officeDocument/2006/relationships/image" Target="/ppt/media/image6.png" Id="R24585f083fda4352" /><Relationship Type="http://schemas.openxmlformats.org/officeDocument/2006/relationships/notesSlide" Target="/ppt/notesSlides/notesSlide2.xml" Id="R366631fca0e14c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74b4211ba4d22" /><Relationship Type="http://schemas.openxmlformats.org/officeDocument/2006/relationships/image" Target="/ppt/media/image7.png" Id="R10500f6b69f34f51" /><Relationship Type="http://schemas.openxmlformats.org/officeDocument/2006/relationships/image" Target="/ppt/media/image8.png" Id="R6fce7eab9a1f46b5" /><Relationship Type="http://schemas.openxmlformats.org/officeDocument/2006/relationships/image" Target="/ppt/media/image9.png" Id="Rde888412c92f4391" /><Relationship Type="http://schemas.openxmlformats.org/officeDocument/2006/relationships/image" Target="/ppt/media/image10.png" Id="R6b26ef75292f4844" /><Relationship Type="http://schemas.openxmlformats.org/officeDocument/2006/relationships/notesSlide" Target="/ppt/notesSlides/notesSlide3.xml" Id="R92292c26b0bb48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a38756c56470f" /><Relationship Type="http://schemas.openxmlformats.org/officeDocument/2006/relationships/image" Target="/ppt/media/image11.png" Id="R0081e3abb73840dc" /><Relationship Type="http://schemas.openxmlformats.org/officeDocument/2006/relationships/image" Target="/ppt/media/image12.png" Id="R77bcf4de76a240b1" /><Relationship Type="http://schemas.openxmlformats.org/officeDocument/2006/relationships/image" Target="/ppt/media/image13.png" Id="R1ed89c91e8f54ab5" /><Relationship Type="http://schemas.openxmlformats.org/officeDocument/2006/relationships/image" Target="/ppt/media/image14.png" Id="R6993bab4d123400a" /><Relationship Type="http://schemas.openxmlformats.org/officeDocument/2006/relationships/notesSlide" Target="/ppt/notesSlides/notesSlide4.xml" Id="Rf1f51d7530e742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4afe16880472b" /><Relationship Type="http://schemas.openxmlformats.org/officeDocument/2006/relationships/notesSlide" Target="/ppt/notesSlides/notesSlide5.xml" Id="R49555be3376f4b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dd8c578fa40d0" /><Relationship Type="http://schemas.openxmlformats.org/officeDocument/2006/relationships/image" Target="/ppt/media/image15.png" Id="Re929a747c8fa49ed" /><Relationship Type="http://schemas.openxmlformats.org/officeDocument/2006/relationships/image" Target="/ppt/media/image16.png" Id="Ra09b383cf3f945cd" /><Relationship Type="http://schemas.openxmlformats.org/officeDocument/2006/relationships/image" Target="/ppt/media/image17.png" Id="Ra482777fb0954c11" /><Relationship Type="http://schemas.openxmlformats.org/officeDocument/2006/relationships/image" Target="/ppt/media/image18.png" Id="R8607d1d7691f487e" /><Relationship Type="http://schemas.openxmlformats.org/officeDocument/2006/relationships/image" Target="/ppt/media/image19.png" Id="Rfdab7a2641554204" /><Relationship Type="http://schemas.openxmlformats.org/officeDocument/2006/relationships/image" Target="/ppt/media/image20.png" Id="Rf4361225c9534fe7" /><Relationship Type="http://schemas.openxmlformats.org/officeDocument/2006/relationships/notesSlide" Target="/ppt/notesSlides/notesSlide6.xml" Id="R9c0b914eb84648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7A88C6-4710-4D92-AEAC-BA7A97A3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E8FB0"/>
                </a:solidFill>
                <a:latin typeface="Calibri"/>
                <a:ea typeface="Calibri"/>
                <a:cs typeface="Calibri"/>
              </a:rPr>
              <a:t>OUR WORKING PRINCIPLE · DEVELOPMENT MODEL + OPERATING MODEL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0A07BA-14B1-43E2-AC20-75986BD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Everything as Code — One Source of Truth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52D60D-1A25-419E-9F2B-374E4A63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11091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2E8FB0"/>
                </a:solidFill>
                <a:latin typeface="Calibri"/>
                <a:ea typeface="Calibri"/>
                <a:cs typeface="Calibri"/>
              </a:rPr>
              <a:t>From idea to running data product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CF2443B-F5F9-49F4-A361-173DA08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91672" cy="1298448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5B4FA6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5B6ACE-B31C-4B07-8C5F-9003B5B8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7568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5B4FA6"/>
                </a:solidFill>
                <a:latin typeface="Calibri"/>
                <a:ea typeface="Calibri"/>
                <a:cs typeface="Calibri"/>
              </a:rPr>
              <a:t>DEVELOPMENT MODEL · GITHUB SYSTEM OF RECORD</a:t>
            </a:r>
          </a:p>
        </p:txBody>
      </p:sp>
      <p:pic>
        <p:nvPicPr>
          <p:cNvPr id="6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ea9ddcc474b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664" y="2057400"/>
            <a:ext cx="1360768" cy="310896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8A50738-3137-4096-8840-8430C63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32888"/>
            <a:ext cx="131543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0C015E-FB21-45D6-93CE-450381D6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532888"/>
            <a:ext cx="12422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Project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34E4F64-5502-43AE-97C8-961F716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386" y="2697480"/>
            <a:ext cx="210312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FA6"/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AD48ADD-DC3D-4320-B279-068F4DDD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414" y="2532888"/>
            <a:ext cx="131543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3E1B37F-A5D0-49A1-BB7F-CA1CF780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90" y="2532888"/>
            <a:ext cx="12422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Issue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C2CC64F-EFAF-4227-AAE6-FB104BB7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559" y="2697480"/>
            <a:ext cx="210312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FA6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0C19ADD-ACAE-4900-B263-5DEF65B4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587" y="2532888"/>
            <a:ext cx="131543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D0250B7-3E8A-44E8-855D-B9C0D042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163" y="2532888"/>
            <a:ext cx="12422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Branch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8C520A5-EDA8-4E53-9D34-48446042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733" y="2697480"/>
            <a:ext cx="210312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FA6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9373958-55C3-4385-818B-02066D97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761" y="2532888"/>
            <a:ext cx="131543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0687E05-7F0B-4D3A-8512-E136BD23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337" y="2532888"/>
            <a:ext cx="12422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App-code PR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4DFC460-1C4E-4E8E-A53B-D059BEA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5907" y="2697480"/>
            <a:ext cx="210312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FA6"/>
          </a:solidFill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7B1E317-4846-4DB0-B9A8-F0D3106C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9935" y="2532888"/>
            <a:ext cx="131543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1BC86DA-FE41-4327-A645-E5506176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511" y="2532888"/>
            <a:ext cx="12422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Q preview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C26775A-8B5B-494B-8F36-3F14ED0C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081" y="2697480"/>
            <a:ext cx="210312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FA6"/>
          </a:solidFill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B62EEDC-F59D-4691-81DF-62438F3E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109" y="2532888"/>
            <a:ext cx="131543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F02DAF-7CD1-4F60-A3EB-210C2CA3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685" y="2532888"/>
            <a:ext cx="12422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87D9262E-521D-471C-BD9E-D2C9DA9F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254" y="2697480"/>
            <a:ext cx="210312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FA6"/>
          </a:solidFill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13BB5C7-20C0-4746-9EDE-141C871D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282" y="2532888"/>
            <a:ext cx="131543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19050">
            <a:solidFill>
              <a:srgbClr val="0B1F3A"/>
            </a:solidFill>
            <a:prstDash val="solid"/>
          </a:ln>
          <a:effectLst xmlns:a="http://schemas.openxmlformats.org/drawingml/2006/main">
            <a:outerShdw blurRad="76200" dist="25400" dir="5400000" sx="100000" sy="100000" kx="0" ky="0" algn="bl" rotWithShape="0">
              <a:srgbClr val="1A2B3D">
                <a:alpha val="16000"/>
              </a:srgbClr>
            </a:outerShdw>
          </a:effectLst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ECCCED1-407C-431C-BC4C-F44B316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858" y="2532888"/>
            <a:ext cx="12422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5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main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EF587B2-B6B4-4870-8EBC-DDF03C22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Secrets &amp; live telemetry stay outside Git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ABADD3A-F021-42D4-B956-1775A2B7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7588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OPERATING MODEL · FROM MAIN TO A RUNNING SYSTEM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44C355F-A86A-4993-AF17-296876DC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041648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C187660-B7FA-49E1-A9D1-1DCC4FC9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986784"/>
            <a:ext cx="10725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selected PR  →  Actions / GHCR  →  Q  via Portainer API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CE00565-3455-4234-9628-FF774EF0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35254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40F781D0-127D-4DB8-8438-548154B0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97680"/>
            <a:ext cx="10725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main  →  Actions  →  GHCR : latest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B666A7A2-06B3-4FD4-B317-97AFA30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66344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DA4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D4800736-8614-4B2C-9EB3-FFB791B2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08576"/>
            <a:ext cx="10725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production  ←  main config via Portainer  ·  GHCR : latest via Docker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69CFD1DF-9E08-46D8-9D57-12BBA0A7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0"/>
            <a:ext cx="11091672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304E879-56B3-4C64-8523-67D1C38E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57216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B8A5A"/>
                </a:solidFill>
                <a:latin typeface="Calibri"/>
                <a:ea typeface="Calibri"/>
                <a:cs typeface="Calibri"/>
              </a:rPr>
              <a:t>RUNNING DATA PRODUCT</a:t>
            </a:r>
          </a:p>
        </p:txBody>
      </p:sp>
      <p:pic>
        <p:nvPicPr>
          <p:cNvPr id="9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80abb930a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5506738"/>
            <a:ext cx="420624" cy="471389"/>
          </a:xfrm>
          <a:prstGeom xmlns:a="http://schemas.openxmlformats.org/drawingml/2006/main" prst="rect">
            <a:avLst/>
          </a:prstGeom>
        </p:spPr>
      </p:pic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19E74D22-2774-43C1-9C03-891603DB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86400"/>
            <a:ext cx="2514600" cy="512064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1B8A5A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C2EC4A67-2A58-45BE-8AE0-1DD98C49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5486400"/>
            <a:ext cx="24414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1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MongoDB Atlas  ·  Bronze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A8D84463-4F25-4BCC-A6FD-A1039E9F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5678424"/>
            <a:ext cx="365760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8A5A"/>
          </a:solidFill>
        </p:spPr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269CCF4B-2C07-47F6-B401-DD9664D5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86400"/>
            <a:ext cx="1371600" cy="512064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12700">
            <a:solidFill>
              <a:srgbClr val="0B1F3A"/>
            </a:solidFill>
            <a:prstDash val="solid"/>
          </a:ln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046391D0-BE94-48B2-B5E2-7EDF616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5486400"/>
            <a:ext cx="12984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10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ETL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01D44651-A8D7-4412-83DA-5B33A1F9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678424"/>
            <a:ext cx="365760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8A5A"/>
          </a:solidFill>
        </p:spPr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EA5E7CA-601F-4677-BEC6-7357AAE4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86400"/>
            <a:ext cx="2697480" cy="512064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1B8A5A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34708040-6365-4389-88D0-F67BFED1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5486400"/>
            <a:ext cx="26243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1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Supabase Postgres  ·  Silver</a:t>
            </a:r>
          </a:p>
        </p:txBody>
      </p:sp>
      <p:pic>
        <p:nvPicPr>
          <p:cNvPr id="10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0f9a95313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5525443"/>
            <a:ext cx="420624" cy="433977"/>
          </a:xfrm>
          <a:prstGeom xmlns:a="http://schemas.openxmlformats.org/drawingml/2006/main" prst="rect">
            <a:avLst/>
          </a:prstGeom>
        </p:spPr>
      </p:pic>
      <p:sp>
        <p:nvSpPr>
          <p:cNvPr id="48" name="Shape 43">
            <a:extLst xmlns:a="http://schemas.openxmlformats.org/drawingml/2006/main">
              <a:ext uri="{FF2B5EF4-FFF2-40B4-BE49-F238E27FC236}">
                <a16:creationId xmlns:a16="http://schemas.microsoft.com/office/drawing/2014/main" id="{CD807D8A-EEEC-40F3-9E01-BF502AD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30368"/>
            <a:ext cx="0" cy="786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pic>
        <p:nvPicPr>
          <p:cNvPr id="10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42046383a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2368" y="5303520"/>
            <a:ext cx="366323" cy="219456"/>
          </a:xfrm>
          <a:prstGeom xmlns:a="http://schemas.openxmlformats.org/drawingml/2006/main" prst="rect">
            <a:avLst/>
          </a:prstGeom>
        </p:spPr>
      </p:pic>
      <p:sp>
        <p:nvSpPr>
          <p:cNvPr id="50" name="Text 44">
            <a:extLst xmlns:a="http://schemas.openxmlformats.org/drawingml/2006/main">
              <a:ext uri="{FF2B5EF4-FFF2-40B4-BE49-F238E27FC236}">
                <a16:creationId xmlns:a16="http://schemas.microsoft.com/office/drawing/2014/main" id="{5D113A1F-E9BC-4D50-B333-325208E6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285232"/>
            <a:ext cx="1143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00"/>
              </a:lnSpc>
              <a:buNone/>
            </a:pPr>
            <a:r>
              <a:rPr sz="8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Terraform → Q infra</a:t>
            </a:r>
          </a:p>
        </p:txBody>
      </p:sp>
      <p:pic>
        <p:nvPicPr>
          <p:cNvPr id="10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1d8a4686e46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2368" y="5687568"/>
            <a:ext cx="594993" cy="201168"/>
          </a:xfrm>
          <a:prstGeom xmlns:a="http://schemas.openxmlformats.org/drawingml/2006/main" prst="rect">
            <a:avLst/>
          </a:prstGeom>
        </p:spPr>
      </p:pic>
      <p:sp>
        <p:nvSpPr>
          <p:cNvPr id="52" name="Text 45">
            <a:extLst xmlns:a="http://schemas.openxmlformats.org/drawingml/2006/main">
              <a:ext uri="{FF2B5EF4-FFF2-40B4-BE49-F238E27FC236}">
                <a16:creationId xmlns:a16="http://schemas.microsoft.com/office/drawing/2014/main" id="{0C21C334-E45D-4B21-83ED-4C03DCF3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669280"/>
            <a:ext cx="1143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Tunnel → edge</a:t>
            </a:r>
          </a:p>
        </p:txBody>
      </p:sp>
      <p:sp>
        <p:nvSpPr>
          <p:cNvPr id="53" name="Text 46">
            <a:extLst xmlns:a="http://schemas.openxmlformats.org/drawingml/2006/main">
              <a:ext uri="{FF2B5EF4-FFF2-40B4-BE49-F238E27FC236}">
                <a16:creationId xmlns:a16="http://schemas.microsoft.com/office/drawing/2014/main" id="{B564E803-BE8B-460F-8017-7A33F2C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11091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Plan</a:t>
            </a:r>
            <a:r>
              <a:rPr sz="125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125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provision</a:t>
            </a:r>
            <a:r>
              <a:rPr sz="125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package</a:t>
            </a:r>
            <a:r>
              <a:rPr sz="125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deploy</a:t>
            </a:r>
            <a:r>
              <a:rPr sz="125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operate</a:t>
            </a:r>
          </a:p>
        </p:txBody>
      </p:sp>
    </p:spTree>
    <p:extLst>
      <p:ext uri="{BB962C8B-B14F-4D97-AF65-F5344CB8AC3E}">
        <p14:creationId xmlns:p14="http://schemas.microsoft.com/office/powerpoint/2010/main" val="940004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725E5C-5A02-4125-AD83-6A948F86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E8FB0"/>
                </a:solidFill>
                <a:latin typeface="Calibri"/>
                <a:ea typeface="Calibri"/>
                <a:cs typeface="Calibri"/>
              </a:rPr>
              <a:t>LIGHTWEIGHT PROJECT MANAGEMENT · ENGINEERING CONTROL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6A9F21-2264-424F-9299-82D9C616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From idea to reviewed change</a:t>
            </a:r>
          </a:p>
        </p:txBody>
      </p:sp>
      <p:pic>
        <p:nvPicPr>
          <p:cNvPr id="7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85f083fda4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6483" y="457200"/>
            <a:ext cx="1680949" cy="384048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6BF81E2-ED9D-4956-AA24-84F3EC18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4663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DE92AB2-2116-4BB2-AA06-344DF26B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Public GitHub Project  ·  Kanban + Roadmap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73E213B-681E-4B4E-963B-517EE187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6720840" cy="370332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12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8EF7B15-4757-46E0-A4A1-42B7B72E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20824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AIRLINE PROJECT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15518F7-7ACD-43F7-8FF8-227E71C4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020824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Kanban</a:t>
            </a:r>
            <a:r>
              <a:rPr sz="1050">
                <a:solidFill>
                  <a:srgbClr val="9FB2C6"/>
                </a:solidFill>
                <a:latin typeface="Calibri"/>
                <a:ea typeface="Calibri"/>
                <a:cs typeface="Calibri"/>
              </a:rPr>
              <a:t>   Roadmap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264D6BD-F4EC-4D9C-97A5-8BD28B54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23160"/>
            <a:ext cx="1428750" cy="2971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1F5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762EC08-3116-483A-A623-481A38D5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514600"/>
            <a:ext cx="120929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Ideas</a:t>
            </a:r>
            <a:r>
              <a:rPr sz="1000" b="1">
                <a:solidFill>
                  <a:srgbClr val="9FB2C6"/>
                </a:solidFill>
                <a:latin typeface="Calibri"/>
                <a:ea typeface="Calibri"/>
                <a:cs typeface="Calibri"/>
              </a:rPr>
              <a:t>   2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323FC1-4882-4D29-93A1-E8DABDF0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843784"/>
            <a:ext cx="1209294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D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5C44E74-693C-4CD3-948A-2C0061FF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2666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2C6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23049E6-0088-4A9B-8F81-2AE3036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3784"/>
            <a:ext cx="95326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00"/>
              </a:lnSpc>
              <a:buNone/>
            </a:pPr>
            <a:r>
              <a:rPr sz="88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Redshift history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A86699C-8957-4A4A-BBA2-4E79B3DE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410712"/>
            <a:ext cx="1209294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D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CC4A98E-3C35-4FBE-87AA-11226DFF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59359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2C6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346D5FA-E38E-4562-BDAC-A7B8593C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10712"/>
            <a:ext cx="95326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00"/>
              </a:lnSpc>
              <a:buNone/>
            </a:pPr>
            <a:r>
              <a:rPr sz="88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Metrics + alerts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251920A-3112-40DD-9C32-6FB45B08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2423160"/>
            <a:ext cx="1428750" cy="2971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B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079016C-FD1E-461C-AE53-77FBDB12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598" y="2514600"/>
            <a:ext cx="120929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Todo</a:t>
            </a:r>
            <a:r>
              <a:rPr sz="1000" b="1">
                <a:solidFill>
                  <a:srgbClr val="9FB2C6"/>
                </a:solidFill>
                <a:latin typeface="Calibri"/>
                <a:ea typeface="Calibri"/>
                <a:cs typeface="Calibri"/>
              </a:rPr>
              <a:t>   2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EB9D8AD-DF86-4A6E-911F-B77C555D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598" y="2843784"/>
            <a:ext cx="1209294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D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3CC4F58-3649-4B05-9803-33ABB01A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614" y="302666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2C6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ED38757-5ED7-4B4F-BA24-5B15FBD1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2843784"/>
            <a:ext cx="95326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00"/>
              </a:lnSpc>
              <a:buNone/>
            </a:pPr>
            <a:r>
              <a:rPr sz="88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Isolate Q Mongo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DE53005-03A5-425E-8708-7CDCCA73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598" y="3410712"/>
            <a:ext cx="1209294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D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A083DF4-B849-4A81-9140-F8F0E0CE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614" y="359359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2C6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8034E49-C142-4A93-8DC0-EC53E125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410712"/>
            <a:ext cx="95326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00"/>
              </a:lnSpc>
              <a:buNone/>
            </a:pPr>
            <a:r>
              <a:rPr sz="88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Promote digest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13AFF79-7BEE-4D78-B6D7-84B709F8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3160"/>
            <a:ext cx="1428750" cy="2971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DF3E3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BB8A08B-3C91-4A2F-A8D4-66D3E5B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228" y="2514600"/>
            <a:ext cx="120929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In Progress</a:t>
            </a:r>
            <a:r>
              <a:rPr sz="1000" b="1">
                <a:solidFill>
                  <a:srgbClr val="9FB2C6"/>
                </a:solidFill>
                <a:latin typeface="Calibri"/>
                <a:ea typeface="Calibri"/>
                <a:cs typeface="Calibri"/>
              </a:rPr>
              <a:t>   1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4778CC9-10FE-4C98-B0F0-1949C285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228" y="2843784"/>
            <a:ext cx="1209294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D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750E146-4ADA-452F-B2B5-FFC64824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244" y="302666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B2C6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120D768-16A4-4DB5-9D2A-1606BA80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2843784"/>
            <a:ext cx="95326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00"/>
              </a:lnSpc>
              <a:buNone/>
            </a:pPr>
            <a:r>
              <a:rPr sz="88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Cloudflare → IaC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6B5CADF-7D8C-4EFD-B78B-D4FD1D3F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130" y="2423160"/>
            <a:ext cx="1428750" cy="2971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6EF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EE486D8B-8C37-4D7A-A8D1-41BB2408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858" y="2514600"/>
            <a:ext cx="120929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Done</a:t>
            </a:r>
            <a:r>
              <a:rPr sz="1000" b="1">
                <a:solidFill>
                  <a:srgbClr val="9FB2C6"/>
                </a:solidFill>
                <a:latin typeface="Calibri"/>
                <a:ea typeface="Calibri"/>
                <a:cs typeface="Calibri"/>
              </a:rPr>
              <a:t>   3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BB81F9C-E454-41BA-92AE-4CD525E6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858" y="2843784"/>
            <a:ext cx="1209294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FB0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069922CB-0FDB-4ADC-A807-AB0FEE2C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874" y="302666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A5A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D6E203DA-6148-402F-9B06-BECA1D48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890" y="2843784"/>
            <a:ext cx="95326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00"/>
              </a:lnSpc>
              <a:buNone/>
            </a:pPr>
            <a:r>
              <a:rPr sz="88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#15 fallback source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D07226DD-C469-44C6-A8D1-561E0477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858" y="3410712"/>
            <a:ext cx="1209294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D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5369000A-1E9E-485C-871A-3A026E81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874" y="359359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A5A"/>
          </a:solidFill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B115DE15-B63F-44C9-9C29-0C84B86F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890" y="3410712"/>
            <a:ext cx="95326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00"/>
              </a:lnSpc>
              <a:buNone/>
            </a:pPr>
            <a:r>
              <a:rPr sz="88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Cloudflare Tunnel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8B7B1256-0DC5-4B8F-8A00-BD2756B0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858" y="3977640"/>
            <a:ext cx="1209294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D"/>
            </a:solidFill>
            <a:prstDash val="solid"/>
          </a:ln>
          <a:effectLst xmlns:a="http://schemas.openxmlformats.org/drawingml/2006/main">
            <a:outerShdw blurRad="38100" dist="127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B7C6578D-A25B-49D5-8AF7-81245B3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874" y="416052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A5A"/>
          </a:solidFill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0E918588-095B-4A91-8B9E-A49F702E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890" y="3977640"/>
            <a:ext cx="95326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00"/>
              </a:lnSpc>
              <a:buNone/>
            </a:pPr>
            <a:r>
              <a:rPr sz="88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Q environment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64B4116D-B422-4334-9F3B-47225BF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74520"/>
            <a:ext cx="411480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12000"/>
              </a:srgbClr>
            </a:outerShdw>
          </a:effectLst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93037D4B-C986-4A8A-94DA-3C9CCD5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29968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5B4FA6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383010CA-F268-4E54-9B37-4201D5DA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6771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Board-to-change traceability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08CE422C-61F8-44D4-BA81-E9F72F29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61488"/>
            <a:ext cx="1051560" cy="402336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939A2612-BAF4-4514-AEBD-55ED96DA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2761488"/>
            <a:ext cx="97840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Issue #15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219A36-8932-40C0-AB2B-545B5278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898648"/>
            <a:ext cx="274320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FA6"/>
          </a:solidFill>
        </p:spPr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E094BD21-809C-471B-B6F8-EF598962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1488"/>
            <a:ext cx="1005840" cy="402336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A1C8606-2A54-4BDC-ABD7-6FFE7611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2761488"/>
            <a:ext cx="93268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 #20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03BE7D6E-CBFD-4760-85A2-276114F2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2898648"/>
            <a:ext cx="274320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4FA6"/>
          </a:solidFill>
        </p:spPr>
      </p:sp>
      <p:sp>
        <p:nvSpPr>
          <p:cNvPr id="51" name="Shape 48">
            <a:extLst xmlns:a="http://schemas.openxmlformats.org/drawingml/2006/main">
              <a:ext uri="{FF2B5EF4-FFF2-40B4-BE49-F238E27FC236}">
                <a16:creationId xmlns:a16="http://schemas.microsoft.com/office/drawing/2014/main" id="{D4AB450A-D589-4318-85D6-ED53F3AF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2761488"/>
            <a:ext cx="960120" cy="402336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12700">
            <a:solidFill>
              <a:srgbClr val="1B8A5A"/>
            </a:solidFill>
            <a:prstDash val="solid"/>
          </a:ln>
        </p:spPr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9AC14999-F6CE-414D-A025-7ED5C833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456" y="2761488"/>
            <a:ext cx="88696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 b="1">
                <a:solidFill>
                  <a:srgbClr val="1B8A5A"/>
                </a:solidFill>
                <a:latin typeface="Calibri"/>
                <a:ea typeface="Calibri"/>
                <a:cs typeface="Calibri"/>
              </a:rPr>
              <a:t>Done</a:t>
            </a:r>
          </a:p>
        </p:txBody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1DD243C9-D7C9-4303-9CA6-D48977C6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6976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assignment · Todo → In Progress → Done · linked, merged to main</a:t>
            </a:r>
          </a:p>
        </p:txBody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8EBF2F71-E83E-4193-B65F-1ABDB54D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411480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F3A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12000"/>
              </a:srgbClr>
            </a:outerShdw>
          </a:effectLst>
        </p:spPr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1BCD8A3D-0ECF-4A9F-AAD1-2DE16AFC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95928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E5E05FD2-BA1D-4A04-BCC8-8B15D4E2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3367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Second-person review is team policy (ADR 012)</a:t>
            </a:r>
          </a:p>
        </p:txBody>
      </p:sp>
      <p:sp>
        <p:nvSpPr>
          <p:cNvPr id="57" name="Shape 54">
            <a:extLst xmlns:a="http://schemas.openxmlformats.org/drawingml/2006/main">
              <a:ext uri="{FF2B5EF4-FFF2-40B4-BE49-F238E27FC236}">
                <a16:creationId xmlns:a16="http://schemas.microsoft.com/office/drawing/2014/main" id="{00BB1C32-CB5D-4FC6-9DCD-739FE81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27448"/>
            <a:ext cx="914400" cy="402336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C3D5A"/>
          </a:solidFill>
          <a:ln xmlns:a="http://schemas.openxmlformats.org/drawingml/2006/main" w="12700">
            <a:solidFill>
              <a:srgbClr val="1C3D5A"/>
            </a:solidFill>
            <a:prstDash val="solid"/>
          </a:ln>
        </p:spPr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D7118268-ADA0-4C0E-91A5-0C452665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4727448"/>
            <a:ext cx="8412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 #9</a:t>
            </a:r>
          </a:p>
        </p:txBody>
      </p:sp>
      <p:sp>
        <p:nvSpPr>
          <p:cNvPr id="59" name="Shape 56">
            <a:extLst xmlns:a="http://schemas.openxmlformats.org/drawingml/2006/main">
              <a:ext uri="{FF2B5EF4-FFF2-40B4-BE49-F238E27FC236}">
                <a16:creationId xmlns:a16="http://schemas.microsoft.com/office/drawing/2014/main" id="{308878AA-1EB5-450C-9FC8-6733027B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4864608"/>
            <a:ext cx="201168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9F0"/>
          </a:solidFill>
        </p:spPr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E1F7A8C4-2EC1-403A-AF3C-EB91A4EA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4" y="4727448"/>
            <a:ext cx="1097280" cy="402336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3A2E1A"/>
          </a:solidFill>
          <a:ln xmlns:a="http://schemas.openxmlformats.org/drawingml/2006/main" w="12700">
            <a:solidFill>
              <a:srgbClr val="F2A93B"/>
            </a:solidFill>
            <a:prstDash val="solid"/>
          </a:ln>
        </p:spPr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1563C354-7890-43C4-8D82-3D80B27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727448"/>
            <a:ext cx="102412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950"/>
              </a:lnSpc>
              <a:buNone/>
            </a:pPr>
            <a:r>
              <a:rPr sz="850" b="1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changes</a:t>
            </a:r>
          </a:p>
          <a:p xmlns:a="http://schemas.openxmlformats.org/drawingml/2006/main">
            <a:pPr marL="0" indent="0" algn="ctr">
              <a:lnSpc>
                <a:spcPts val="950"/>
              </a:lnSpc>
              <a:buNone/>
            </a:pPr>
            <a:r>
              <a:rPr sz="850" b="1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requested</a:t>
            </a:r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9C2D08FD-CC55-4390-B589-89BC9047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4864608"/>
            <a:ext cx="201168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9F0"/>
          </a:solidFill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013E075F-9EF9-4D87-992F-E8EEB53F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4727448"/>
            <a:ext cx="868680" cy="402336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6332A"/>
          </a:solidFill>
          <a:ln xmlns:a="http://schemas.openxmlformats.org/drawingml/2006/main" w="12700">
            <a:solidFill>
              <a:srgbClr val="1B8A5A"/>
            </a:solidFill>
            <a:prstDash val="solid"/>
          </a:ln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4FBD9D72-AC40-418B-8573-EA21D1A5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4727448"/>
            <a:ext cx="79552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00" b="1">
                <a:solidFill>
                  <a:srgbClr val="6FD0A0"/>
                </a:solidFill>
                <a:latin typeface="Calibri"/>
                <a:ea typeface="Calibri"/>
                <a:cs typeface="Calibri"/>
              </a:rPr>
              <a:t>approved</a:t>
            </a:r>
          </a:p>
        </p:txBody>
      </p:sp>
      <p:sp>
        <p:nvSpPr>
          <p:cNvPr id="65" name="Shape 62">
            <a:extLst xmlns:a="http://schemas.openxmlformats.org/drawingml/2006/main">
              <a:ext uri="{FF2B5EF4-FFF2-40B4-BE49-F238E27FC236}">
                <a16:creationId xmlns:a16="http://schemas.microsoft.com/office/drawing/2014/main" id="{A04576B3-495E-4C7B-9451-92B45495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536" y="4864608"/>
            <a:ext cx="164592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9F0"/>
          </a:solidFill>
        </p:spPr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735D9605-DB1F-40D2-AFC6-F63A7DBC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416" y="4727448"/>
            <a:ext cx="100584" cy="402336"/>
          </a:xfrm>
          <a:prstGeom xmlns:a="http://schemas.openxmlformats.org/drawingml/2006/main" prst="roundRect">
            <a:avLst>
              <a:gd name="adj" fmla="val 90909"/>
            </a:avLst>
          </a:prstGeom>
          <a:solidFill xmlns:a="http://schemas.openxmlformats.org/drawingml/2006/main">
            <a:srgbClr val="4CC9F0"/>
          </a:solidFill>
          <a:ln xmlns:a="http://schemas.openxmlformats.org/drawingml/2006/main" w="12700">
            <a:solidFill>
              <a:srgbClr val="4CC9F0"/>
            </a:solidFill>
            <a:prstDash val="solid"/>
          </a:ln>
        </p:spPr>
      </p:sp>
      <p:sp>
        <p:nvSpPr>
          <p:cNvPr id="67" name="Text 64">
            <a:extLst xmlns:a="http://schemas.openxmlformats.org/drawingml/2006/main">
              <a:ext uri="{FF2B5EF4-FFF2-40B4-BE49-F238E27FC236}">
                <a16:creationId xmlns:a16="http://schemas.microsoft.com/office/drawing/2014/main" id="{728DE7F8-68BB-4BA5-A362-D988394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4727448"/>
            <a:ext cx="2743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</a:p>
        </p:txBody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E9AA4D05-81A5-4099-866D-FC824616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02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9FB2C6"/>
                </a:solidFill>
                <a:latin typeface="Calibri"/>
                <a:ea typeface="Calibri"/>
                <a:cs typeface="Calibri"/>
              </a:rPr>
              <a:t>changes requested → corrected → approved → merged</a:t>
            </a:r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9D7B4580-9CA6-452A-A7E3-56737CD3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6720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Visible work  →  linked change  →  reviewed merge</a:t>
            </a:r>
          </a:p>
        </p:txBody>
      </p:sp>
    </p:spTree>
    <p:extLst>
      <p:ext uri="{BB962C8B-B14F-4D97-AF65-F5344CB8AC3E}">
        <p14:creationId xmlns:p14="http://schemas.microsoft.com/office/powerpoint/2010/main" val="266841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53C694-46C3-4D5A-A15C-71714684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E8FB0"/>
                </a:solidFill>
                <a:latin typeface="Calibri"/>
                <a:ea typeface="Calibri"/>
                <a:cs typeface="Calibri"/>
              </a:rPr>
              <a:t>THE DELIVERY FLOW · CI · CD · GIT-DRIVEN OPS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79ECA9-D3D6-4531-B21B-9D5A1013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Application-code PRs become running Q previews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CC59E00-595F-4826-8D7F-601B61E7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F3A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8E42DD-0D5D-4049-8E28-B132A5C3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CI</a:t>
            </a:r>
            <a:r>
              <a:rPr sz="1050">
                <a:solidFill>
                  <a:srgbClr val="9FB2C6"/>
                </a:solidFill>
                <a:latin typeface="Calibri"/>
                <a:ea typeface="Calibri"/>
                <a:cs typeface="Calibri"/>
              </a:rPr>
              <a:t>   build &amp; publish container images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8FEB7A9-5DFF-49A3-B61C-AA3E4183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245287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C3D5A"/>
          </a:solidFill>
          <a:ln xmlns:a="http://schemas.openxmlformats.org/drawingml/2006/main" w="12700">
            <a:solidFill>
              <a:srgbClr val="2E5A7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2F9A630-4A99-428C-90F7-1E367CAE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828800"/>
            <a:ext cx="237972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 branch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F3DE7D-0A0F-4BD4-9D42-6E447CE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406" y="1993392"/>
            <a:ext cx="237744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9F0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4561EEA-4936-4360-94B1-3CF12217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438" y="1828800"/>
            <a:ext cx="245287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C3D5A"/>
          </a:solidFill>
          <a:ln xmlns:a="http://schemas.openxmlformats.org/drawingml/2006/main" w="12700">
            <a:solidFill>
              <a:srgbClr val="2E5A7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6B67A45-FA79-4B94-BBE4-C68DC805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014" y="1828800"/>
            <a:ext cx="237972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 · app paths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528CD5A-CD81-40C3-83EA-C0C6FCFF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604" y="1993392"/>
            <a:ext cx="237744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9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A6B85F7-A19A-408C-9B46-23D2AF64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636" y="1828800"/>
            <a:ext cx="245287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C3D5A"/>
          </a:solidFill>
          <a:ln xmlns:a="http://schemas.openxmlformats.org/drawingml/2006/main" w="12700">
            <a:solidFill>
              <a:srgbClr val="2E5A7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3B4C8B7-62CE-4B39-8465-AF28557B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212" y="1828800"/>
            <a:ext cx="237972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Actions build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3520DB2-E31A-473B-9CF1-5DB34BD3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802" y="1993392"/>
            <a:ext cx="237744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9F0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9FC1DB-22F9-4053-A20F-34EB3D3C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834" y="1828800"/>
            <a:ext cx="2452878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C3D5A"/>
          </a:solidFill>
          <a:ln xmlns:a="http://schemas.openxmlformats.org/drawingml/2006/main" w="12700">
            <a:solidFill>
              <a:srgbClr val="2E5A7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2AE953E-9322-461A-A787-AD3776BF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1828800"/>
            <a:ext cx="237972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GHCR : pr-N + sha-*</a:t>
            </a:r>
          </a:p>
        </p:txBody>
      </p:sp>
      <p:pic>
        <p:nvPicPr>
          <p:cNvPr id="7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00f6b69f34f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3533" y="1481328"/>
            <a:ext cx="1040587" cy="237744"/>
          </a:xfrm>
          <a:prstGeom xmlns:a="http://schemas.openxmlformats.org/drawingml/2006/main" prst="rect">
            <a:avLst/>
          </a:prstGeom>
        </p:spPr>
      </p:pic>
      <p:pic>
        <p:nvPicPr>
          <p:cNvPr id="7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e7eab9a1f46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2273" y="1481328"/>
            <a:ext cx="1109167" cy="237744"/>
          </a:xfrm>
          <a:prstGeom xmlns:a="http://schemas.openxmlformats.org/drawingml/2006/main" prst="rect">
            <a:avLst/>
          </a:prstGeom>
        </p:spPr>
      </p:pic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B3A5416-DE16-4A6F-BB1F-DC931B5D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11091672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BF1DE"/>
          </a:solidFill>
          <a:ln xmlns:a="http://schemas.openxmlformats.org/drawingml/2006/main" w="12700">
            <a:solidFill>
              <a:srgbClr val="F2A93B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6BEFFB6-9570-4F8C-B0A9-F8D8DACB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C98A2B"/>
                </a:solidFill>
                <a:latin typeface="Calibri"/>
                <a:ea typeface="Calibri"/>
                <a:cs typeface="Calibri"/>
              </a:rPr>
              <a:t>CD</a:t>
            </a:r>
            <a:r>
              <a:rPr sz="10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   API-triggered Q deployment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853999C-6595-49C1-9274-3CBEFEA5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19272"/>
            <a:ext cx="1623060" cy="420624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A93B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DBFDFCF2-47EA-4EC6-9FB5-E0972B6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319272"/>
            <a:ext cx="15499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pr-N image tag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4364AFCA-28F4-4E4B-B640-3B02F3EA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308" y="3465576"/>
            <a:ext cx="237744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8A2B"/>
          </a:solidFill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BB351642-56F1-4285-AB49-D2CE4C73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3319272"/>
            <a:ext cx="1623060" cy="420624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A93B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3ED6130E-2520-4C0F-8B95-3138BAC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916" y="3319272"/>
            <a:ext cx="15499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Portainer API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2CDF7C-A1E8-49E6-B791-869DE0BD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465576"/>
            <a:ext cx="237744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8A2B"/>
          </a:solidFill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3F4A50D9-76C9-4D30-9163-02B7D2E9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319272"/>
            <a:ext cx="1623060" cy="420624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A93B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3077630A-71BD-4F11-AB1F-134A302A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319272"/>
            <a:ext cx="15499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Q Compose stacks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F971B08-F11D-4D49-ACF2-04553816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068" y="3465576"/>
            <a:ext cx="237744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8A2B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D414C04F-CE88-4D17-AEFF-4D5F7339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9272"/>
            <a:ext cx="1623060" cy="420624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12700">
            <a:solidFill>
              <a:srgbClr val="1B8A5A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13788C73-C72E-4023-B46A-FF9C0486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76" y="3319272"/>
            <a:ext cx="15499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 i="1">
                <a:solidFill>
                  <a:srgbClr val="1B8A5A"/>
                </a:solidFill>
                <a:latin typeface="Calibri"/>
                <a:ea typeface="Calibri"/>
                <a:cs typeface="Calibri"/>
              </a:rPr>
              <a:t>q_map1</a:t>
            </a:r>
          </a:p>
        </p:txBody>
      </p:sp>
      <p:pic>
        <p:nvPicPr>
          <p:cNvPr id="8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88412c92f4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63240" y="29260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3" name="Text 28">
            <a:extLst xmlns:a="http://schemas.openxmlformats.org/drawingml/2006/main">
              <a:ext uri="{FF2B5EF4-FFF2-40B4-BE49-F238E27FC236}">
                <a16:creationId xmlns:a16="http://schemas.microsoft.com/office/drawing/2014/main" id="{8C2584E5-737E-47E4-A1D6-B23E25B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191256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 i="1">
                <a:solidFill>
                  <a:srgbClr val="C98A2B"/>
                </a:solidFill>
                <a:latin typeface="Calibri"/>
                <a:ea typeface="Calibri"/>
                <a:cs typeface="Calibri"/>
              </a:rPr>
              <a:t>⚠ Q MongoDB is shared with production</a:t>
            </a:r>
          </a:p>
        </p:txBody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696197E2-6EE8-4DB6-856E-2211FC77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13632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5B4FA6"/>
                </a:solidFill>
                <a:latin typeface="Calibri"/>
                <a:ea typeface="Calibri"/>
                <a:cs typeface="Calibri"/>
              </a:rPr>
              <a:t>review the running Q system + approve   →   squash-merge   →   main build : latest + sha-*</a:t>
            </a:r>
          </a:p>
        </p:txBody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1A7DDD9B-9085-46E6-BC37-EC394C4B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53712"/>
            <a:ext cx="11091672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2700">
            <a:solidFill>
              <a:srgbClr val="2E6DA4"/>
            </a:solidFill>
            <a:prstDash val="solid"/>
          </a:ln>
        </p:spPr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FC965063-2A0B-4024-945A-E6B2951D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45152"/>
            <a:ext cx="5943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GIT-DRIVEN OPS</a:t>
            </a:r>
            <a:r>
              <a:rPr sz="10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   Portainer polls main configuration</a:t>
            </a:r>
          </a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20A8936A-F5D9-4F64-8B74-B1B2AAC8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92624"/>
            <a:ext cx="1623060" cy="420624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6DA4"/>
            </a:solidFill>
            <a:prstDash val="solid"/>
          </a:ln>
        </p:spPr>
      </p:sp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78E7A46A-D1C4-4141-80F4-6B051421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992624"/>
            <a:ext cx="15499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GHCR : latest</a:t>
            </a:r>
          </a:p>
        </p:txBody>
      </p:sp>
      <p:sp>
        <p:nvSpPr>
          <p:cNvPr id="39" name="Shape 34">
            <a:extLst xmlns:a="http://schemas.openxmlformats.org/drawingml/2006/main">
              <a:ext uri="{FF2B5EF4-FFF2-40B4-BE49-F238E27FC236}">
                <a16:creationId xmlns:a16="http://schemas.microsoft.com/office/drawing/2014/main" id="{E660D414-9357-4C01-8157-24297807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308" y="5138928"/>
            <a:ext cx="237744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DA4"/>
          </a:solidFill>
        </p:spPr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ADEF8656-2206-409E-AF46-78AAA24F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4992624"/>
            <a:ext cx="1623060" cy="420624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6DA4"/>
            </a:solidFill>
            <a:prstDash val="solid"/>
          </a:ln>
        </p:spPr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1BA2D1FF-B959-4AA4-A872-CF37C490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916" y="4992624"/>
            <a:ext cx="15499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Portainer Git polling</a:t>
            </a:r>
          </a:p>
        </p:txBody>
      </p:sp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257D5847-EB64-415B-BED6-926E47C4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5138928"/>
            <a:ext cx="237744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DA4"/>
          </a:solidFill>
        </p:spPr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E6323151-44E4-4B4F-B230-198C1448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992624"/>
            <a:ext cx="1623060" cy="420624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6DA4"/>
            </a:solidFill>
            <a:prstDash val="solid"/>
          </a:ln>
        </p:spPr>
      </p:sp>
      <p:sp>
        <p:nvSpPr>
          <p:cNvPr id="44" name="Text 39">
            <a:extLst xmlns:a="http://schemas.openxmlformats.org/drawingml/2006/main">
              <a:ext uri="{FF2B5EF4-FFF2-40B4-BE49-F238E27FC236}">
                <a16:creationId xmlns:a16="http://schemas.microsoft.com/office/drawing/2014/main" id="{84C965EA-7809-4422-A696-74852E6F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4992624"/>
            <a:ext cx="15499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production stacks</a:t>
            </a:r>
          </a:p>
        </p:txBody>
      </p:sp>
      <p:sp>
        <p:nvSpPr>
          <p:cNvPr id="45" name="Shape 40">
            <a:extLst xmlns:a="http://schemas.openxmlformats.org/drawingml/2006/main">
              <a:ext uri="{FF2B5EF4-FFF2-40B4-BE49-F238E27FC236}">
                <a16:creationId xmlns:a16="http://schemas.microsoft.com/office/drawing/2014/main" id="{63E0AFC2-A31F-4A85-9FAB-2D94233B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068" y="5138928"/>
            <a:ext cx="237744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DA4"/>
          </a:solidFill>
        </p:spPr>
      </p:sp>
      <p:sp>
        <p:nvSpPr>
          <p:cNvPr id="46" name="Shape 41">
            <a:extLst xmlns:a="http://schemas.openxmlformats.org/drawingml/2006/main">
              <a:ext uri="{FF2B5EF4-FFF2-40B4-BE49-F238E27FC236}">
                <a16:creationId xmlns:a16="http://schemas.microsoft.com/office/drawing/2014/main" id="{7B899F54-4765-47D6-B373-47BA1275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92624"/>
            <a:ext cx="1623060" cy="420624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12700">
            <a:solidFill>
              <a:srgbClr val="1B8A5A"/>
            </a:solidFill>
            <a:prstDash val="solid"/>
          </a:ln>
        </p:spPr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43201903-E278-4232-B8B7-C499A6A4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76" y="4992624"/>
            <a:ext cx="15499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200"/>
              </a:lnSpc>
              <a:buNone/>
            </a:pPr>
            <a:r>
              <a:rPr sz="950" b="1" i="1">
                <a:solidFill>
                  <a:srgbClr val="1B8A5A"/>
                </a:solidFill>
                <a:latin typeface="Calibri"/>
                <a:ea typeface="Calibri"/>
                <a:cs typeface="Calibri"/>
              </a:rPr>
              <a:t>map1</a:t>
            </a:r>
          </a:p>
        </p:txBody>
      </p:sp>
      <p:pic>
        <p:nvPicPr>
          <p:cNvPr id="10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6ef75292f48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4608576"/>
            <a:ext cx="382079" cy="256032"/>
          </a:xfrm>
          <a:prstGeom xmlns:a="http://schemas.openxmlformats.org/drawingml/2006/main" prst="rect">
            <a:avLst/>
          </a:prstGeom>
        </p:spPr>
      </p:pic>
      <p:sp>
        <p:nvSpPr>
          <p:cNvPr id="49" name="Text 43">
            <a:extLst xmlns:a="http://schemas.openxmlformats.org/drawingml/2006/main">
              <a:ext uri="{FF2B5EF4-FFF2-40B4-BE49-F238E27FC236}">
                <a16:creationId xmlns:a16="http://schemas.microsoft.com/office/drawing/2014/main" id="{3A3B9749-9172-4679-A792-D9C6F30A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6460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00" i="1">
                <a:solidFill>
                  <a:srgbClr val="2E6DA4"/>
                </a:solidFill>
                <a:latin typeface="Calibri"/>
                <a:ea typeface="Calibri"/>
                <a:cs typeface="Calibri"/>
              </a:rPr>
              <a:t>⚠ Rebuild after merge; no sequenced production deploy job</a:t>
            </a:r>
          </a:p>
        </p:txBody>
      </p:sp>
      <p:sp>
        <p:nvSpPr>
          <p:cNvPr id="50" name="Text 44">
            <a:extLst xmlns:a="http://schemas.openxmlformats.org/drawingml/2006/main">
              <a:ext uri="{FF2B5EF4-FFF2-40B4-BE49-F238E27FC236}">
                <a16:creationId xmlns:a16="http://schemas.microsoft.com/office/drawing/2014/main" id="{6EB0E206-908D-4479-B888-18479B78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05272"/>
            <a:ext cx="7589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⚠ Workflow filters: selected application / Dockerfile / build-workflow paths — Compose, Portainer, docs &amp; Terraform-only changes get no pre-merge Q preview</a:t>
            </a:r>
          </a:p>
        </p:txBody>
      </p:sp>
      <p:sp>
        <p:nvSpPr>
          <p:cNvPr id="51" name="Shape 45">
            <a:extLst xmlns:a="http://schemas.openxmlformats.org/drawingml/2006/main">
              <a:ext uri="{FF2B5EF4-FFF2-40B4-BE49-F238E27FC236}">
                <a16:creationId xmlns:a16="http://schemas.microsoft.com/office/drawing/2014/main" id="{6BF7D0CF-EDCF-4DAF-9606-CF232F97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605272"/>
            <a:ext cx="336499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3A"/>
          </a:solidFill>
        </p:spPr>
      </p:sp>
      <p:sp>
        <p:nvSpPr>
          <p:cNvPr id="52" name="Text 46">
            <a:extLst xmlns:a="http://schemas.openxmlformats.org/drawingml/2006/main">
              <a:ext uri="{FF2B5EF4-FFF2-40B4-BE49-F238E27FC236}">
                <a16:creationId xmlns:a16="http://schemas.microsoft.com/office/drawing/2014/main" id="{7A2D1E78-05BC-4450-A148-10106978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605272"/>
            <a:ext cx="33649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The VMs pull images;</a:t>
            </a:r>
          </a:p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they never build application code.</a:t>
            </a:r>
          </a:p>
        </p:txBody>
      </p:sp>
    </p:spTree>
    <p:extLst>
      <p:ext uri="{BB962C8B-B14F-4D97-AF65-F5344CB8AC3E}">
        <p14:creationId xmlns:p14="http://schemas.microsoft.com/office/powerpoint/2010/main" val="5256123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DEA1D9-ABDC-4A8A-ADCB-AB6125B4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E8FB0"/>
                </a:solidFill>
                <a:latin typeface="Calibri"/>
                <a:ea typeface="Calibri"/>
                <a:cs typeface="Calibri"/>
              </a:rPr>
              <a:t>INFRASTRUCTURE OWNERSHIP · SECOPS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758517-4960-4760-AF05-6C43303B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Code-defined boundaries reduce operational risk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D518DA-9A35-418C-AF52-A3BFB252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566160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2ED6A1B-591A-4D78-80E8-856DFAB2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56616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833A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5978391-7360-4462-9EE0-E8C7BE62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35661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33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FE3171-A384-47AC-A3BD-31E8500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PROVISION</a:t>
            </a:r>
          </a:p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1e3abb73840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2057400"/>
            <a:ext cx="839490" cy="502920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4C64AD9-854D-4CF3-944F-B9CB0D7E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42616"/>
            <a:ext cx="160020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EAF6"/>
          </a:solidFill>
          <a:ln xmlns:a="http://schemas.openxmlformats.org/drawingml/2006/main" w="12700">
            <a:solidFill>
              <a:srgbClr val="5B4FA6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391B100-D2B9-4D33-9506-6115BFE0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42616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B4FA6"/>
                </a:solidFill>
                <a:latin typeface="Calibri"/>
                <a:ea typeface="Calibri"/>
                <a:cs typeface="Calibri"/>
              </a:rPr>
              <a:t>Terraform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CC3CD1F-4D1A-4812-A75D-CEF4A6F4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18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Terraform + AWS API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51F8E2C-7FB3-4987-9614-CBFAE50B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92424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Q VM · static IP · firewall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AB16AD0-5AC1-4B61-9B77-147C98DF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13048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7ED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B9B0EDE-457A-4ADB-BF56-8BD930F0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Terraform owns Q only. Production VM predates this IaC boundary.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CC3E775-D3F5-4564-821D-291EDD21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743200"/>
            <a:ext cx="219456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FB0"/>
          </a:solidFill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FD35324-8C55-4AAE-B9B0-DF8FCF3C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566160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12000"/>
              </a:srgbClr>
            </a:outerShdw>
          </a:effectLst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748AEC1-D21C-41B8-8CA7-3000010D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56616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A"/>
          </a:solidFill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25645AC-760F-4850-8801-B444485F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645920"/>
            <a:ext cx="35661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DA65E10-779B-4312-91CB-7AE650DC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1417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</a:t>
            </a:r>
          </a:p>
        </p:txBody>
      </p:sp>
      <p:pic>
        <p:nvPicPr>
          <p:cNvPr id="7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cf4de76a240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5152" y="2075688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7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89c91e8f54a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5232" y="2118091"/>
            <a:ext cx="1737360" cy="372394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94408B33-00B0-4A18-B976-EE9E69EC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118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Portainer + Compose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AFB2FF55-AB5F-47FA-A658-52E3B4ED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392424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Pull GHCR images · configure · restart · observe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30089A41-3355-43C9-BE03-BFBE8B93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813048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7ED"/>
            </a:solidFill>
            <a:prstDash val="solid"/>
          </a:ln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FD2A107F-98E2-4E2E-8986-A7F04B7E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88620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A VM only pulls images; builds live in CI, never on a host.</a:t>
            </a:r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352E193-557E-46AC-BC51-CCF3A074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743200"/>
            <a:ext cx="219456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FB0"/>
          </a:solidFill>
        </p:spPr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4FA0363E-FAD6-414C-9982-DAC51F30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1417320"/>
            <a:ext cx="3566160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12000"/>
              </a:srgbClr>
            </a:outerShdw>
          </a:effectLst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FCB46EC-C596-49F5-BBA1-3EA2242E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1417320"/>
            <a:ext cx="356616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38020"/>
          </a:solidFill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CBB5E6C6-9EFF-4A11-A6E5-AD0076B8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1645920"/>
            <a:ext cx="35661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8020"/>
          </a:solidFill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2D8013A9-D61D-4651-888F-B7CE44AE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1417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EDGE</a:t>
            </a:r>
          </a:p>
        </p:txBody>
      </p:sp>
      <p:pic>
        <p:nvPicPr>
          <p:cNvPr id="8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3bab4d12340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7344" y="2130552"/>
            <a:ext cx="1135896" cy="384048"/>
          </a:xfrm>
          <a:prstGeom xmlns:a="http://schemas.openxmlformats.org/drawingml/2006/main" prst="rect">
            <a:avLst/>
          </a:prstGeom>
        </p:spPr>
      </p:pic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CE72363E-3399-4838-B16D-E5810D5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118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Cloudflare Tunnel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760E0A7-653D-41AF-B1C4-679EFE0B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392424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Outbound-only ingress · API / dashboard rules</a:t>
            </a:r>
          </a:p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A20056D6-D5C6-4C32-AFD1-B74CD484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813048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7ED"/>
            </a:solidFill>
            <a:prstDash val="solid"/>
          </a:ln>
        </p:spPr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F798969E-349D-4A2A-A5FC-5EAA0084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88620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Removes inbound HTTP/HTTPS + VM-side TLS. Routing is remote API state.</a:t>
            </a:r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F44E0807-7239-4BDA-A3DA-9B991576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61688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Terraform  —AWS API→  Q Lightsail   ·   manual trust bootstrap → Portainer / Compose   ·   containers  —outbound tunnel→  Cloudflare edge → users</a:t>
            </a:r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DDDC5E78-33BE-439E-873C-819DE9AB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745236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F3A"/>
          </a:solidFill>
        </p:spPr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79AB4E5A-648B-432B-BC6E-C2C9BBFD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01184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4CC9F0"/>
                </a:solidFill>
                <a:latin typeface="Calibri"/>
                <a:ea typeface="Calibri"/>
                <a:cs typeface="Calibri"/>
              </a:rPr>
              <a:t>SECURITY POSTURE</a:t>
            </a:r>
          </a:p>
        </p:txBody>
      </p:sp>
      <p:sp>
        <p:nvSpPr>
          <p:cNvPr id="39" name="Shape 33">
            <a:extLst xmlns:a="http://schemas.openxmlformats.org/drawingml/2006/main">
              <a:ext uri="{FF2B5EF4-FFF2-40B4-BE49-F238E27FC236}">
                <a16:creationId xmlns:a16="http://schemas.microsoft.com/office/drawing/2014/main" id="{C94A80E1-97FD-480C-95BE-4C23A49F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1266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9F0"/>
          </a:solidFill>
        </p:spPr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CB8AC77F-9CD4-4C8A-A2A0-618AEAB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57800"/>
            <a:ext cx="6766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secrets in Git or Lightsail user data</a:t>
            </a:r>
          </a:p>
        </p:txBody>
      </p:sp>
      <p:sp>
        <p:nvSpPr>
          <p:cNvPr id="41" name="Shape 35">
            <a:extLst xmlns:a="http://schemas.openxmlformats.org/drawingml/2006/main">
              <a:ext uri="{FF2B5EF4-FFF2-40B4-BE49-F238E27FC236}">
                <a16:creationId xmlns:a16="http://schemas.microsoft.com/office/drawing/2014/main" id="{9E5A01D7-1430-4E9C-A265-D1971C1C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8698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9F0"/>
          </a:solidFill>
        </p:spPr>
      </p:sp>
      <p:sp>
        <p:nvSpPr>
          <p:cNvPr id="42" name="Text 36">
            <a:extLst xmlns:a="http://schemas.openxmlformats.org/drawingml/2006/main">
              <a:ext uri="{FF2B5EF4-FFF2-40B4-BE49-F238E27FC236}">
                <a16:creationId xmlns:a16="http://schemas.microsoft.com/office/drawing/2014/main" id="{A57C05AD-7EF6-4619-B600-E7FFC1C4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6766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Zero inbound web ports (SSH remains)</a:t>
            </a:r>
          </a:p>
        </p:txBody>
      </p:sp>
      <p:sp>
        <p:nvSpPr>
          <p:cNvPr id="43" name="Shape 37">
            <a:extLst xmlns:a="http://schemas.openxmlformats.org/drawingml/2006/main">
              <a:ext uri="{FF2B5EF4-FFF2-40B4-BE49-F238E27FC236}">
                <a16:creationId xmlns:a16="http://schemas.microsoft.com/office/drawing/2014/main" id="{E0DD2370-317F-489B-8BAA-83392C1A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6130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9F0"/>
          </a:solidFill>
        </p:spPr>
      </p:sp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51FD09C8-5CEC-4295-9541-B6C28F72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06440"/>
            <a:ext cx="6766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Scoped image-build permissions</a:t>
            </a:r>
          </a:p>
        </p:txBody>
      </p:sp>
      <p:sp>
        <p:nvSpPr>
          <p:cNvPr id="45" name="Shape 39">
            <a:extLst xmlns:a="http://schemas.openxmlformats.org/drawingml/2006/main">
              <a:ext uri="{FF2B5EF4-FFF2-40B4-BE49-F238E27FC236}">
                <a16:creationId xmlns:a16="http://schemas.microsoft.com/office/drawing/2014/main" id="{EFF7C8F1-D82C-41CD-8826-D805659E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754880"/>
            <a:ext cx="3456432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F1DE"/>
          </a:solidFill>
          <a:ln xmlns:a="http://schemas.openxmlformats.org/drawingml/2006/main" w="15875">
            <a:solidFill>
              <a:srgbClr val="F2A93B"/>
            </a:solidFill>
            <a:prstDash val="solid"/>
          </a:ln>
        </p:spPr>
      </p:sp>
      <p:sp>
        <p:nvSpPr>
          <p:cNvPr id="46" name="Text 40">
            <a:extLst xmlns:a="http://schemas.openxmlformats.org/drawingml/2006/main">
              <a:ext uri="{FF2B5EF4-FFF2-40B4-BE49-F238E27FC236}">
                <a16:creationId xmlns:a16="http://schemas.microsoft.com/office/drawing/2014/main" id="{79060048-32F6-4EDB-B682-853C660B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4901184"/>
            <a:ext cx="3017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98A2B"/>
                </a:solidFill>
                <a:latin typeface="Calibri"/>
                <a:ea typeface="Calibri"/>
                <a:cs typeface="Calibri"/>
              </a:rPr>
              <a:t>⚠ KNOWN GAPS</a:t>
            </a:r>
          </a:p>
        </p:txBody>
      </p:sp>
      <p:sp>
        <p:nvSpPr>
          <p:cNvPr id="47" name="Text 41">
            <a:extLst xmlns:a="http://schemas.openxmlformats.org/drawingml/2006/main">
              <a:ext uri="{FF2B5EF4-FFF2-40B4-BE49-F238E27FC236}">
                <a16:creationId xmlns:a16="http://schemas.microsoft.com/office/drawing/2014/main" id="{3F7080C9-5BC3-4EA6-93B7-848E5B89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5230368"/>
            <a:ext cx="305409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▪"/>
            </a:pPr>
            <a:r>
              <a:rPr sz="10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Production VM + Cloudflare routing outside IaC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▪"/>
            </a:pPr>
            <a:r>
              <a:rPr sz="10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Atlas permits all source IPs (0.0.0.0/0)</a:t>
            </a:r>
          </a:p>
        </p:txBody>
      </p:sp>
      <p:sp>
        <p:nvSpPr>
          <p:cNvPr id="48" name="Text 42">
            <a:extLst xmlns:a="http://schemas.openxmlformats.org/drawingml/2006/main">
              <a:ext uri="{FF2B5EF4-FFF2-40B4-BE49-F238E27FC236}">
                <a16:creationId xmlns:a16="http://schemas.microsoft.com/office/drawing/2014/main" id="{20BEB10D-06B1-45C0-8012-24F1AD1F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36208"/>
            <a:ext cx="110916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AWS CLI = authenticated inspection capability, not a deployment engine</a:t>
            </a:r>
          </a:p>
        </p:txBody>
      </p:sp>
    </p:spTree>
    <p:extLst>
      <p:ext uri="{BB962C8B-B14F-4D97-AF65-F5344CB8AC3E}">
        <p14:creationId xmlns:p14="http://schemas.microsoft.com/office/powerpoint/2010/main" val="1133591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B53EAB-BBD9-47B4-9587-6F24F91F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E8FB0"/>
                </a:solidFill>
                <a:latin typeface="Calibri"/>
                <a:ea typeface="Calibri"/>
                <a:cs typeface="Calibri"/>
              </a:rPr>
              <a:t>DAY-TWO OPERATIONS · HONEST LIMITS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149B2F-D38D-4FDB-B881-446DB5E7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Operational proof today, hardening path tomorrow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F37F5B-8088-45E2-BC8E-B32D995A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544068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0D4ABE0-A36B-42D5-9A4F-52FD6FF4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544068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3A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E36620F-0B76-4D37-9D86-142A3C2F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4068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86846D0-D420-4C22-95DB-E46F6764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92224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E5A7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AA47716-58B7-431D-9433-F83C4E7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3657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OPERATES TODAY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1212D23-10CB-4413-ADF1-37DFEEFC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5000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12700">
            <a:solidFill>
              <a:srgbClr val="1B8A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B040036-9538-4991-BA7E-E9AA5635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5000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B8A5A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DB3BA08-DDAE-47F6-874F-DB41CB29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331720"/>
            <a:ext cx="4526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ETL heartbeat + API health checks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F6FE06B-72F4-4C08-9619-A5A65FF0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535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12700">
            <a:solidFill>
              <a:srgbClr val="1B8A5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24A84F-9867-40FE-B4D7-1BD53A0F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535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B8A5A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3115485-6B1A-45A3-958C-9130CB9D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935224"/>
            <a:ext cx="4526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Restart policies + local container logs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9697B7-643E-468A-8CD7-870F7EDA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5701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12700">
            <a:solidFill>
              <a:srgbClr val="1B8A5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64A588C-F034-4D19-AE49-864A10AB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5701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B8A5A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1E7282-DF74-4354-B4D3-9F1BF65E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538728"/>
            <a:ext cx="4526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Independent Bronze / Silver lifecycles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E9D32C2-5F32-442D-9688-8EEB098C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12700">
            <a:solidFill>
              <a:srgbClr val="1B8A5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123096B-AF53-4BC7-BE76-073B98FE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B8A5A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0EDF392-4AB2-4212-BA77-A4607F9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42232"/>
            <a:ext cx="4526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Separate production / Q compute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8A2FCBD-F846-4948-8CAF-864DAC48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508760"/>
            <a:ext cx="544068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CF6EA"/>
          </a:solidFill>
          <a:ln xmlns:a="http://schemas.openxmlformats.org/drawingml/2006/main" w="15875">
            <a:solidFill>
              <a:srgbClr val="F2A93B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12000"/>
              </a:srgbClr>
            </a:outerShdw>
          </a:effectLst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2C48323-C1EC-4257-AC3C-06C07C21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508760"/>
            <a:ext cx="544068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A93B"/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CE71AC3-722B-4343-AB09-39DE7B5B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783080"/>
            <a:ext cx="544068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F4BA2CD-F6EB-4FBB-A6F5-854C513C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08760"/>
            <a:ext cx="4572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NEXT HARDENING STEPS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FA9071A-C769-4774-A375-5A84F36C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340864"/>
            <a:ext cx="384048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8A2B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B31BFFE-3DFC-4ED1-9A63-74D96FE3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340864"/>
            <a:ext cx="3840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98A2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C5D9D2C-4539-4672-BD8C-489AA8BA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33172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Unit, lint, image-scan &amp; SBOM gates in CI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411D450-A9F7-4970-9648-6E5ED4CD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944368"/>
            <a:ext cx="384048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8A2B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47A240D-1A68-42D7-BED6-F636C09C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944368"/>
            <a:ext cx="3840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98A2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A9248F6-B1B3-4EF2-B2A8-0BDE4B6A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935224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Promote the tested image digest after merge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90D75D6-BFD5-4E2B-8B14-B593FF8B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547872"/>
            <a:ext cx="384048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8A2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CEF55E1-C73A-47C5-B9C4-27C2E93A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547872"/>
            <a:ext cx="3840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98A2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017BD1E-1961-46C9-ADDA-887FFBE6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538728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Central metrics, alerts &amp; log aggregation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B8BB4CD6-ECB5-48A7-848F-8C0BD375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151376"/>
            <a:ext cx="384048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8A2B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DC33C70-D6B7-4565-98FF-DAFC4D4E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151376"/>
            <a:ext cx="3840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98A2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35F1F11-8E1F-4695-B5AC-F326BED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4142232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Isolate Q MongoDB; Cloudflare + prod under IaC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10E9783-9F52-4ECF-BA99-52A2A750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507992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 i="1">
                <a:solidFill>
                  <a:srgbClr val="5B4FA6"/>
                </a:solidFill>
                <a:latin typeface="Calibri"/>
                <a:ea typeface="Calibri"/>
                <a:cs typeface="Calibri"/>
              </a:rPr>
              <a:t>gaps return to the visible GitHub Project ↩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F415757-E97A-46DF-86C4-E87015CA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1109167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52F9187-2650-49A4-97C9-5D601412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3447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Architectural judgment:  </a:t>
            </a:r>
            <a:r>
              <a:rPr sz="120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Docker Compose is sufficient at this scale — Kubernetes would add an operations platform before the project needs one.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F90C4F3F-4F94-4179-8159-672B300D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91672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F3A"/>
          </a:solidFill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C724720-8E49-4124-BFC1-721F107F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9167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Everything as Code — One Source of Truth.</a:t>
            </a:r>
          </a:p>
        </p:txBody>
      </p:sp>
    </p:spTree>
    <p:extLst>
      <p:ext uri="{BB962C8B-B14F-4D97-AF65-F5344CB8AC3E}">
        <p14:creationId xmlns:p14="http://schemas.microsoft.com/office/powerpoint/2010/main" val="612304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DE8134-C0C4-42F3-BE75-2960529B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E8FB0"/>
                </a:solidFill>
                <a:latin typeface="Calibri"/>
                <a:ea typeface="Calibri"/>
                <a:cs typeface="Calibri"/>
              </a:rPr>
              <a:t>WHY THIS SEGMENT BELONGS IN THE DEFENSE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E0F225-B4A4-4BE5-A374-D9624360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10916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B1F3A"/>
                </a:solidFill>
                <a:latin typeface="Cambria"/>
                <a:ea typeface="Cambria"/>
                <a:cs typeface="Cambria"/>
              </a:rPr>
              <a:t>Course curriculum, proven by project evidence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55B7681-1948-4C87-AD6F-3C880FAC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1091672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4E43CE5-374C-47DC-A3EF-4F192040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36776"/>
            <a:ext cx="12344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8A5A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AF08A95-5740-4B2B-B2EC-8ED885B6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36776"/>
            <a:ext cx="1234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Sprint 3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AC417CD-1BDE-47A9-832F-646B5736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463040"/>
            <a:ext cx="28803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3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SQL &amp; MongoDB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F20864C-9A3B-47DE-845E-6533F240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609344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B7394A-FA35-4604-A141-C0D33C56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63040"/>
            <a:ext cx="5010912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MongoDB Atlas Bronze + Supabase Postgres Silver</a:t>
            </a:r>
          </a:p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9a747c8fa49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828" y="1636776"/>
            <a:ext cx="359008" cy="402336"/>
          </a:xfrm>
          <a:prstGeom xmlns:a="http://schemas.openxmlformats.org/drawingml/2006/main" prst="rect">
            <a:avLst/>
          </a:prstGeom>
        </p:spPr>
      </p:pic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b383cf3f945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9282" y="1636776"/>
            <a:ext cx="389956" cy="402336"/>
          </a:xfrm>
          <a:prstGeom xmlns:a="http://schemas.openxmlformats.org/drawingml/2006/main" prst="rect">
            <a:avLst/>
          </a:prstGeom>
        </p:spPr>
      </p:pic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CDFB7D2-ED96-4BD4-AC1C-01C86D5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22576"/>
            <a:ext cx="11091672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D709135-C495-417A-843D-8678B4A0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96312"/>
            <a:ext cx="12344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833A"/>
          </a:solidFill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7CAE30E-7E2E-497E-BA1E-CC516FCD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96312"/>
            <a:ext cx="1234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Sprint 5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2D714A6-995C-4289-B71D-551C41D6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322576"/>
            <a:ext cx="28803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3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ETL &amp; AWS Cloud Practitioner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3C20C82-A0A5-4858-AF70-43A9DEF8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46888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D78A1D65-2EDF-4715-9436-D5714225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22576"/>
            <a:ext cx="5010912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Managed data services + AWS Lightsail compute</a:t>
            </a:r>
          </a:p>
        </p:txBody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2777fb0954c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05872" y="2546836"/>
            <a:ext cx="502920" cy="301288"/>
          </a:xfrm>
          <a:prstGeom xmlns:a="http://schemas.openxmlformats.org/drawingml/2006/main" prst="rect">
            <a:avLst/>
          </a:prstGeom>
        </p:spPr>
      </p:pic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EE4D78A1-1F67-4B1B-9396-6F0C21E6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82112"/>
            <a:ext cx="11091672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A1EAF918-196E-4057-BB8F-6103798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55848"/>
            <a:ext cx="12344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6DA4"/>
          </a:solidFill>
        </p:spPr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68B188A-E452-4E2E-853E-2AE6A560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55848"/>
            <a:ext cx="1234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Sprint 7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C0AF5E1F-F9EA-4360-ABC5-DD770DE9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182112"/>
            <a:ext cx="28803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3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DevOps / isolation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5E38533E-CE4E-4147-877A-D9224B8C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328416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E24DE07D-9AFC-47AF-A85D-74F8D421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82112"/>
            <a:ext cx="5010912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Docker · FastAPI health endpoints · env separation · API security</a:t>
            </a:r>
          </a:p>
        </p:txBody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7d1d7691f48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05872" y="3503117"/>
            <a:ext cx="502920" cy="107798"/>
          </a:xfrm>
          <a:prstGeom xmlns:a="http://schemas.openxmlformats.org/drawingml/2006/main" prst="rect">
            <a:avLst/>
          </a:prstGeom>
        </p:spPr>
      </p:pic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2B3339F1-B0FB-48B2-85EA-F14310CF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648"/>
            <a:ext cx="11091672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8E32A6DB-B139-4178-9A1C-8D4B2172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15384"/>
            <a:ext cx="12344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F3A"/>
          </a:solidFill>
        </p:spPr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2D819ED-A988-4ACD-A0E9-E6F8A574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15384"/>
            <a:ext cx="1234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Sprint 8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0EE7B123-3F2A-40F7-8035-8AC0CAAB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41648"/>
            <a:ext cx="28803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3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CI/CD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C1A1DBFD-BC1C-45BD-A99B-40F94A9E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187952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516AD3E5-8886-4E6A-BDAA-7BEF5A69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41648"/>
            <a:ext cx="5010912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GitHub Actions · GHCR · PR previews · release flow</a:t>
            </a:r>
          </a:p>
        </p:txBody>
      </p:sp>
      <p:pic>
        <p:nvPicPr>
          <p:cNvPr id="7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b7a264155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05872" y="4359101"/>
            <a:ext cx="502920" cy="114903"/>
          </a:xfrm>
          <a:prstGeom xmlns:a="http://schemas.openxmlformats.org/drawingml/2006/main" prst="rect">
            <a:avLst/>
          </a:prstGeom>
        </p:spPr>
      </p:pic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DAAFB5A1-0BA8-4025-BE71-8579F8DE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01184"/>
            <a:ext cx="11091672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7ED"/>
            </a:solidFill>
            <a:prstDash val="solid"/>
          </a:ln>
          <a:effectLst xmlns:a="http://schemas.openxmlformats.org/drawingml/2006/main">
            <a:outerShdw blurRad="101600" dist="25400" dir="5400000" sx="100000" sy="100000" kx="0" ky="0" algn="bl" rotWithShape="0">
              <a:srgbClr val="1A2B3D">
                <a:alpha val="8000"/>
              </a:srgbClr>
            </a:outerShdw>
          </a:effectLst>
        </p:spPr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52849BC2-F6A4-477B-B456-3D1B7E74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12344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5B4FA6"/>
          </a:solidFill>
        </p:spPr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C4E75CC8-4E7C-43D3-8770-53932D0D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1234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Sprint 9</a:t>
            </a:r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9668AEC0-CAFD-4479-A73C-7A5A20F7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901184"/>
            <a:ext cx="28803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3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Monitoring &amp; Terraform</a:t>
            </a:r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9F12270E-B458-4E3C-90B7-A9965B01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047488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1E7ED"/>
            </a:solidFill>
            <a:prstDash val="solid"/>
          </a:ln>
        </p:spPr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00CAB0F9-292E-4C20-84A4-5FFEAD6A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01184"/>
            <a:ext cx="5010912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5A6B7D"/>
                </a:solidFill>
                <a:latin typeface="Calibri"/>
                <a:ea typeface="Calibri"/>
                <a:cs typeface="Calibri"/>
              </a:rPr>
              <a:t>Health checks · restart/logging policy · Terraform-managed Q infra</a:t>
            </a:r>
          </a:p>
        </p:txBody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BBFB4AAE-C6A1-4BA9-9985-C01FE2E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91672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1DE"/>
          </a:solidFill>
          <a:ln xmlns:a="http://schemas.openxmlformats.org/drawingml/2006/main" w="12700">
            <a:solidFill>
              <a:srgbClr val="F2A93B"/>
            </a:solidFill>
            <a:prstDash val="solid"/>
          </a:ln>
        </p:spPr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AF4827EB-9D3C-4E58-9232-A1BE9D49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06440"/>
            <a:ext cx="1063447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 b="1">
                <a:solidFill>
                  <a:srgbClr val="C98A2B"/>
                </a:solidFill>
                <a:latin typeface="Calibri"/>
                <a:ea typeface="Calibri"/>
                <a:cs typeface="Calibri"/>
              </a:rPr>
              <a:t>⚠ Shown honestly:  </a:t>
            </a:r>
            <a:r>
              <a:rPr sz="11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Kubernetes · Prometheus · Grafana are course topics but </a:t>
            </a:r>
            <a:r>
              <a:rPr sz="11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not implemented</a:t>
            </a:r>
            <a:r>
              <a:rPr sz="115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here — stated plainly, not hidden behind a technology logo wall.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61225c9534fe7"/>
          <a:stretch xmlns:a="http://schemas.openxmlformats.org/drawingml/2006/main"/>
        </p:blipFill>
        <p:spPr>
          <a:xfrm xmlns:a="http://schemas.openxmlformats.org/drawingml/2006/main">
            <a:off x="10474452" y="5093208"/>
            <a:ext cx="365760" cy="3657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128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2026-07-21T12:58:31.2710000Z</dcterms:created>
  <dcterms:modified xsi:type="dcterms:W3CDTF">2026-07-21T12:58:31.2710000Z</dcterms:modified>
</coreProperties>
</file>