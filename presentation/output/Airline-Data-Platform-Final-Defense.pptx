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70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  <p:sldId id="26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68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7CF4-4288-69EB-8F43-048DA0AD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E748E-0D6F-F1BF-9DEF-FCDF5F6E4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EB923-45C6-C40F-9459-E76AAC266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C3C93-F569-9F31-2444-BA6A0A455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75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7152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54312" y="1097280"/>
            <a:ext cx="1463040" cy="1463040"/>
          </a:xfrm>
          <a:prstGeom prst="ellipse">
            <a:avLst/>
          </a:prstGeom>
          <a:ln w="12700">
            <a:solidFill>
              <a:srgbClr val="4CC9F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05672" y="548640"/>
            <a:ext cx="2560320" cy="2560320"/>
          </a:xfrm>
          <a:prstGeom prst="ellipse">
            <a:avLst/>
          </a:prstGeom>
          <a:ln w="12700">
            <a:solidFill>
              <a:srgbClr val="4CC9F0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57032" y="0"/>
            <a:ext cx="3657600" cy="3657600"/>
          </a:xfrm>
          <a:prstGeom prst="ellipse">
            <a:avLst/>
          </a:prstGeom>
          <a:ln w="12700">
            <a:solidFill>
              <a:srgbClr val="4CC9F0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08392" y="-548640"/>
            <a:ext cx="4754880" cy="4754880"/>
          </a:xfrm>
          <a:prstGeom prst="ellipse">
            <a:avLst/>
          </a:prstGeom>
          <a:ln w="12700">
            <a:solidFill>
              <a:srgbClr val="4CC9F0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0">
            <a:off x="9857232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331720"/>
            <a:ext cx="9262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DATA ENGINEERING PLATFORM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medallion pipeline for airline &amp; flight data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9262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DataScientest Data Engineer Bootcamp — Capstone Project · Final Defense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5806440"/>
            <a:ext cx="10543032" cy="0"/>
          </a:xfrm>
          <a:prstGeom prst="line">
            <a:avLst/>
          </a:prstGeom>
          <a:noFill/>
          <a:ln w="9525">
            <a:solidFill>
              <a:srgbClr val="2E5A7A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Matthias Köhler   ·   Pavel   ·   Chaithra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079992" y="5989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complete, production-style Data Engineering architecture around live airline / flight data — collection, storage, transformation, an API, automation, containerization, and a live dashboard.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E9F3F8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287898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724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premium API access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34440" y="2999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Lufthansa's public API stayed closed — no token was ever issued to the project.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E9F3F8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393054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7764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partially network-restricted VM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34440" y="405079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OpenSky blocks the training/production VM's egress outright — the pipeline had to design around it, not ignore it.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E9F3F8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4982108"/>
            <a:ext cx="231343" cy="231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828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evolving team and feature set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34440" y="5102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started at four, dropped to three mid-project, and scope shifted with it.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406640" y="141732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0B1F3A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7830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0" y="237744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performance is NOT the main objective. The main evaluation criterion is Data Engineering mastery.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7772400" y="4434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Nicolas, Mentor (DataScientest)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772400" y="4892040"/>
            <a:ext cx="3520440" cy="0"/>
          </a:xfrm>
          <a:prstGeom prst="line">
            <a:avLst/>
          </a:prstGeom>
          <a:noFill/>
          <a:ln w="9525">
            <a:solidFill>
              <a:srgbClr val="2E5A7A">
                <a:alpha val="6000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772400" y="50292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ML effort: 1–2 days max, Kaggle-inspired, ship and move on.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r>
              <a:rPr lang="en-DE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Ownership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1965960"/>
            <a:ext cx="914400" cy="914400"/>
          </a:xfrm>
          <a:prstGeom prst="ellipse">
            <a:avLst/>
          </a:prstGeom>
          <a:solidFill>
            <a:srgbClr val="1C3D5A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22128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Matthias Köhler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DE" sz="12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Eng, </a:t>
            </a:r>
            <a:r>
              <a:rPr lang="en-US" sz="12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Deployment, GitOps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r>
              <a:rPr lang="en-DE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MongoDB (bronze layer),</a:t>
            </a: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infra, CI/CD, GitOps, ingress, and the Q staging environment.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95238" y="1577923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552538" y="1989403"/>
            <a:ext cx="914400" cy="914400"/>
          </a:xfrm>
          <a:prstGeom prst="ellipse">
            <a:avLst/>
          </a:prstGeom>
          <a:solidFill>
            <a:srgbClr val="1C3D5A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426" y="2236291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23838" y="3086683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Pavel</a:t>
            </a:r>
            <a:r>
              <a:rPr lang="en-DE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Borovskikh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523838" y="3452443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Eng, API Integration</a:t>
            </a:r>
            <a:r>
              <a:rPr lang="en-DE" sz="12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Dash, ML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615278" y="4001083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DE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S</a:t>
            </a:r>
            <a:r>
              <a:rPr lang="de-DE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DE" sz="1100" dirty="0" err="1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pabase</a:t>
            </a:r>
            <a:r>
              <a:rPr lang="en-DE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(silver layer); </a:t>
            </a: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integration; ML flight-delay service</a:t>
            </a:r>
            <a:r>
              <a:rPr lang="en-DE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Dash dashboard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30161" y="155449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87461" y="1965970"/>
            <a:ext cx="914400" cy="914400"/>
          </a:xfrm>
          <a:prstGeom prst="ellipse">
            <a:avLst/>
          </a:prstGeom>
          <a:solidFill>
            <a:srgbClr val="1C3D5A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349" y="221285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58761" y="306325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Chaithra</a:t>
            </a:r>
            <a:r>
              <a:rPr lang="en-DE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DE" sz="1700" b="1" dirty="0" err="1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Varambaly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658761" y="342901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</a:t>
            </a:r>
            <a:r>
              <a:rPr lang="en-DE" sz="12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ETL, Data Warehousing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50201" y="397765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DE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development and scheduling; w</a:t>
            </a:r>
            <a:r>
              <a:rPr lang="en-US" sz="1100" dirty="0" err="1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arehouse</a:t>
            </a: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exploration (Redshift silver</a:t>
            </a:r>
            <a:r>
              <a:rPr lang="en-DE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gold layers</a:t>
            </a: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mentor Nicolas (DataScientest). The team started at four; one member left early to focus on remaining bootcamp coursework.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1301515" y="4566139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&amp;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9966960" cy="0"/>
          </a:xfrm>
          <a:prstGeom prst="line">
            <a:avLst/>
          </a:prstGeom>
          <a:noFill/>
          <a:ln w="38100">
            <a:solidFill>
              <a:srgbClr val="E1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" y="2258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May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6002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2258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4884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2258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Consumption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5196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6002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258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Jun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0" y="16002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2258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Jul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064240" y="1600200"/>
            <a:ext cx="548640" cy="548640"/>
          </a:xfrm>
          <a:prstGeom prst="ellipse">
            <a:avLst/>
          </a:prstGeom>
          <a:solidFill>
            <a:srgbClr val="2E8FB0"/>
          </a:solidFill>
          <a:ln/>
        </p:spPr>
      </p:sp>
      <p:sp>
        <p:nvSpPr>
          <p:cNvPr id="26" name="Text 24"/>
          <p:cNvSpPr/>
          <p:nvPr/>
        </p:nvSpPr>
        <p:spPr>
          <a:xfrm>
            <a:off x="11064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61320" y="2258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561320" y="2770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52044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468" y="3930548"/>
            <a:ext cx="231343" cy="231343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55448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Flow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868680" y="4434840"/>
            <a:ext cx="4709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(feature/ · fix/ · chore/), never pushed to main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reviewed and merged through a PR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Squash-and-merge — one commit per PR, linear history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126480" y="3520440"/>
            <a:ext cx="5513832" cy="2651760"/>
          </a:xfrm>
          <a:prstGeom prst="roundRect">
            <a:avLst>
              <a:gd name="adj" fmla="val 2759"/>
            </a:avLst>
          </a:prstGeom>
          <a:solidFill>
            <a:srgbClr val="0B1F3A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446520" y="3794760"/>
            <a:ext cx="502920" cy="502920"/>
          </a:xfrm>
          <a:prstGeom prst="ellipse">
            <a:avLst/>
          </a:prstGeom>
          <a:solidFill>
            <a:srgbClr val="2E8FB0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308" y="3930548"/>
            <a:ext cx="231343" cy="231343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7132320" y="3794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learned — PR #24 → #25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446520" y="44348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“obviously safe” hotfix was merged on sight — it turned out to belong inside a larger effort instead, and had to be reverted.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6446520" y="54406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codified as policy: never merge without asking — even a clean hotfix.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DE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Platform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92608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OpenSky + adsb.lol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33756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states, ~50s cycle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514600" y="3232404"/>
            <a:ext cx="384048" cy="164592"/>
          </a:xfrm>
          <a:prstGeom prst="rightArrow">
            <a:avLst/>
          </a:prstGeom>
          <a:solidFill>
            <a:srgbClr val="E1E7ED"/>
          </a:solidFill>
          <a:ln/>
        </p:spPr>
      </p:sp>
      <p:sp>
        <p:nvSpPr>
          <p:cNvPr id="8" name="Shape 6"/>
          <p:cNvSpPr/>
          <p:nvPr/>
        </p:nvSpPr>
        <p:spPr>
          <a:xfrm>
            <a:off x="2898648" y="2834640"/>
            <a:ext cx="1874520" cy="960120"/>
          </a:xfrm>
          <a:prstGeom prst="roundRect">
            <a:avLst>
              <a:gd name="adj" fmla="val 7619"/>
            </a:avLst>
          </a:prstGeom>
          <a:solidFill>
            <a:schemeClr val="accent4">
              <a:lumMod val="75000"/>
            </a:schemeClr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292608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08376" y="333756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raw landing zone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73168" y="3232404"/>
            <a:ext cx="384048" cy="164592"/>
          </a:xfrm>
          <a:prstGeom prst="rightArrow">
            <a:avLst/>
          </a:prstGeom>
          <a:solidFill>
            <a:srgbClr val="E1E7ED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7216" y="28346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6944" y="2926080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ETL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66944" y="3337560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silver.py, freshest-wins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74536" y="3232404"/>
            <a:ext cx="384048" cy="164592"/>
          </a:xfrm>
          <a:prstGeom prst="rightArrow">
            <a:avLst/>
          </a:prstGeom>
          <a:solidFill>
            <a:srgbClr val="E1E7ED"/>
          </a:solidFill>
          <a:ln/>
        </p:spPr>
      </p:sp>
      <p:sp>
        <p:nvSpPr>
          <p:cNvPr id="16" name="Shape 14"/>
          <p:cNvSpPr/>
          <p:nvPr/>
        </p:nvSpPr>
        <p:spPr>
          <a:xfrm>
            <a:off x="6958584" y="2834640"/>
            <a:ext cx="1874520" cy="960120"/>
          </a:xfrm>
          <a:prstGeom prst="roundRect">
            <a:avLst>
              <a:gd name="adj" fmla="val 7619"/>
            </a:avLst>
          </a:prstGeom>
          <a:solidFill>
            <a:schemeClr val="tx2">
              <a:lumMod val="60000"/>
              <a:lumOff val="40000"/>
            </a:schemeClr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68312" y="292608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68312" y="333756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map1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833104" y="3232404"/>
            <a:ext cx="384048" cy="164592"/>
          </a:xfrm>
          <a:prstGeom prst="rightArrow">
            <a:avLst/>
          </a:prstGeom>
          <a:solidFill>
            <a:srgbClr val="E1E7ED"/>
          </a:solidFill>
          <a:ln/>
        </p:spPr>
      </p:sp>
      <p:sp>
        <p:nvSpPr>
          <p:cNvPr id="20" name="Shape 18"/>
          <p:cNvSpPr/>
          <p:nvPr/>
        </p:nvSpPr>
        <p:spPr>
          <a:xfrm>
            <a:off x="9217152" y="2834640"/>
            <a:ext cx="2240280" cy="960120"/>
          </a:xfrm>
          <a:prstGeom prst="roundRect">
            <a:avLst>
              <a:gd name="adj" fmla="val 7619"/>
            </a:avLst>
          </a:prstGeom>
          <a:solidFill>
            <a:schemeClr val="accent4">
              <a:lumMod val="50000"/>
            </a:schemeClr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0" y="292608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FastAPI/Dash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26880" y="333756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two live stacks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raw   ·   Silver — normalized   ·   Gold — consumption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566160" y="48463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5074920"/>
            <a:ext cx="4572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3794760" y="5029200"/>
            <a:ext cx="548640" cy="548640"/>
          </a:xfrm>
          <a:prstGeom prst="ellipse">
            <a:avLst/>
          </a:prstGeom>
          <a:solidFill>
            <a:srgbClr val="2E8FB0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518464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572000" y="4983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 — the only ingress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4572000" y="5303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Outbound-only connection to the edge — zero inbound web ports on either VM.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 are managed cloud services; every application service is one Docker container, deployed as its own Portainer GitOps stack auto-pulling main.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BDC3D-575E-F095-8CEA-23B8B874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65A856-E66A-ADC0-56B2-0071ABC9F185}"/>
              </a:ext>
            </a:extLst>
          </p:cNvPr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397A8B-A3D5-51D5-249B-C7EC7DD38E39}"/>
              </a:ext>
            </a:extLst>
          </p:cNvPr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</a:t>
            </a:r>
            <a:r>
              <a:rPr lang="en-DE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Platform Architecture</a:t>
            </a:r>
            <a:endParaRPr lang="en-US" sz="30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184BC48-2747-24EA-97E7-CC0DA227E499}"/>
              </a:ext>
            </a:extLst>
          </p:cNvPr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8FE01DF-4BB0-7883-E569-AD702552D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0" y="2136297"/>
            <a:ext cx="11071801" cy="259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2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PILLAR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— Ingestion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71632" y="502920"/>
            <a:ext cx="777240" cy="777240"/>
          </a:xfrm>
          <a:prstGeom prst="ellipse">
            <a:avLst/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487" y="71277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6675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Dual-stream: OpenSky /states/all (primary, OAuth2) + adsb.lol (secondary, no auth) — every cycle, both sources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raw and untransformed in MongoDB Atlas — “ingestion ≠ modeling,” Silver decides what to keep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 bounding box (~150×150 km); adsb.lol's radius was tuned down after it filled the free-tier cluster in under a day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43800" y="16916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43800" y="1874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feeds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54380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~50 seconds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43800" y="342900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SOURCES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18120" y="3913632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OpenSky is richer but gets blocked outright from the production VM's AWS IP range. adsb.lol needs no auth and covers the same geography — built in as a safety net from day one.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PILLAR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— Transform &amp; Warehouse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71632" y="502920"/>
            <a:ext cx="777240" cy="777240"/>
          </a:xfrm>
          <a:prstGeom prst="ellipse">
            <a:avLst/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487" y="71277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6675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silver.py flattens the freshest Bronze snapshot into a single live table, map1, on Supabase Postgres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Freshest-wins fallback by fetched_at — no manual failover branching, no environment-specific code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incident: OpenSky blocked the whole production VM IP range — adsb.lol took over automatically, dashboard never went dark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star schema (fact_states + dimension tables) is designed and documented — build-out is next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43800" y="16916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43800" y="1874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map1 live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54380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2026-06-09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43800" y="342900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18120" y="3913632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map1 table works for a live map today. The dimensional model (dim_aircraft, dim_airlines, dim_airports) is the next Silver milestone.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PILLAR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DE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</a:t>
            </a: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71632" y="502920"/>
            <a:ext cx="777240" cy="777240"/>
          </a:xfrm>
          <a:prstGeom prst="ellipse">
            <a:avLst/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487" y="71277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7830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map1 directly via psycopg2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queries, live map + metrics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airline-dashboard.matthiaskoehler.com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931920" y="160020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06240" y="17830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Dash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206240" y="219456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API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frontend polls every 45s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airlive.matthiaskoehler.com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06640" y="1600200"/>
            <a:ext cx="4251960" cy="2331720"/>
          </a:xfrm>
          <a:prstGeom prst="roundRect">
            <a:avLst>
              <a:gd name="adj" fmla="val 3137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680960" y="17830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independent stacks, one source of truth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80960" y="2331720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read the same map1 table, built and deployed independently. Scope is deliberately positions, aircraft, and airline only — the live States feed carries no origin/destination or scheduled times, so no route or delay analytics.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pic>
        <p:nvPicPr>
          <p:cNvPr id="16" name="Image 1" descr="C:\development\airline-data-platform\docs\images\dashboard-screenshot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" y="4297680"/>
            <a:ext cx="3108960" cy="2057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D4FFC5C2-BE9D-C179-1934-931647F7C545}"/>
              </a:ext>
            </a:extLst>
          </p:cNvPr>
          <p:cNvSpPr/>
          <p:nvPr/>
        </p:nvSpPr>
        <p:spPr>
          <a:xfrm>
            <a:off x="3978694" y="4171257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— PILLAR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Infrastructure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71632" y="502920"/>
            <a:ext cx="777240" cy="777240"/>
          </a:xfrm>
          <a:prstGeom prst="ellipse">
            <a:avLst/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487" y="71277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6675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is one Docker container, one Portainer GitOps stack, auto-pulled from main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built once by CI and pushed to GHCR — nothing is ever built on the VM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 is the only ingress: outbound-only, zero inbound web ports, nginx removed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Q (staging) environment, Terraform-managed, mirrors production for PR previews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43800" y="16916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43800" y="18745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open ports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54380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everywhere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43800" y="3429000"/>
            <a:ext cx="4114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18120" y="3913632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cloudflared handling all public ingress, the only thing reachable from the open internet by IP is SSH — everything else is edge-routed.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BEYOND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ML: Flight Delay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71632" y="502920"/>
            <a:ext cx="777240" cy="777240"/>
          </a:xfrm>
          <a:prstGeom prst="ellipse">
            <a:avLst/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487" y="71277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6675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despite the mentor explicitly de-prioritizing ML performance as an evaluation criterion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Airlines Delay dataset — 539,382 flights, no missing values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candidates compared; HistGradientBoostingClassifier selected on validation ROC-AUC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as its own live FastAPI service — /predict and /predict/batch, deployed via Portainer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43800" y="16916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43800" y="182880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539,382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16952" y="2450592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flights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961120" y="16916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961120" y="182880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034272" y="2450592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378440" y="16916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378440" y="182880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0.667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451592" y="2450592"/>
            <a:ext cx="115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43800" y="324612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3456432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29600" y="3456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818120" y="37947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ROC-AUC around 0.72 is in line with published results on this dataset: delays are driven heavily by factors it doesn't capture — weather, ATC, mechanical issues, cascading delays from an aircraft's earlier leg.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— Taking It Further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771632" y="502920"/>
            <a:ext cx="777240" cy="777240"/>
          </a:xfrm>
          <a:prstGeom prst="ellipse">
            <a:avLst/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1A2B3D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1487" y="712775"/>
            <a:ext cx="357530" cy="3575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28800"/>
            <a:ext cx="411480" cy="411480"/>
          </a:xfrm>
          <a:prstGeom prst="ellipse">
            <a:avLst/>
          </a:prstGeom>
          <a:solidFill>
            <a:srgbClr val="2E8FB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17373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target star schema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325880" y="20574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map1 into fact_states + dim_aircraft / dim_airlines / dim_airports, as already designed in ADR 008/009.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828800"/>
            <a:ext cx="411480" cy="411480"/>
          </a:xfrm>
          <a:prstGeom prst="ellipse">
            <a:avLst/>
          </a:prstGeom>
          <a:solidFill>
            <a:srgbClr val="2E8FB0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17373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planned FastAPI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20574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03-gold/api's /states, /aircraft, /airlines, /airports endpoints are designed but not yet built — the current APIs are narrower, read-only services.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108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337560"/>
            <a:ext cx="411480" cy="411480"/>
          </a:xfrm>
          <a:prstGeom prst="ellipse">
            <a:avLst/>
          </a:prstGeom>
          <a:solidFill>
            <a:srgbClr val="2E8FB0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25880" y="32461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delay analytics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325880" y="356616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data source with origin/destination and scheduled times — the live States feed doesn't carry them.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309360" y="310896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37960" y="3337560"/>
            <a:ext cx="411480" cy="411480"/>
          </a:xfrm>
          <a:prstGeom prst="ellipse">
            <a:avLst/>
          </a:prstGeom>
          <a:solidFill>
            <a:srgbClr val="2E8FB0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086600" y="32461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automation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086600" y="356616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batch scheduling from a Docker sleep-loop toward Airflow as volume and complexity grow.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" y="4846320"/>
            <a:ext cx="411480" cy="411480"/>
          </a:xfrm>
          <a:prstGeom prst="ellipse">
            <a:avLst/>
          </a:prstGeom>
          <a:solidFill>
            <a:srgbClr val="2E8FB0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325880" y="47548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silver-history warehouse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325880" y="50749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Chaithra's exploratory draft (PR #33) — a historical analytics store alongside the live Silver table.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309360" y="461772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537960" y="4846320"/>
            <a:ext cx="411480" cy="411480"/>
          </a:xfrm>
          <a:prstGeom prst="ellipse">
            <a:avLst/>
          </a:prstGeom>
          <a:solidFill>
            <a:srgbClr val="2E8FB0"/>
          </a:solidFill>
          <a:ln/>
        </p:spPr>
      </p:sp>
      <p:sp>
        <p:nvSpPr>
          <p:cNvPr id="33" name="Text 30"/>
          <p:cNvSpPr/>
          <p:nvPr/>
        </p:nvSpPr>
        <p:spPr>
          <a:xfrm>
            <a:off x="653796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086600" y="47548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CI/CD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086600" y="50749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automated test coverage and formalize the release pipeline beyond lint + build.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7152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4663440"/>
            <a:ext cx="1280160" cy="1280160"/>
          </a:xfrm>
          <a:prstGeom prst="ellipse">
            <a:avLst/>
          </a:prstGeom>
          <a:ln w="12700">
            <a:solidFill>
              <a:srgbClr val="4CC9F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4114800"/>
            <a:ext cx="2377440" cy="2377440"/>
          </a:xfrm>
          <a:prstGeom prst="ellipse">
            <a:avLst/>
          </a:prstGeom>
          <a:ln w="12700">
            <a:solidFill>
              <a:srgbClr val="4CC9F0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3566160"/>
            <a:ext cx="3474720" cy="3474720"/>
          </a:xfrm>
          <a:prstGeom prst="ellipse">
            <a:avLst/>
          </a:prstGeom>
          <a:ln w="12700">
            <a:solidFill>
              <a:srgbClr val="4CC9F0">
                <a:alpha val="3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200000">
            <a:off x="1691640" y="5074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33375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airline-dashboard.matthiaskoehler.com   ·   airlive.matthiaskoehler.com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5257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Matthias   ·   Pavel   ·   Chaithra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Stand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 documenting every major decision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8745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09160" y="2743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ingestion sources, dual-stream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0B1F3A"/>
          </a:solidFill>
          <a:ln/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8745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49640" y="27432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Gold consumption stacks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 live in production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709160" y="49377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web ports open on either VM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blurRad="101600" dist="25400" dir="5400000" algn="bl" rotWithShape="0">
              <a:srgbClr val="1A2B3D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40690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549640" y="49377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staging environment (Q) for PR previews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Ownership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546743"/>
              </p:ext>
            </p:extLst>
          </p:nvPr>
        </p:nvGraphicFramePr>
        <p:xfrm>
          <a:off x="548640" y="1554480"/>
          <a:ext cx="11274552" cy="356616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infrastructure, deployment, GitOps, CI/CD, ingress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Matthias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in production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integration; ML flight-delay prediction service</a:t>
                      </a:r>
                      <a:r>
                        <a:rPr lang="en-DE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Dash dashboard; PostgreSQL (</a:t>
                      </a:r>
                      <a:r>
                        <a:rPr lang="en-DE" sz="1250" dirty="0" err="1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r>
                        <a:rPr lang="en-DE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in production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development and scheduling; warehouse exploration (Redshift silver &amp; gold layers)</a:t>
                      </a: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Chaithra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b="1" dirty="0">
                          <a:solidFill>
                            <a:srgbClr val="1B8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in production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/ draft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decisions — 16 ADRs documenting the 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8F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1409</Words>
  <Application>Microsoft Office PowerPoint</Application>
  <PresentationFormat>Widescreen</PresentationFormat>
  <Paragraphs>214</Paragraphs>
  <Slides>15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DataScientest Data Engineer Bootcamp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Data Engineering Platform — Final Defense</dc:title>
  <dc:subject>PptxGenJS Presentation</dc:subject>
  <dc:creator>Matthias Köhler, Pavel, Chaithra</dc:creator>
  <cp:lastModifiedBy>Pavel Borovskikh</cp:lastModifiedBy>
  <cp:revision>3</cp:revision>
  <dcterms:created xsi:type="dcterms:W3CDTF">2026-07-17T20:08:53Z</dcterms:created>
  <dcterms:modified xsi:type="dcterms:W3CDTF">2026-07-20T10:18:13Z</dcterms:modified>
</cp:coreProperties>
</file>